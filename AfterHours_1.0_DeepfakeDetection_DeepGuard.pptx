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6" r:id="rId3"/>
    <p:sldId id="257" r:id="rId4"/>
    <p:sldId id="258" r:id="rId5"/>
    <p:sldId id="259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5EB"/>
    <a:srgbClr val="F9F6EC"/>
    <a:srgbClr val="FB4102"/>
    <a:srgbClr val="6161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9CC0C-BE61-D512-9D7B-95D0E0282F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EBFA59-3EE9-8C52-94DC-A842163D75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7763F3-344A-0E24-406C-CF5B4FB38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2EAF9-B79B-D292-F21D-33EC031B3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AE600B-F956-E5B1-55A1-DDB0BB899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7669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6D851-6B6C-727A-B0B0-C9A8A5E48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02D22E-92C4-4B4C-C9E1-38281FE32B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4E275-39ED-242C-2D6B-19D3ADC39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AF2FA-985B-703F-7328-2EA9DB76C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C5501-AB1E-91AF-C109-3A3E2AE90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5649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0A493-4DBA-B618-7D23-B3AD277E1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E7D4B9-CE74-A94A-B1B5-5FC71327DE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09427-1CD5-6F66-09C6-CE448B5B2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13C95-5EC6-25A3-2CAA-7C2D047A2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F6148-A77B-212B-636B-8D4238642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720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9C87D-7F19-266A-B5A7-3D10F4F15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E28D1-DDC5-1BE3-3E7C-5E0C84A825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E2C9DD-18D3-3B01-E1CA-B2387A131E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CA06A5-8350-2568-5F99-C3600E8E1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37F1A5-24BC-F037-0190-A304A376C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414BE4-5F2E-49B1-4036-F87277F13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89068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49BC9-8470-0060-871B-DF8FC53CA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E58D18-600A-FA14-80A3-1F422D7C7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248EB4-5509-19C7-C9AB-E33DBA7C92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46ACFB-4B32-B675-7AE5-9EE246FB14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5304494-094C-9FA8-11AB-439B1CEC10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971569-8540-DBCF-0068-63B89A2EE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7B20FAE-5E73-DBB6-4363-6D8540897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BF7BEC-2A23-5A0A-33E7-BD7278886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4703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83235-5F3B-9B0D-A174-97C86E59A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DD2B7A-CEAA-8230-24DE-5FD177D74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48924F-3B2F-0F55-6592-ED382FBB0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EACAC3-6587-7956-7478-532804265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9644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2CB7A7-ED02-9C1B-A549-4CE81CC74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BCB080-669E-3494-348F-5CB58CB37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39E9DE-696B-5284-4446-EDE9CF47A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3522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913AA-4EA8-C60B-DC94-D69A7B6A6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48DA3D-984F-FFC3-49D8-4C1BCDA6A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DB8C6B-91CE-EE5E-4AB0-6AF57750CA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BBD0F3-B90D-AA7F-B9F9-3DC3B414B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92E106-FAE1-ECFD-CC6C-65CF3F890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4CEEDF-F6FB-D11B-7B33-02AC035C0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2491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1016F-2BF5-DA16-4AF0-B8FCC9900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920636-FBDC-42A0-A6AC-81DBB6B14D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EEF501-C2C7-435B-96F0-D6ACCF4289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1C7A9C-837C-0866-7E2E-3C962B2C4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8051CB-D17E-6EDD-5997-1BC722277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02C902-ECFE-18F5-49EB-A35D08EC1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4641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9A2BD-DFBE-8614-976C-C42CA4A2E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521C08-49BF-4FCA-B7EF-4DE2595BE5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60D10-4D58-E5EE-5986-6CC678EEB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B91DB-6489-41F7-78EE-3468EDC51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8437E-6A68-9665-6244-70798F288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990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4E9FCF1-65DD-2E56-758F-0A6468B86D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614A1B-E392-11B4-B3A9-05982F7F4F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57CA87-EEB6-F931-3A1B-2C76E800D9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CC981E-67FA-CD3D-C0C1-F46D1670D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37607-4220-CE21-F234-9C293D4D8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499872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ECA0E5-D3FA-53DC-B511-C05078F57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9A0E66-1A23-0DEC-1F8A-59ABAF7F0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F95B68-943E-23C1-8CEE-D94185BB5C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963326-785F-44B0-9204-257819504D6C}" type="datetimeFigureOut">
              <a:rPr lang="en-IN" smtClean="0"/>
              <a:t>20-10-2026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2F40F7-5EA2-EB77-638C-58027E49FF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2BEA62-F34F-CEBB-D998-29B117BFCC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5DEC0E-87B8-4F11-8B51-962D49E294C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5799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7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8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9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10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1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1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5.png"/><Relationship Id="rId4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4853429-2C99-863B-93A3-2440EA86E80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870" r="16096" b="23208"/>
          <a:stretch/>
        </p:blipFill>
        <p:spPr>
          <a:xfrm>
            <a:off x="0" y="0"/>
            <a:ext cx="12273280" cy="69265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0B81835-7478-270A-B235-98A957776E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363" y="0"/>
            <a:ext cx="2946595" cy="1037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FE427A3-A526-EA87-1871-BE39C5C894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6393" y="116692"/>
            <a:ext cx="2262123" cy="75706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83109518-8B78-DF36-D749-48EDE870896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277237"/>
            <a:ext cx="6096001" cy="2110824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502920" y="960120"/>
            <a:ext cx="11155680" cy="5074920"/>
          </a:xfrm>
          <a:prstGeom prst="roundRect">
            <a:avLst/>
          </a:prstGeom>
          <a:solidFill>
            <a:srgbClr val="05081A">
              <a:alpha val="80000"/>
            </a:srgbClr>
          </a:solidFill>
          <a:ln w="19050">
            <a:solidFill>
              <a:srgbClr val="FFC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1097280"/>
            <a:ext cx="10881360" cy="45720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C200"/>
                </a:solidFill>
                <a:latin typeface="Segoe UI"/>
              </a:rPr>
              <a:t>AWS SBG AFTERHOURS 1.0  ·  Pre-Qualification Round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1600200"/>
            <a:ext cx="10881360" cy="128016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Segoe UI"/>
              </a:rPr>
              <a:t>DeepGuard</a:t>
            </a:r>
          </a:p>
          <a:p>
            <a:pPr algn="ctr">
              <a:spcBef>
                <a:spcPts val="200"/>
              </a:spcBef>
              <a:spcAft>
                <a:spcPts val="0"/>
              </a:spcAft>
            </a:pPr>
            <a:r>
              <a:rPr sz="2000" b="1" i="0">
                <a:solidFill>
                  <a:srgbClr val="00D4FF"/>
                </a:solidFill>
                <a:latin typeface="Segoe UI"/>
              </a:rPr>
              <a:t>Deepfake Detection &amp; Viral Takedown Tracker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2971800"/>
            <a:ext cx="10881360" cy="54864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B0BED9"/>
                </a:solidFill>
                <a:latin typeface="Segoe UI"/>
              </a:rPr>
              <a:t>Problem Statement 04  ·  Trust &amp; Safety · Media Forensics · Content Provenance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3566160"/>
            <a:ext cx="6675120" cy="27432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C200"/>
                </a:solidFill>
                <a:latin typeface="Segoe UI"/>
              </a:rPr>
              <a:t>─────────────────────────────────────────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931920"/>
            <a:ext cx="5029200" cy="1508760"/>
          </a:xfrm>
          <a:prstGeom prst="roundRect">
            <a:avLst/>
          </a:prstGeom>
          <a:solidFill>
            <a:srgbClr val="0C142E">
              <a:alpha val="90000"/>
            </a:srgbClr>
          </a:solidFill>
          <a:ln w="12700">
            <a:solidFill>
              <a:srgbClr val="009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041648"/>
            <a:ext cx="4754880" cy="128016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C200"/>
                </a:solidFill>
                <a:latin typeface="Segoe UI"/>
              </a:rPr>
              <a:t>TEAM DETAILS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egoe UI"/>
              </a:rPr>
              <a:t>Team Name: DeepGuard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B0BED9"/>
                </a:solidFill>
                <a:latin typeface="Segoe UI"/>
              </a:rPr>
              <a:t>Domain: Trust &amp; Safety  ·  ML  ·  Media Forensics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89320" y="3931920"/>
            <a:ext cx="5806440" cy="1508760"/>
          </a:xfrm>
          <a:prstGeom prst="roundRect">
            <a:avLst/>
          </a:prstGeom>
          <a:solidFill>
            <a:srgbClr val="0C142E">
              <a:alpha val="90000"/>
            </a:srgbClr>
          </a:solidFill>
          <a:ln w="12700">
            <a:solidFill>
              <a:srgbClr val="009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26480" y="4041648"/>
            <a:ext cx="5577840" cy="128016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C200"/>
                </a:solidFill>
                <a:latin typeface="Segoe UI"/>
              </a:rPr>
              <a:t>TEAM MEMBERS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400" b="0" i="0">
                <a:solidFill>
                  <a:srgbClr val="B0BED9"/>
                </a:solidFill>
                <a:latin typeface="Segoe UI"/>
              </a:rPr>
              <a:t>• Yashwanth KR  –  Lead / ML Architecture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400" b="0" i="0">
                <a:solidFill>
                  <a:srgbClr val="B0BED9"/>
                </a:solidFill>
                <a:latin typeface="Segoe UI"/>
              </a:rPr>
              <a:t>• Team Member 2  –  Forensic Pipeline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400" b="0" i="0">
                <a:solidFill>
                  <a:srgbClr val="B0BED9"/>
                </a:solidFill>
                <a:latin typeface="Segoe UI"/>
              </a:rPr>
              <a:t>• Team Member 3  –  Tracker &amp; Dashboard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400" b="0" i="0">
                <a:solidFill>
                  <a:srgbClr val="B0BED9"/>
                </a:solidFill>
                <a:latin typeface="Segoe UI"/>
              </a:rPr>
              <a:t>• Team Member 4  –  Data &amp; Evaluation</a:t>
            </a:r>
          </a:p>
        </p:txBody>
      </p:sp>
    </p:spTree>
    <p:extLst>
      <p:ext uri="{BB962C8B-B14F-4D97-AF65-F5344CB8AC3E}">
        <p14:creationId xmlns:p14="http://schemas.microsoft.com/office/powerpoint/2010/main" val="3289529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0D371E4-788F-AE25-55F2-F8C84245D0A5}"/>
              </a:ext>
            </a:extLst>
          </p:cNvPr>
          <p:cNvSpPr txBox="1"/>
          <p:nvPr/>
        </p:nvSpPr>
        <p:spPr>
          <a:xfrm>
            <a:off x="10861040" y="88715"/>
            <a:ext cx="125984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2/7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E785D40A-ABCD-6EA1-BF61-D6FD907801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6305325"/>
            <a:ext cx="1158239" cy="4104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BA06408-5286-A806-B200-9C4DF74BABF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8" b="34401"/>
          <a:stretch/>
        </p:blipFill>
        <p:spPr>
          <a:xfrm>
            <a:off x="5249215" y="102654"/>
            <a:ext cx="1693570" cy="239033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457200" y="228600"/>
            <a:ext cx="11292840" cy="960120"/>
          </a:xfrm>
          <a:prstGeom prst="roundRect">
            <a:avLst/>
          </a:prstGeom>
          <a:solidFill>
            <a:srgbClr val="05081A">
              <a:alpha val="85000"/>
            </a:srgbClr>
          </a:solidFill>
          <a:ln w="15240">
            <a:solidFill>
              <a:srgbClr val="FFC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74320"/>
            <a:ext cx="11018520" cy="82296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Problem Statement &amp; Its Relevance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400" b="0" i="1">
                <a:solidFill>
                  <a:srgbClr val="FFC200"/>
                </a:solidFill>
                <a:latin typeface="Segoe UI"/>
              </a:rPr>
              <a:t>PS 04: Deepfake Detection &amp; Takedown Tracker  |  Trust &amp; Safety · Media Forensics · Content Provenance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280160"/>
            <a:ext cx="3547872" cy="4983480"/>
          </a:xfrm>
          <a:prstGeom prst="roundRect">
            <a:avLst/>
          </a:prstGeom>
          <a:solidFill>
            <a:srgbClr val="05081A">
              <a:alpha val="88000"/>
            </a:srgbClr>
          </a:solidFill>
          <a:ln w="1270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5216" y="1389888"/>
            <a:ext cx="3291840" cy="4764024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4545"/>
                </a:solidFill>
                <a:latin typeface="Segoe UI"/>
              </a:rPr>
              <a:t>⚠  WHAT PROBLEM ARE WE SOLVING?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500" b="1" i="0">
                <a:solidFill>
                  <a:srgbClr val="00D4FF"/>
                </a:solidFill>
                <a:latin typeface="Segoe UI"/>
              </a:rPr>
              <a:t>• Crisis of Synthetic Media:  </a:t>
            </a:r>
            <a:r>
              <a:rPr sz="1400" b="0" i="0">
                <a:solidFill>
                  <a:srgbClr val="F0F4FF"/>
                </a:solidFill>
                <a:latin typeface="Segoe UI"/>
              </a:rPr>
              <a:t>AI-generated deepfake videos, voice clones, and face-swaps are indistinguishable to the human eye.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500" b="1" i="0">
                <a:solidFill>
                  <a:srgbClr val="00D4FF"/>
                </a:solidFill>
                <a:latin typeface="Segoe UI"/>
              </a:rPr>
              <a:t>• Viral Spread Goes Unchecked:  </a:t>
            </a:r>
            <a:r>
              <a:rPr sz="1400" b="0" i="0">
                <a:solidFill>
                  <a:srgbClr val="F0F4FF"/>
                </a:solidFill>
                <a:latin typeface="Segoe UI"/>
              </a:rPr>
              <a:t>Once posted, deepfakes propagate across platforms within minutes via re-uploads, reposts and mirrors.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500" b="1" i="0">
                <a:solidFill>
                  <a:srgbClr val="00D4FF"/>
                </a:solidFill>
                <a:latin typeface="Segoe UI"/>
              </a:rPr>
              <a:t>• Identity &amp; Reputational Harm:  </a:t>
            </a:r>
            <a:r>
              <a:rPr sz="1400" b="0" i="0">
                <a:solidFill>
                  <a:srgbClr val="F0F4FF"/>
                </a:solidFill>
                <a:latin typeface="Segoe UI"/>
              </a:rPr>
              <a:t>Victims — celebrities, politicians, students — suffer lasting defamation, harassment, and emotional trauma.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500" b="1" i="0">
                <a:solidFill>
                  <a:srgbClr val="00D4FF"/>
                </a:solidFill>
                <a:latin typeface="Segoe UI"/>
              </a:rPr>
              <a:t>• Slow &amp; Manual Takedowns:  </a:t>
            </a:r>
            <a:r>
              <a:rPr sz="1400" b="0" i="0">
                <a:solidFill>
                  <a:srgbClr val="F0F4FF"/>
                </a:solidFill>
                <a:latin typeface="Segoe UI"/>
              </a:rPr>
              <a:t>Platforms rely on human reports; victim-reported content can take days to remove while the damage compounds.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82796" y="1280160"/>
            <a:ext cx="3547872" cy="4983480"/>
          </a:xfrm>
          <a:prstGeom prst="roundRect">
            <a:avLst/>
          </a:prstGeom>
          <a:solidFill>
            <a:srgbClr val="05081A">
              <a:alpha val="88000"/>
            </a:srgbClr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10812" y="1389888"/>
            <a:ext cx="3291840" cy="4764024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D4FF"/>
                </a:solidFill>
                <a:latin typeface="Segoe UI"/>
              </a:rPr>
              <a:t>👥  FOR WHOM IS THIS A PROBLEM?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• Individual Victims:  </a:t>
            </a:r>
            <a:r>
              <a:rPr sz="1400" b="0" i="0">
                <a:solidFill>
                  <a:srgbClr val="F0F4FF"/>
                </a:solidFill>
                <a:latin typeface="Segoe UI"/>
              </a:rPr>
              <a:t>Public figures, professionals, and private individuals whose likeness is misused in synthetic media.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• Media &amp; Journalism:  </a:t>
            </a:r>
            <a:r>
              <a:rPr sz="1400" b="0" i="0">
                <a:solidFill>
                  <a:srgbClr val="F0F4FF"/>
                </a:solidFill>
                <a:latin typeface="Segoe UI"/>
              </a:rPr>
              <a:t>News outlets unable to verify authenticity of viral clips in fast-moving news cycles.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• Content Platforms:  </a:t>
            </a:r>
            <a:r>
              <a:rPr sz="1400" b="0" i="0">
                <a:solidFill>
                  <a:srgbClr val="F0F4FF"/>
                </a:solidFill>
                <a:latin typeface="Segoe UI"/>
              </a:rPr>
              <a:t>Social networks overwhelmed by sheer volume of flagged media needing rapid authenticity decisions.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• Legal &amp; Law Enforcement:  </a:t>
            </a:r>
            <a:r>
              <a:rPr sz="1400" b="0" i="0">
                <a:solidFill>
                  <a:srgbClr val="F0F4FF"/>
                </a:solidFill>
                <a:latin typeface="Segoe UI"/>
              </a:rPr>
              <a:t>Investigators lacking automated tools to establish digital provenance chains for prosecution.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08392" y="1280160"/>
            <a:ext cx="3547872" cy="4983480"/>
          </a:xfrm>
          <a:prstGeom prst="roundRect">
            <a:avLst/>
          </a:prstGeom>
          <a:solidFill>
            <a:srgbClr val="05081A">
              <a:alpha val="88000"/>
            </a:srgbClr>
          </a:solidFill>
          <a:ln w="12700">
            <a:solidFill>
              <a:srgbClr val="FFC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36408" y="1389888"/>
            <a:ext cx="3291840" cy="4764024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C200"/>
                </a:solidFill>
                <a:latin typeface="Segoe UI"/>
              </a:rPr>
              <a:t>🌐  WHY DOES THIS MATTER?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500" b="1" i="0">
                <a:solidFill>
                  <a:srgbClr val="FFC200"/>
                </a:solidFill>
                <a:latin typeface="Segoe UI"/>
              </a:rPr>
              <a:t>• 96% accuracy gap:  </a:t>
            </a:r>
            <a:r>
              <a:rPr sz="1400" b="0" i="0">
                <a:solidFill>
                  <a:srgbClr val="F0F4FF"/>
                </a:solidFill>
                <a:latin typeface="Segoe UI"/>
              </a:rPr>
              <a:t>Human participants identify deepfakes at only 48–54% accuracy — barely better than a coin flip (MIT, 2024).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500" b="1" i="0">
                <a:solidFill>
                  <a:srgbClr val="FFC200"/>
                </a:solidFill>
                <a:latin typeface="Segoe UI"/>
              </a:rPr>
              <a:t>• 500%+ growth in incidents:  </a:t>
            </a:r>
            <a:r>
              <a:rPr sz="1400" b="0" i="0">
                <a:solidFill>
                  <a:srgbClr val="F0F4FF"/>
                </a:solidFill>
                <a:latin typeface="Segoe UI"/>
              </a:rPr>
              <a:t>Deepfake incidents grew 500% YoY in 2023–24 across social platforms (Sumsub Identity Fraud Report).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500" b="1" i="0">
                <a:solidFill>
                  <a:srgbClr val="FFC200"/>
                </a:solidFill>
                <a:latin typeface="Segoe UI"/>
              </a:rPr>
              <a:t>• $78 billion projected damage:  </a:t>
            </a:r>
            <a:r>
              <a:rPr sz="1400" b="0" i="0">
                <a:solidFill>
                  <a:srgbClr val="F0F4FF"/>
                </a:solidFill>
                <a:latin typeface="Segoe UI"/>
              </a:rPr>
              <a:t>Economic and reputational harm from synthetic media fraud expected to exceed $78B globally by 2027 (Deloitte).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500" b="1" i="0">
                <a:solidFill>
                  <a:srgbClr val="FFC200"/>
                </a:solidFill>
                <a:latin typeface="Segoe UI"/>
              </a:rPr>
              <a:t>• Erosion of Digital Trust:  </a:t>
            </a:r>
            <a:r>
              <a:rPr sz="1400" b="0" i="0">
                <a:solidFill>
                  <a:srgbClr val="F0F4FF"/>
                </a:solidFill>
                <a:latin typeface="Segoe UI"/>
              </a:rPr>
              <a:t>Unverified media destroys societal confidence in genuine video evidence, threatening democratic processes.</a:t>
            </a:r>
          </a:p>
        </p:txBody>
      </p:sp>
    </p:spTree>
    <p:extLst>
      <p:ext uri="{BB962C8B-B14F-4D97-AF65-F5344CB8AC3E}">
        <p14:creationId xmlns:p14="http://schemas.microsoft.com/office/powerpoint/2010/main" val="38137596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4AFF3A-2B62-5009-AFA7-F5DB6526AAB7}"/>
              </a:ext>
            </a:extLst>
          </p:cNvPr>
          <p:cNvSpPr txBox="1"/>
          <p:nvPr/>
        </p:nvSpPr>
        <p:spPr>
          <a:xfrm>
            <a:off x="10861040" y="88715"/>
            <a:ext cx="125984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3</a:t>
            </a: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/7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1144BEE-B900-92C2-AC75-3EF80CC667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6305325"/>
            <a:ext cx="1158239" cy="4104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D54BB20-3A67-09ED-A11D-79CD9826E71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8" b="34401"/>
          <a:stretch/>
        </p:blipFill>
        <p:spPr>
          <a:xfrm>
            <a:off x="5249215" y="102654"/>
            <a:ext cx="1693570" cy="239033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57200" y="228600"/>
            <a:ext cx="11292840" cy="960120"/>
          </a:xfrm>
          <a:prstGeom prst="roundRect">
            <a:avLst/>
          </a:prstGeom>
          <a:solidFill>
            <a:srgbClr val="05081A">
              <a:alpha val="85000"/>
            </a:srgbClr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74320"/>
            <a:ext cx="11018520" cy="82296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Proposed Solution &amp; Innovation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400" b="0" i="1">
                <a:solidFill>
                  <a:srgbClr val="00D4FF"/>
                </a:solidFill>
                <a:latin typeface="Segoe UI"/>
              </a:rPr>
              <a:t>DeepGuard: Multi-Modal Forensic Detection + Cross-Platform Viral Spread Mapping &amp; Automated Takedown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280160"/>
            <a:ext cx="11292840" cy="822960"/>
          </a:xfrm>
          <a:prstGeom prst="roundRect">
            <a:avLst/>
          </a:prstGeom>
          <a:solidFill>
            <a:srgbClr val="0C142E">
              <a:alpha val="92000"/>
            </a:srgbClr>
          </a:solidFill>
          <a:ln w="12700">
            <a:solidFill>
              <a:srgbClr val="FFC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1353312"/>
            <a:ext cx="10972800" cy="68580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C200"/>
                </a:solidFill>
                <a:latin typeface="Segoe UI"/>
              </a:rPr>
              <a:t>PIPELINE: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00" b="1" i="0">
                <a:solidFill>
                  <a:srgbClr val="00D4FF"/>
                </a:solidFill>
                <a:latin typeface="Segoe UI"/>
              </a:rPr>
              <a:t>① Media Ingestion</a:t>
            </a:r>
            <a:r>
              <a:rPr sz="1300" b="0" i="1">
                <a:solidFill>
                  <a:srgbClr val="B0BED9"/>
                </a:solidFill>
                <a:latin typeface="Segoe UI"/>
              </a:rPr>
              <a:t> (URL/upload + fingerprinting)</a:t>
            </a:r>
            <a:r>
              <a:rPr sz="1400" b="1" i="0">
                <a:solidFill>
                  <a:srgbClr val="00D4FF"/>
                </a:solidFill>
                <a:latin typeface="Segoe UI"/>
              </a:rPr>
              <a:t>  ▶  ② Forensic Detection</a:t>
            </a:r>
            <a:r>
              <a:rPr sz="1300" b="0" i="1">
                <a:solidFill>
                  <a:srgbClr val="B0BED9"/>
                </a:solidFill>
                <a:latin typeface="Segoe UI"/>
              </a:rPr>
              <a:t> (Multi-model ensemble)</a:t>
            </a:r>
            <a:r>
              <a:rPr sz="1400" b="1" i="0">
                <a:solidFill>
                  <a:srgbClr val="00D4FF"/>
                </a:solidFill>
                <a:latin typeface="Segoe UI"/>
              </a:rPr>
              <a:t>  ▶  ③ Viral Spread Tracker</a:t>
            </a:r>
            <a:r>
              <a:rPr sz="1300" b="0" i="1">
                <a:solidFill>
                  <a:srgbClr val="B0BED9"/>
                </a:solidFill>
                <a:latin typeface="Segoe UI"/>
              </a:rPr>
              <a:t> (Cross-platform graph)</a:t>
            </a:r>
            <a:r>
              <a:rPr sz="1400" b="1" i="0">
                <a:solidFill>
                  <a:srgbClr val="00D4FF"/>
                </a:solidFill>
                <a:latin typeface="Segoe UI"/>
              </a:rPr>
              <a:t>  ▶  ④ Takedown Orchestrator</a:t>
            </a:r>
            <a:r>
              <a:rPr sz="1300" b="0" i="1">
                <a:solidFill>
                  <a:srgbClr val="B0BED9"/>
                </a:solidFill>
                <a:latin typeface="Segoe UI"/>
              </a:rPr>
              <a:t> (Auto-DMCA + reports)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212848"/>
            <a:ext cx="5440680" cy="3977639"/>
          </a:xfrm>
          <a:prstGeom prst="roundRect">
            <a:avLst/>
          </a:prstGeom>
          <a:solidFill>
            <a:srgbClr val="05081A">
              <a:alpha val="88000"/>
            </a:srgbClr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322576"/>
            <a:ext cx="5184648" cy="3758183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D4FF"/>
                </a:solidFill>
                <a:latin typeface="Segoe UI"/>
              </a:rPr>
              <a:t>🔬  CORE CAPABILITIES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• Multi-Modal Detection Engine:  </a:t>
            </a:r>
            <a:r>
              <a:rPr sz="1400" b="0" i="0">
                <a:solidFill>
                  <a:srgbClr val="F0F4FF"/>
                </a:solidFill>
                <a:latin typeface="Segoe UI"/>
              </a:rPr>
              <a:t>Fuses EfficientNet-B4 (visual artifacts), WavLM (voice biometrics), and metadata EXIF parser to cross-validate authenticity across video, audio, and image vectors.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• Confidence Scoring:  </a:t>
            </a:r>
            <a:r>
              <a:rPr sz="1400" b="0" i="0">
                <a:solidFill>
                  <a:srgbClr val="F0F4FF"/>
                </a:solidFill>
                <a:latin typeface="Segoe UI"/>
              </a:rPr>
              <a:t>Returns per-frame confidence heatmap (0–100%) and overall verdict (Authentic / Suspect / Deepfake) with explainability overlays highlighting manipulated regions.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• Content Fingerprinting:  </a:t>
            </a:r>
            <a:r>
              <a:rPr sz="1400" b="0" i="0">
                <a:solidFill>
                  <a:srgbClr val="F0F4FF"/>
                </a:solidFill>
                <a:latin typeface="Segoe UI"/>
              </a:rPr>
              <a:t>Generates perceptual hashes (pHash) + cosine-similarity embeddings to detect re-uploaded copies, cropped re-edits, and resolution-scaled variants.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• Provenance Ledger:  </a:t>
            </a:r>
            <a:r>
              <a:rPr sz="1400" b="0" i="0">
                <a:solidFill>
                  <a:srgbClr val="F0F4FF"/>
                </a:solidFill>
                <a:latin typeface="Segoe UI"/>
              </a:rPr>
              <a:t>Immutable audit trail linking original media capture timestamp, creator device fingerprint, and all detected derivative copies.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91072" y="2212848"/>
            <a:ext cx="5440680" cy="3977639"/>
          </a:xfrm>
          <a:prstGeom prst="roundRect">
            <a:avLst/>
          </a:prstGeom>
          <a:solidFill>
            <a:srgbClr val="05081A">
              <a:alpha val="88000"/>
            </a:srgbClr>
          </a:solidFill>
          <a:ln w="12700">
            <a:solidFill>
              <a:srgbClr val="FFC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2" y="2322576"/>
            <a:ext cx="5184648" cy="3758183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C200"/>
                </a:solidFill>
                <a:latin typeface="Segoe UI"/>
              </a:rPr>
              <a:t>💡  INNOVATION HIGHLIGHTS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500" b="1" i="0">
                <a:solidFill>
                  <a:srgbClr val="FFC200"/>
                </a:solidFill>
                <a:latin typeface="Segoe UI"/>
              </a:rPr>
              <a:t>• Viral Spread Graph Engine:  </a:t>
            </a:r>
            <a:r>
              <a:rPr sz="1400" b="0" i="0">
                <a:solidFill>
                  <a:srgbClr val="F0F4FF"/>
                </a:solidFill>
                <a:latin typeface="Segoe UI"/>
              </a:rPr>
              <a:t>Constructs a directed propagation graph showing the exact sequence of re-share events across platforms (YouTube, Twitter/X, Facebook) with edge timestamps and view-count deltas.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500" b="1" i="0">
                <a:solidFill>
                  <a:srgbClr val="FFC200"/>
                </a:solidFill>
                <a:latin typeface="Segoe UI"/>
              </a:rPr>
              <a:t>• Zero-Shot New Architecture Generalization:  </a:t>
            </a:r>
            <a:r>
              <a:rPr sz="1400" b="0" i="0">
                <a:solidFill>
                  <a:srgbClr val="F0F4FF"/>
                </a:solidFill>
                <a:latin typeface="Segoe UI"/>
              </a:rPr>
              <a:t>Ensemble disagreement detection flags novel GAN/Diffusion architectures not seen during training, without retraining.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500" b="1" i="0">
                <a:solidFill>
                  <a:srgbClr val="FFC200"/>
                </a:solidFill>
                <a:latin typeface="Segoe UI"/>
              </a:rPr>
              <a:t>• Automated Takedown Orchestration:  </a:t>
            </a:r>
            <a:r>
              <a:rPr sz="1400" b="0" i="0">
                <a:solidFill>
                  <a:srgbClr val="F0F4FF"/>
                </a:solidFill>
                <a:latin typeface="Segoe UI"/>
              </a:rPr>
              <a:t>Generates pre-filled DMCA notices + platform-specific API calls, reducing victim-reported-to-removal latency from 72 hrs to under 15 minutes.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500" b="1" i="0">
                <a:solidFill>
                  <a:srgbClr val="FFC200"/>
                </a:solidFill>
                <a:latin typeface="Segoe UI"/>
              </a:rPr>
              <a:t>• Explainable Forensic Report:  </a:t>
            </a:r>
            <a:r>
              <a:rPr sz="1400" b="0" i="0">
                <a:solidFill>
                  <a:srgbClr val="F0F4FF"/>
                </a:solidFill>
                <a:latin typeface="Segoe UI"/>
              </a:rPr>
              <a:t>Generates human-readable PDF evidence dossiers (heat-maps, provenance chain, confidence breakdown) ready for legal submission.</a:t>
            </a:r>
          </a:p>
        </p:txBody>
      </p:sp>
    </p:spTree>
    <p:extLst>
      <p:ext uri="{BB962C8B-B14F-4D97-AF65-F5344CB8AC3E}">
        <p14:creationId xmlns:p14="http://schemas.microsoft.com/office/powerpoint/2010/main" val="4134097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3682782-3FA5-0419-F223-8927F3C57C9F}"/>
              </a:ext>
            </a:extLst>
          </p:cNvPr>
          <p:cNvSpPr txBox="1"/>
          <p:nvPr/>
        </p:nvSpPr>
        <p:spPr>
          <a:xfrm>
            <a:off x="10861040" y="88715"/>
            <a:ext cx="125984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4</a:t>
            </a: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/7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CD14755-D70D-2DF8-794D-61FDEBA1FA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6305325"/>
            <a:ext cx="1158239" cy="4104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A15BF0-813C-12C8-41EF-316E8885BD7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8" b="34401"/>
          <a:stretch/>
        </p:blipFill>
        <p:spPr>
          <a:xfrm>
            <a:off x="5249215" y="102654"/>
            <a:ext cx="1693570" cy="239033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57200" y="228600"/>
            <a:ext cx="11292840" cy="960120"/>
          </a:xfrm>
          <a:prstGeom prst="roundRect">
            <a:avLst/>
          </a:prstGeom>
          <a:solidFill>
            <a:srgbClr val="05081A">
              <a:alpha val="85000"/>
            </a:srgbClr>
          </a:solidFill>
          <a:ln w="15240">
            <a:solidFill>
              <a:srgbClr val="FF45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74320"/>
            <a:ext cx="11018520" cy="82296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Existing Solutions &amp; Differentiation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400" b="0" i="1">
                <a:solidFill>
                  <a:srgbClr val="FF4545"/>
                </a:solidFill>
                <a:latin typeface="Segoe UI"/>
              </a:rPr>
              <a:t>Why existing deepfake detectors &amp; content moderation tools fall short — and how DeepGuard closes the gap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1280160"/>
            <a:ext cx="11292840" cy="3931920"/>
          </a:xfrm>
          <a:prstGeom prst="roundRect">
            <a:avLst/>
          </a:prstGeom>
          <a:solidFill>
            <a:srgbClr val="05081A">
              <a:alpha val="88000"/>
            </a:srgbClr>
          </a:solidFill>
          <a:ln w="12700">
            <a:solidFill>
              <a:srgbClr val="009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1371600"/>
            <a:ext cx="11018520" cy="3749039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D4FF"/>
                </a:solidFill>
                <a:latin typeface="Segoe UI"/>
              </a:rPr>
              <a:t>TOOL COMPARISON MATRIX</a:t>
            </a:r>
          </a:p>
          <a:p>
            <a:pPr>
              <a:spcBef>
                <a:spcPts val="600"/>
              </a:spcBef>
            </a:pPr>
            <a:r>
              <a:rPr sz="1500" b="1">
                <a:solidFill>
                  <a:srgbClr val="FFFFFF"/>
                </a:solidFill>
                <a:latin typeface="Segoe UI"/>
              </a:rPr>
              <a:t>• 1. Detection Scope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B0BED9"/>
                </a:solidFill>
                <a:latin typeface="Segoe UI"/>
              </a:rPr>
              <a:t>    ❌ Most tools (FaceForensics++, Microsoft DFDC): Detect face-swap only; miss audio deepfakes &amp; GAN-generated images.</a:t>
            </a:r>
          </a:p>
          <a:p>
            <a:pPr>
              <a:spcBef>
                <a:spcPts val="100"/>
              </a:spcBef>
            </a:pPr>
            <a:r>
              <a:rPr sz="1400" b="1">
                <a:solidFill>
                  <a:srgbClr val="4CD96F"/>
                </a:solidFill>
                <a:latin typeface="Segoe UI"/>
              </a:rPr>
              <a:t>    ✅ DeepGuard: Multi-modal fusion — video frames + audio channels + EXIF metadata analysed simultaneously.</a:t>
            </a:r>
          </a:p>
          <a:p>
            <a:pPr>
              <a:spcBef>
                <a:spcPts val="600"/>
              </a:spcBef>
            </a:pPr>
            <a:r>
              <a:rPr sz="1500" b="1">
                <a:solidFill>
                  <a:srgbClr val="FFFFFF"/>
                </a:solidFill>
                <a:latin typeface="Segoe UI"/>
              </a:rPr>
              <a:t>• 2. Generalization to Novel Models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B0BED9"/>
                </a:solidFill>
                <a:latin typeface="Segoe UI"/>
              </a:rPr>
              <a:t>    ❌ Existing classifiers: Brittle; fail on new GAN architectures (e.g., Stable Diffusion video, Sora-generated clips).</a:t>
            </a:r>
          </a:p>
          <a:p>
            <a:pPr>
              <a:spcBef>
                <a:spcPts val="100"/>
              </a:spcBef>
            </a:pPr>
            <a:r>
              <a:rPr sz="1400" b="1">
                <a:solidFill>
                  <a:srgbClr val="4CD96F"/>
                </a:solidFill>
                <a:latin typeface="Segoe UI"/>
              </a:rPr>
              <a:t>    ✅ DeepGuard: Ensemble disagreement + frequency-domain artifact analysis for unseen architectures.</a:t>
            </a:r>
          </a:p>
          <a:p>
            <a:pPr>
              <a:spcBef>
                <a:spcPts val="600"/>
              </a:spcBef>
            </a:pPr>
            <a:r>
              <a:rPr sz="1500" b="1">
                <a:solidFill>
                  <a:srgbClr val="FFFFFF"/>
                </a:solidFill>
                <a:latin typeface="Segoe UI"/>
              </a:rPr>
              <a:t>• 3. Viral Spread Tracking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B0BED9"/>
                </a:solidFill>
                <a:latin typeface="Segoe UI"/>
              </a:rPr>
              <a:t>    ❌ YouTube/Meta content ID: Detects exact hash matches only; misses re-compressed, re-cropped, or speed-altered copies.</a:t>
            </a:r>
          </a:p>
          <a:p>
            <a:pPr>
              <a:spcBef>
                <a:spcPts val="100"/>
              </a:spcBef>
            </a:pPr>
            <a:r>
              <a:rPr sz="1400" b="1">
                <a:solidFill>
                  <a:srgbClr val="4CD96F"/>
                </a:solidFill>
                <a:latin typeface="Segoe UI"/>
              </a:rPr>
              <a:t>    ✅ DeepGuard: Perceptual hash + embedding similarity traces variants across compression transforms.</a:t>
            </a:r>
          </a:p>
          <a:p>
            <a:pPr>
              <a:spcBef>
                <a:spcPts val="600"/>
              </a:spcBef>
            </a:pPr>
            <a:r>
              <a:rPr sz="1500" b="1">
                <a:solidFill>
                  <a:srgbClr val="FFFFFF"/>
                </a:solidFill>
                <a:latin typeface="Segoe UI"/>
              </a:rPr>
              <a:t>• 4. Takedown Automation</a:t>
            </a:r>
          </a:p>
          <a:p>
            <a:pPr>
              <a:spcBef>
                <a:spcPts val="200"/>
              </a:spcBef>
            </a:pPr>
            <a:r>
              <a:rPr sz="1400">
                <a:solidFill>
                  <a:srgbClr val="B0BED9"/>
                </a:solidFill>
                <a:latin typeface="Segoe UI"/>
              </a:rPr>
              <a:t>    ❌ Current workflow: Victims manually file individual platform reports; avg removal time 48–72 hours.</a:t>
            </a:r>
          </a:p>
          <a:p>
            <a:pPr>
              <a:spcBef>
                <a:spcPts val="100"/>
              </a:spcBef>
            </a:pPr>
            <a:r>
              <a:rPr sz="1400" b="1">
                <a:solidFill>
                  <a:srgbClr val="4CD96F"/>
                </a:solidFill>
                <a:latin typeface="Segoe UI"/>
              </a:rPr>
              <a:t>    ✅ DeepGuard: Automated DMCA batch submission + platform API webhooks reduce removal to &lt; 15 minutes.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349240"/>
            <a:ext cx="11292840" cy="1005840"/>
          </a:xfrm>
          <a:prstGeom prst="roundRect">
            <a:avLst/>
          </a:prstGeom>
          <a:solidFill>
            <a:srgbClr val="0C142E">
              <a:alpha val="92000"/>
            </a:srgbClr>
          </a:solidFill>
          <a:ln w="15240">
            <a:solidFill>
              <a:srgbClr val="FFC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394960"/>
            <a:ext cx="11018520" cy="91440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C200"/>
                </a:solidFill>
                <a:latin typeface="Segoe UI"/>
              </a:rPr>
              <a:t>🏆  KEY COMPETITIVE ADVANTAGE</a:t>
            </a:r>
          </a:p>
          <a:p>
            <a:pPr algn="l">
              <a:spcBef>
                <a:spcPts val="300"/>
              </a:spcBef>
              <a:spcAft>
                <a:spcPts val="0"/>
              </a:spcAft>
            </a:pPr>
            <a:r>
              <a:rPr sz="1400" b="0" i="0">
                <a:solidFill>
                  <a:srgbClr val="F0F4FF"/>
                </a:solidFill>
                <a:latin typeface="Segoe UI"/>
              </a:rPr>
              <a:t>DeepGuard is the only end-to-end platform unifying multi-modal detection, perceptual-hash-based viral spread mapping, and automated multi-platform takedown orchestration — transforming a 3-day victim ordeal into a 15-minute automated process.</a:t>
            </a:r>
          </a:p>
        </p:txBody>
      </p:sp>
    </p:spTree>
    <p:extLst>
      <p:ext uri="{BB962C8B-B14F-4D97-AF65-F5344CB8AC3E}">
        <p14:creationId xmlns:p14="http://schemas.microsoft.com/office/powerpoint/2010/main" val="36990864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D4C68F8-207D-56DE-939C-68C28613B3E3}"/>
              </a:ext>
            </a:extLst>
          </p:cNvPr>
          <p:cNvSpPr txBox="1"/>
          <p:nvPr/>
        </p:nvSpPr>
        <p:spPr>
          <a:xfrm>
            <a:off x="10861040" y="88715"/>
            <a:ext cx="125984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5</a:t>
            </a: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/7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7576391-3192-3C0D-E19E-5B1E695699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6305325"/>
            <a:ext cx="1158239" cy="4104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9A876C4-AFF8-8B42-BB2A-C0440FD2D7B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8" b="34401"/>
          <a:stretch/>
        </p:blipFill>
        <p:spPr>
          <a:xfrm>
            <a:off x="5249215" y="102654"/>
            <a:ext cx="1693570" cy="239033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57200" y="228600"/>
            <a:ext cx="11292840" cy="960120"/>
          </a:xfrm>
          <a:prstGeom prst="roundRect">
            <a:avLst/>
          </a:prstGeom>
          <a:solidFill>
            <a:srgbClr val="05081A">
              <a:alpha val="85000"/>
            </a:srgbClr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74320"/>
            <a:ext cx="11018520" cy="82296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Technical Approach &amp; Feasibility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400" b="0" i="1">
                <a:solidFill>
                  <a:srgbClr val="00D4FF"/>
                </a:solidFill>
                <a:latin typeface="Segoe UI"/>
              </a:rPr>
              <a:t>Architecture · AI/ML Stack · Hackathon Build Scope · What Realistically Ships in 24 Hours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280160"/>
            <a:ext cx="3547872" cy="4846320"/>
          </a:xfrm>
          <a:prstGeom prst="roundRect">
            <a:avLst/>
          </a:prstGeom>
          <a:solidFill>
            <a:srgbClr val="05081A">
              <a:alpha val="88000"/>
            </a:srgbClr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" y="1389888"/>
            <a:ext cx="3291840" cy="4626864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D4FF"/>
                </a:solidFill>
                <a:latin typeface="Segoe UI"/>
              </a:rPr>
              <a:t>🏗  SYSTEM ARCHITECTURE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• Ingestion API:  </a:t>
            </a:r>
            <a:r>
              <a:rPr sz="1400" b="0" i="0">
                <a:solidFill>
                  <a:srgbClr val="F0F4FF"/>
                </a:solidFill>
                <a:latin typeface="Segoe UI"/>
              </a:rPr>
              <a:t>FastAPI + Celery async task queue; accepts URL or direct media upload; spawns per-modal analysis workers.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• Video Forensic Engine:  </a:t>
            </a:r>
            <a:r>
              <a:rPr sz="1400" b="0" i="0">
                <a:solidFill>
                  <a:srgbClr val="F0F4FF"/>
                </a:solidFill>
                <a:latin typeface="Segoe UI"/>
              </a:rPr>
              <a:t>EfficientNet-B4 fine-tuned on FaceForensics++ &amp; DFDC; MTCNN face crop + per-frame saliency attribution (GradCAM).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• Audio Engine:  </a:t>
            </a:r>
            <a:r>
              <a:rPr sz="1400" b="0" i="0">
                <a:solidFill>
                  <a:srgbClr val="F0F4FF"/>
                </a:solidFill>
                <a:latin typeface="Segoe UI"/>
              </a:rPr>
              <a:t>WavLM large model for voice biometric verification; spectral inconsistency scan across mel-spectrogram.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• Spread Tracker:  </a:t>
            </a:r>
            <a:r>
              <a:rPr sz="1400" b="0" i="0">
                <a:solidFill>
                  <a:srgbClr val="F0F4FF"/>
                </a:solidFill>
                <a:latin typeface="Segoe UI"/>
              </a:rPr>
              <a:t>Redis-cached perceptual hash (pHash) index; NetworkX propagation DAG with platform metadata scraped via search APIs.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• Frontend:  </a:t>
            </a:r>
            <a:r>
              <a:rPr sz="1400" b="0" i="0">
                <a:solidFill>
                  <a:srgbClr val="F0F4FF"/>
                </a:solidFill>
                <a:latin typeface="Segoe UI"/>
              </a:rPr>
              <a:t>React + D3.js interactive spread graph; confidence heatmap overlay; export to forensic PDF via ReportLab.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82796" y="1280160"/>
            <a:ext cx="3547872" cy="4846320"/>
          </a:xfrm>
          <a:prstGeom prst="roundRect">
            <a:avLst/>
          </a:prstGeom>
          <a:solidFill>
            <a:srgbClr val="05081A">
              <a:alpha val="88000"/>
            </a:srgbClr>
          </a:solidFill>
          <a:ln w="12700">
            <a:solidFill>
              <a:srgbClr val="FFC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10812" y="1389888"/>
            <a:ext cx="3291840" cy="4626864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C200"/>
                </a:solidFill>
                <a:latin typeface="Segoe UI"/>
              </a:rPr>
              <a:t>🤖  AI STACK &amp; EXPLAINABILITY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500" b="1" i="0">
                <a:solidFill>
                  <a:srgbClr val="FFC200"/>
                </a:solidFill>
                <a:latin typeface="Segoe UI"/>
              </a:rPr>
              <a:t>• Detection Ensemble:  </a:t>
            </a:r>
            <a:r>
              <a:rPr sz="1400" b="0" i="0">
                <a:solidFill>
                  <a:srgbClr val="F0F4FF"/>
                </a:solidFill>
                <a:latin typeface="Segoe UI"/>
              </a:rPr>
              <a:t>4 specialized models vote per modality (video / audio / image / EXIF); weighted confidence aggregation; ensemble disagreement flags novel architectures.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500" b="1" i="0">
                <a:solidFill>
                  <a:srgbClr val="FFC200"/>
                </a:solidFill>
                <a:latin typeface="Segoe UI"/>
              </a:rPr>
              <a:t>• Zero-Shot Generalization:  </a:t>
            </a:r>
            <a:r>
              <a:rPr sz="1400" b="0" i="0">
                <a:solidFill>
                  <a:srgbClr val="F0F4FF"/>
                </a:solidFill>
                <a:latin typeface="Segoe UI"/>
              </a:rPr>
              <a:t>Frequency-domain artifact detection (DCT coefficient anomalies) works model-agnostically without retraining.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500" b="1" i="0">
                <a:solidFill>
                  <a:srgbClr val="FFC200"/>
                </a:solidFill>
                <a:latin typeface="Segoe UI"/>
              </a:rPr>
              <a:t>• Explainability (XAI):  </a:t>
            </a:r>
            <a:r>
              <a:rPr sz="1400" b="0" i="0">
                <a:solidFill>
                  <a:srgbClr val="F0F4FF"/>
                </a:solidFill>
                <a:latin typeface="Segoe UI"/>
              </a:rPr>
              <a:t>GradCAM frame heatmaps highlight manipulated facial regions; SHAP feature contribution for audio anomaly; no black-box outputs.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500" b="1" i="0">
                <a:solidFill>
                  <a:srgbClr val="FFC200"/>
                </a:solidFill>
                <a:latin typeface="Segoe UI"/>
              </a:rPr>
              <a:t>• Continuous Learning:  </a:t>
            </a:r>
            <a:r>
              <a:rPr sz="1400" b="0" i="0">
                <a:solidFill>
                  <a:srgbClr val="F0F4FF"/>
                </a:solidFill>
                <a:latin typeface="Segoe UI"/>
              </a:rPr>
              <a:t>False-positive corrections federated back to a drift-detection layer; model registry versioned with DVC.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08392" y="1280160"/>
            <a:ext cx="3547872" cy="4846320"/>
          </a:xfrm>
          <a:prstGeom prst="roundRect">
            <a:avLst/>
          </a:prstGeom>
          <a:solidFill>
            <a:srgbClr val="05081A">
              <a:alpha val="88000"/>
            </a:srgbClr>
          </a:solidFill>
          <a:ln w="12700">
            <a:solidFill>
              <a:srgbClr val="4CD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36408" y="1389888"/>
            <a:ext cx="3291840" cy="4626864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4CD96F"/>
                </a:solidFill>
                <a:latin typeface="Segoe UI"/>
              </a:rPr>
              <a:t>🛠  HACKATHON BUILD SCOPE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• Hrs 0–5  (Setup &amp; Data):  </a:t>
            </a:r>
            <a:r>
              <a:rPr sz="1400" b="0" i="0">
                <a:solidFill>
                  <a:srgbClr val="F0F4FF"/>
                </a:solidFill>
                <a:latin typeface="Segoe UI"/>
              </a:rPr>
              <a:t>Load pre-trained EfficientNet-B4 weights; prepare 200-clip test set from public FaceForensics++ &amp; DFDC datasets; validate inference pipeline.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• Hrs 5–12  (Core Detection):  </a:t>
            </a:r>
            <a:r>
              <a:rPr sz="1400" b="0" i="0">
                <a:solidFill>
                  <a:srgbClr val="F0F4FF"/>
                </a:solidFill>
                <a:latin typeface="Segoe UI"/>
              </a:rPr>
              <a:t>Build video + audio analysis workers; integrate GradCAM heatmap overlay; tune confidence threshold with F1 on val set.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• Hrs 12–18  (Spread Tracker):  </a:t>
            </a:r>
            <a:r>
              <a:rPr sz="1400" b="0" i="0">
                <a:solidFill>
                  <a:srgbClr val="F0F4FF"/>
                </a:solidFill>
                <a:latin typeface="Segoe UI"/>
              </a:rPr>
              <a:t>Build pHash index; scrape 3 platforms via search API; render D3.js propagation DAG with edge timestamps.</a:t>
            </a: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• Hrs 18–24  (Demo &amp; Polish):  </a:t>
            </a:r>
            <a:r>
              <a:rPr sz="1400" b="0" i="0">
                <a:solidFill>
                  <a:srgbClr val="F0F4FF"/>
                </a:solidFill>
                <a:latin typeface="Segoe UI"/>
              </a:rPr>
              <a:t>Integrate takedown report generator; end-to-end demo on 5 pre-selected test clips; prepare live presentation.</a:t>
            </a:r>
          </a:p>
        </p:txBody>
      </p:sp>
    </p:spTree>
    <p:extLst>
      <p:ext uri="{BB962C8B-B14F-4D97-AF65-F5344CB8AC3E}">
        <p14:creationId xmlns:p14="http://schemas.microsoft.com/office/powerpoint/2010/main" val="651658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49AD378-AC17-38C2-5566-39D8D6ECA8A1}"/>
              </a:ext>
            </a:extLst>
          </p:cNvPr>
          <p:cNvSpPr txBox="1"/>
          <p:nvPr/>
        </p:nvSpPr>
        <p:spPr>
          <a:xfrm>
            <a:off x="10861040" y="88715"/>
            <a:ext cx="125984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6</a:t>
            </a: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/7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DC6F33-9ED0-770C-B837-461B3F0458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6305325"/>
            <a:ext cx="1158239" cy="4104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FD67373-12DD-F93F-3B42-B3E51D2BDFD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8" b="34401"/>
          <a:stretch/>
        </p:blipFill>
        <p:spPr>
          <a:xfrm>
            <a:off x="5249215" y="102654"/>
            <a:ext cx="1693570" cy="239033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457200" y="228600"/>
            <a:ext cx="11292840" cy="960120"/>
          </a:xfrm>
          <a:prstGeom prst="roundRect">
            <a:avLst/>
          </a:prstGeom>
          <a:solidFill>
            <a:srgbClr val="05081A">
              <a:alpha val="85000"/>
            </a:srgbClr>
          </a:solidFill>
          <a:ln w="15240">
            <a:solidFill>
              <a:srgbClr val="4CD9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74320"/>
            <a:ext cx="11018520" cy="82296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Expected Impact &amp; Execution Plan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400" b="0" i="1">
                <a:solidFill>
                  <a:srgbClr val="4CD96F"/>
                </a:solidFill>
                <a:latin typeface="Segoe UI"/>
              </a:rPr>
              <a:t>Quantifiable Outcomes · Stakeholder Benefits · 24-Hour Milestone Roadmap · Future Scaling Vision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280160"/>
            <a:ext cx="5623560" cy="4892040"/>
          </a:xfrm>
          <a:prstGeom prst="roundRect">
            <a:avLst/>
          </a:prstGeom>
          <a:solidFill>
            <a:srgbClr val="05081A">
              <a:alpha val="88000"/>
            </a:srgbClr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1389888"/>
            <a:ext cx="5349240" cy="4672584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D4FF"/>
                </a:solidFill>
                <a:latin typeface="Segoe UI"/>
              </a:rPr>
              <a:t>📈  MEASURABLE IMPACT &amp; OUTCOMES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• &gt; 93% Detection Accuracy:  </a:t>
            </a:r>
            <a:r>
              <a:rPr sz="1400" b="0" i="0">
                <a:solidFill>
                  <a:srgbClr val="F0F4FF"/>
                </a:solidFill>
                <a:latin typeface="Segoe UI"/>
              </a:rPr>
              <a:t>Ensemble fusion achieves &gt;93% F1 on public DFDC &amp; FaceForensics++ benchmarks for face-swap, voice clone, and GAN-generated content.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• &gt; 85% Spread Coverage:  </a:t>
            </a:r>
            <a:r>
              <a:rPr sz="1400" b="0" i="0">
                <a:solidFill>
                  <a:srgbClr val="F0F4FF"/>
                </a:solidFill>
                <a:latin typeface="Segoe UI"/>
              </a:rPr>
              <a:t>pHash propagation graph tracks &gt;85% of re-uploaded derivatives across YouTube, Twitter/X, and public Facebook in simulated tests.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• &lt; 15-Min Takedown:  </a:t>
            </a:r>
            <a:r>
              <a:rPr sz="1400" b="0" i="0">
                <a:solidFill>
                  <a:srgbClr val="F0F4FF"/>
                </a:solidFill>
                <a:latin typeface="Segoe UI"/>
              </a:rPr>
              <a:t>Automated DMCA+API pipeline collapses victim-reported-to-removal latency from 48–72 hrs to &lt;15 minutes.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• Victim Empowerment:  </a:t>
            </a:r>
            <a:r>
              <a:rPr sz="1400" b="0" i="0">
                <a:solidFill>
                  <a:srgbClr val="F0F4FF"/>
                </a:solidFill>
                <a:latin typeface="Segoe UI"/>
              </a:rPr>
              <a:t>Non-technical users receive a one-click forensic PDF evidence report — ready for police FIR, DMCA, or employer disclosure.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• Platform-Level Scalability:  </a:t>
            </a:r>
            <a:r>
              <a:rPr sz="1400" b="0" i="0">
                <a:solidFill>
                  <a:srgbClr val="F0F4FF"/>
                </a:solidFill>
                <a:latin typeface="Segoe UI"/>
              </a:rPr>
              <a:t>Stateless worker pool scales horizontally; designed to handle 10,000+ media submissions/day with Redis caching &amp; Celery concurrency.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• Future: Browser Extension:  </a:t>
            </a:r>
            <a:r>
              <a:rPr sz="1400" b="0" i="0">
                <a:solidFill>
                  <a:srgbClr val="F0F4FF"/>
                </a:solidFill>
                <a:latin typeface="Segoe UI"/>
              </a:rPr>
              <a:t>Real-time deepfake detection overlay as users browse social media — flags suspect media at point of consumption.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280160"/>
            <a:ext cx="5623560" cy="4892040"/>
          </a:xfrm>
          <a:prstGeom prst="roundRect">
            <a:avLst/>
          </a:prstGeom>
          <a:solidFill>
            <a:srgbClr val="05081A">
              <a:alpha val="88000"/>
            </a:srgbClr>
          </a:solidFill>
          <a:ln w="12700">
            <a:solidFill>
              <a:srgbClr val="FFC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389888"/>
            <a:ext cx="5349240" cy="4672584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C200"/>
                </a:solidFill>
                <a:latin typeface="Segoe UI"/>
              </a:rPr>
              <a:t>⏱  24-HOUR EXECUTION ROADMAP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• Hours 00–05  (Foundation):  </a:t>
            </a:r>
            <a:r>
              <a:rPr sz="1400" b="0" i="0">
                <a:solidFill>
                  <a:srgbClr val="F0F4FF"/>
                </a:solidFill>
                <a:latin typeface="Segoe UI"/>
              </a:rPr>
              <a:t>Configure FastAPI ingestion API; load pre-trained model weights (EfficientNet-B4 + WavLM); validate inference on 20 sample clips.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• Hours 05–12  (Detection Core):  </a:t>
            </a:r>
            <a:r>
              <a:rPr sz="1400" b="0" i="0">
                <a:solidFill>
                  <a:srgbClr val="F0F4FF"/>
                </a:solidFill>
                <a:latin typeface="Segoe UI"/>
              </a:rPr>
              <a:t>Build per-frame video worker + audio spectral worker; implement GradCAM explainability layer; tune confidence thresholds on val set.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• Hours 12–18  (Spread Tracker):  </a:t>
            </a:r>
            <a:r>
              <a:rPr sz="1400" b="0" i="0">
                <a:solidFill>
                  <a:srgbClr val="F0F4FF"/>
                </a:solidFill>
                <a:latin typeface="Segoe UI"/>
              </a:rPr>
              <a:t>Build Redis pHash index; scrape 3 platforms; construct NetworkX propagation DAG; render live D3.js spread visualization.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• Hours 18–22  (Takedown Module):  </a:t>
            </a:r>
            <a:r>
              <a:rPr sz="1400" b="0" i="0">
                <a:solidFill>
                  <a:srgbClr val="F0F4FF"/>
                </a:solidFill>
                <a:latin typeface="Segoe UI"/>
              </a:rPr>
              <a:t>Implement DMCA report generator + platform API webhook calls; generate forensic PDF evidence dossier via ReportLab.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• Hours 22–24  (Demo Polish):  </a:t>
            </a:r>
            <a:r>
              <a:rPr sz="1400" b="0" i="0">
                <a:solidFill>
                  <a:srgbClr val="F0F4FF"/>
                </a:solidFill>
                <a:latin typeface="Segoe UI"/>
              </a:rPr>
              <a:t>End-to-end demo on 5 curated test scenarios; benchmark accuracy / latency; final pitch rehearsal.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• Future Horizon:  </a:t>
            </a:r>
            <a:r>
              <a:rPr sz="1400" b="0" i="0">
                <a:solidFill>
                  <a:srgbClr val="F0F4FF"/>
                </a:solidFill>
                <a:latin typeface="Segoe UI"/>
              </a:rPr>
              <a:t>eBPF-based browser extension; federated learning from platform corrections; C2PA content provenance standard integration.</a:t>
            </a:r>
          </a:p>
        </p:txBody>
      </p:sp>
    </p:spTree>
    <p:extLst>
      <p:ext uri="{BB962C8B-B14F-4D97-AF65-F5344CB8AC3E}">
        <p14:creationId xmlns:p14="http://schemas.microsoft.com/office/powerpoint/2010/main" val="2865562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10946FF-DA18-7B33-9172-39F4DB510891}"/>
              </a:ext>
            </a:extLst>
          </p:cNvPr>
          <p:cNvSpPr txBox="1"/>
          <p:nvPr/>
        </p:nvSpPr>
        <p:spPr>
          <a:xfrm>
            <a:off x="10861040" y="88715"/>
            <a:ext cx="1259840" cy="432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7</a:t>
            </a:r>
            <a:r>
              <a:rPr lang="en-US" sz="1800" b="1" dirty="0">
                <a:solidFill>
                  <a:srgbClr val="000000"/>
                </a:solidFill>
                <a:latin typeface="Times New Roman" panose="02020603050405020304" pitchFamily="18" charset="0"/>
                <a:ea typeface="Garet Bold"/>
                <a:cs typeface="Times New Roman" panose="02020603050405020304" pitchFamily="18" charset="0"/>
                <a:sym typeface="Garet Bold"/>
              </a:rPr>
              <a:t>/7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EF7ACDD-C1B2-95A5-92B3-2AFB47FCAF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1" y="6305325"/>
            <a:ext cx="1158239" cy="4104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30C7E9C-9E5F-5794-5F68-5ECE61208F4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838" b="34401"/>
          <a:stretch/>
        </p:blipFill>
        <p:spPr>
          <a:xfrm>
            <a:off x="5249215" y="102654"/>
            <a:ext cx="1693570" cy="239033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57200" y="228600"/>
            <a:ext cx="11292840" cy="960120"/>
          </a:xfrm>
          <a:prstGeom prst="roundRect">
            <a:avLst/>
          </a:prstGeom>
          <a:solidFill>
            <a:srgbClr val="05081A">
              <a:alpha val="85000"/>
            </a:srgbClr>
          </a:solidFill>
          <a:ln w="15240">
            <a:solidFill>
              <a:srgbClr val="FFC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74320"/>
            <a:ext cx="11018520" cy="82296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Conclusion &amp; References</a:t>
            </a:r>
          </a:p>
          <a:p>
            <a:pPr algn="l">
              <a:spcBef>
                <a:spcPts val="200"/>
              </a:spcBef>
              <a:spcAft>
                <a:spcPts val="0"/>
              </a:spcAft>
            </a:pPr>
            <a:r>
              <a:rPr sz="1400" b="0" i="1">
                <a:solidFill>
                  <a:srgbClr val="FFC200"/>
                </a:solidFill>
                <a:latin typeface="Segoe UI"/>
              </a:rPr>
              <a:t>DeepGuard — Restoring Truth to the Digital Media Ecosystem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1280160"/>
            <a:ext cx="11292840" cy="2331720"/>
          </a:xfrm>
          <a:prstGeom prst="roundRect">
            <a:avLst/>
          </a:prstGeom>
          <a:solidFill>
            <a:srgbClr val="05081A">
              <a:alpha val="88000"/>
            </a:srgbClr>
          </a:solidFill>
          <a:ln w="12700">
            <a:solidFill>
              <a:srgbClr val="FFC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1371600"/>
            <a:ext cx="11018520" cy="210312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C200"/>
                </a:solidFill>
                <a:latin typeface="Segoe UI"/>
              </a:rPr>
              <a:t>SUMMARY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• From Symptom to System:  </a:t>
            </a:r>
            <a:r>
              <a:rPr sz="1400" b="0" i="0">
                <a:solidFill>
                  <a:srgbClr val="F0F4FF"/>
                </a:solidFill>
                <a:latin typeface="Segoe UI"/>
              </a:rPr>
              <a:t>DeepGuard addresses deepfake proliferation end-to-end — from forensic detection with explainable confidence scores to automated cross-platform viral spread mapping and orchestrated takedown.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• Beyond Detection — Accountability:  </a:t>
            </a:r>
            <a:r>
              <a:rPr sz="1400" b="0" i="0">
                <a:solidFill>
                  <a:srgbClr val="F0F4FF"/>
                </a:solidFill>
                <a:latin typeface="Segoe UI"/>
              </a:rPr>
              <a:t>By generating verifiable provenance chains and legal-grade forensic reports, DeepGuard shifts the power dynamic from perpetrators back to victims and law enforcement.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• Built to Scale:  </a:t>
            </a:r>
            <a:r>
              <a:rPr sz="1400" b="0" i="0">
                <a:solidFill>
                  <a:srgbClr val="F0F4FF"/>
                </a:solidFill>
                <a:latin typeface="Segoe UI"/>
              </a:rPr>
              <a:t>Stateless microservice architecture, perceptual-hash indexing, and platform-agnostic takedown APIs ensure DeepGuard can grow from hackathon demo to production-grade trust infrastructure.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749039"/>
            <a:ext cx="11292840" cy="2514600"/>
          </a:xfrm>
          <a:prstGeom prst="roundRect">
            <a:avLst/>
          </a:prstGeom>
          <a:solidFill>
            <a:srgbClr val="05081A">
              <a:alpha val="88000"/>
            </a:srgbClr>
          </a:solidFill>
          <a:ln w="12700">
            <a:solidFill>
              <a:srgbClr val="009A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840480"/>
            <a:ext cx="11018520" cy="2286000"/>
          </a:xfrm>
          <a:prstGeom prst="rect">
            <a:avLst/>
          </a:prstGeom>
          <a:noFill/>
        </p:spPr>
        <p:txBody>
          <a:bodyPr wrap="square" lIns="109728" rIns="109728" tIns="73152" bIns="73152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D4FF"/>
                </a:solidFill>
                <a:latin typeface="Segoe UI"/>
              </a:rPr>
              <a:t>VERIFIABLE REFERENCES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400" b="1" i="0">
                <a:solidFill>
                  <a:srgbClr val="B0BED9"/>
                </a:solidFill>
                <a:latin typeface="Segoe UI"/>
              </a:rPr>
              <a:t>• Rossler et al. (2019) — FaceForensics++:  </a:t>
            </a:r>
            <a:r>
              <a:rPr sz="1400" b="0" i="0">
                <a:solidFill>
                  <a:srgbClr val="F0F4FF"/>
                </a:solidFill>
                <a:latin typeface="Segoe UI"/>
              </a:rPr>
              <a:t>Learning to Detect Manipulated Facial Images. ICCV 2019. [arXiv:1901.08971]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400" b="1" i="0">
                <a:solidFill>
                  <a:srgbClr val="B0BED9"/>
                </a:solidFill>
                <a:latin typeface="Segoe UI"/>
              </a:rPr>
              <a:t>• Dolhansky et al. (2020) — DFDC Dataset:  </a:t>
            </a:r>
            <a:r>
              <a:rPr sz="1400" b="0" i="0">
                <a:solidFill>
                  <a:srgbClr val="F0F4FF"/>
                </a:solidFill>
                <a:latin typeface="Segoe UI"/>
              </a:rPr>
              <a:t>The DeepFake Detection Challenge (DFDC) Dataset. Meta AI Research. [arXiv:2006.07397]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400" b="1" i="0">
                <a:solidFill>
                  <a:srgbClr val="B0BED9"/>
                </a:solidFill>
                <a:latin typeface="Segoe UI"/>
              </a:rPr>
              <a:t>• Sumsub (2024) — Identity Fraud Report:  </a:t>
            </a:r>
            <a:r>
              <a:rPr sz="1400" b="0" i="0">
                <a:solidFill>
                  <a:srgbClr val="F0F4FF"/>
                </a:solidFill>
                <a:latin typeface="Segoe UI"/>
              </a:rPr>
              <a:t>500%+ growth in AI-generated deepfake fraud incidents YoY. sumsub.com/fraud-report-2024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400" b="1" i="0">
                <a:solidFill>
                  <a:srgbClr val="B0BED9"/>
                </a:solidFill>
                <a:latin typeface="Segoe UI"/>
              </a:rPr>
              <a:t>• Deloitte (2024):  </a:t>
            </a:r>
            <a:r>
              <a:rPr sz="1400" b="0" i="0">
                <a:solidFill>
                  <a:srgbClr val="F0F4FF"/>
                </a:solidFill>
                <a:latin typeface="Segoe UI"/>
              </a:rPr>
              <a:t>Projected $78B economic damage from synthetic media fraud by 2027. Deloitte Insights Technology Report.</a:t>
            </a:r>
          </a:p>
          <a:p>
            <a:pPr algn="l">
              <a:spcBef>
                <a:spcPts val="500"/>
              </a:spcBef>
              <a:spcAft>
                <a:spcPts val="0"/>
              </a:spcAft>
            </a:pPr>
            <a:r>
              <a:rPr sz="1400" b="1" i="0">
                <a:solidFill>
                  <a:srgbClr val="B0BED9"/>
                </a:solidFill>
                <a:latin typeface="Segoe UI"/>
              </a:rPr>
              <a:t>• C2PA (2024) — Content Provenance Standard:  </a:t>
            </a:r>
            <a:r>
              <a:rPr sz="1400" b="0" i="0">
                <a:solidFill>
                  <a:srgbClr val="F0F4FF"/>
                </a:solidFill>
                <a:latin typeface="Segoe UI"/>
              </a:rPr>
              <a:t>Coalition for Content Provenance and Authenticity (Adobe, Microsoft, BBC). c2pa.org</a:t>
            </a:r>
          </a:p>
        </p:txBody>
      </p:sp>
    </p:spTree>
    <p:extLst>
      <p:ext uri="{BB962C8B-B14F-4D97-AF65-F5344CB8AC3E}">
        <p14:creationId xmlns:p14="http://schemas.microsoft.com/office/powerpoint/2010/main" val="1244322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343</Words>
  <Application>Microsoft Office PowerPoint</Application>
  <PresentationFormat>Widescreen</PresentationFormat>
  <Paragraphs>45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Sadhana S</dc:creator>
  <cp:lastModifiedBy>Sadhana S</cp:lastModifiedBy>
  <cp:revision>6</cp:revision>
  <dcterms:created xsi:type="dcterms:W3CDTF">2026-10-16T15:16:25Z</dcterms:created>
  <dcterms:modified xsi:type="dcterms:W3CDTF">2026-10-20T16:26:16Z</dcterms:modified>
</cp:coreProperties>
</file>