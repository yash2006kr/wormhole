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94" d="100"/>
          <a:sy n="94" d="100"/>
        </p:scale>
        <p:origin x="51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0CCD7E-C9A4-4D5D-86B6-DC017AD9A7C3}"/>
              </a:ext>
            </a:extLst>
          </p:cNvPr>
          <p:cNvSpPr txBox="1"/>
          <p:nvPr/>
        </p:nvSpPr>
        <p:spPr>
          <a:xfrm>
            <a:off x="1357884" y="2194559"/>
            <a:ext cx="9445752" cy="1783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rPr dirty="0"/>
              <a:t>PROBLEM STATEMENT 04: TRUST &amp; SAFETY · MEDIA FORENSICS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  <a:defRPr sz="44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DEEPGUARD</a:t>
            </a:r>
          </a:p>
          <a:p>
            <a:pPr algn="ctr">
              <a:spcBef>
                <a:spcPts val="200"/>
              </a:spcBef>
              <a:defRPr sz="1800" b="1">
                <a:solidFill>
                  <a:srgbClr val="0284C7"/>
                </a:solidFill>
                <a:latin typeface="Segoe UI"/>
              </a:defRPr>
            </a:pPr>
            <a:r>
              <a:rPr dirty="0"/>
              <a:t>Deepfake Detection &amp; Viral Takedown Tracker</a:t>
            </a:r>
          </a:p>
          <a:p>
            <a:pPr algn="ctr">
              <a:spcBef>
                <a:spcPts val="300"/>
              </a:spcBef>
              <a:defRPr sz="1400" i="1">
                <a:solidFill>
                  <a:srgbClr val="64748B"/>
                </a:solidFill>
                <a:latin typeface="Segoe UI"/>
              </a:defRPr>
            </a:pPr>
            <a:r>
              <a:rPr dirty="0"/>
              <a:t>"Detect manipulated media. Trace viral spread. Automate takedowns before harm multiplies."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EF6C0F-365A-F329-3EF0-2F7D3CC66FC6}"/>
              </a:ext>
            </a:extLst>
          </p:cNvPr>
          <p:cNvSpPr txBox="1"/>
          <p:nvPr/>
        </p:nvSpPr>
        <p:spPr>
          <a:xfrm>
            <a:off x="2214880" y="3977639"/>
            <a:ext cx="4795520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Segoe UI"/>
              </a:defRPr>
            </a:pPr>
            <a:r>
              <a:rPr sz="2400" dirty="0"/>
              <a:t>TEAM DETAILS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  <a:latin typeface="Segoe UI"/>
              </a:defRPr>
            </a:pPr>
            <a:r>
              <a:rPr sz="2000" dirty="0"/>
              <a:t>Team Name: AI Avengers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rPr sz="2000" dirty="0"/>
              <a:t>Don Bosco Institute of Technology (DBIT)</a:t>
            </a:r>
            <a:r>
              <a:rPr lang="en-IN" sz="2000" dirty="0"/>
              <a:t>,</a:t>
            </a:r>
          </a:p>
          <a:p>
            <a:pPr>
              <a:spcBef>
                <a:spcPts val="200"/>
              </a:spcBef>
              <a:defRPr sz="1200" i="1">
                <a:solidFill>
                  <a:srgbClr val="64748B"/>
                </a:solidFill>
                <a:latin typeface="Segoe UI"/>
              </a:defRPr>
            </a:pPr>
            <a:r>
              <a:rPr lang="en-IN" sz="2000" dirty="0"/>
              <a:t>Bengaluru.</a:t>
            </a:r>
            <a:endParaRPr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BE2F43-5C49-991E-F1B0-2C69CD8D894A}"/>
              </a:ext>
            </a:extLst>
          </p:cNvPr>
          <p:cNvSpPr txBox="1"/>
          <p:nvPr/>
        </p:nvSpPr>
        <p:spPr>
          <a:xfrm>
            <a:off x="7157720" y="4058919"/>
            <a:ext cx="4572000" cy="1795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300" b="1">
                <a:solidFill>
                  <a:srgbClr val="EA580C"/>
                </a:solidFill>
                <a:latin typeface="Segoe UI"/>
              </a:defRPr>
            </a:pPr>
            <a:r>
              <a:rPr sz="2400" dirty="0"/>
              <a:t>TEAM MEMBERS &amp; ROLES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Raj Ana</a:t>
            </a:r>
            <a:r>
              <a:rPr lang="en-IN" sz="2000" b="1" dirty="0">
                <a:solidFill>
                  <a:srgbClr val="0F172A"/>
                </a:solidFill>
                <a:latin typeface="Segoe UI"/>
              </a:rPr>
              <a:t>n</a:t>
            </a:r>
            <a:r>
              <a:rPr sz="2000" b="1" dirty="0">
                <a:solidFill>
                  <a:srgbClr val="0F172A"/>
                </a:solidFill>
                <a:latin typeface="Segoe UI"/>
              </a:rPr>
              <a:t>da</a:t>
            </a:r>
            <a:endParaRPr sz="2000" dirty="0">
              <a:solidFill>
                <a:srgbClr val="334155"/>
              </a:solidFill>
              <a:latin typeface="Segoe UI"/>
            </a:endParaRPr>
          </a:p>
          <a:p>
            <a:pPr marL="342900" indent="-342900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sz="2000" b="1" dirty="0" err="1">
                <a:solidFill>
                  <a:srgbClr val="0F172A"/>
                </a:solidFill>
                <a:latin typeface="Segoe UI"/>
              </a:rPr>
              <a:t>Yashma</a:t>
            </a:r>
            <a:r>
              <a:rPr sz="2000" b="1" dirty="0">
                <a:solidFill>
                  <a:srgbClr val="0F172A"/>
                </a:solidFill>
                <a:latin typeface="Segoe UI"/>
              </a:rPr>
              <a:t> C P</a:t>
            </a:r>
            <a:endParaRPr sz="2000" dirty="0">
              <a:solidFill>
                <a:srgbClr val="334155"/>
              </a:solidFill>
              <a:latin typeface="Segoe UI"/>
            </a:endParaRPr>
          </a:p>
          <a:p>
            <a:pPr marL="342900" indent="-342900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Lik</a:t>
            </a:r>
            <a:r>
              <a:rPr lang="en-IN" sz="2000" b="1" dirty="0">
                <a:solidFill>
                  <a:srgbClr val="0F172A"/>
                </a:solidFill>
                <a:latin typeface="Segoe UI"/>
              </a:rPr>
              <a:t>h</a:t>
            </a:r>
            <a:r>
              <a:rPr sz="2000" b="1" dirty="0" err="1">
                <a:solidFill>
                  <a:srgbClr val="0F172A"/>
                </a:solidFill>
                <a:latin typeface="Segoe UI"/>
              </a:rPr>
              <a:t>ith</a:t>
            </a:r>
            <a:r>
              <a:rPr sz="2000" b="1" dirty="0">
                <a:solidFill>
                  <a:srgbClr val="0F172A"/>
                </a:solidFill>
                <a:latin typeface="Segoe UI"/>
              </a:rPr>
              <a:t> M</a:t>
            </a:r>
            <a:endParaRPr sz="2000" dirty="0">
              <a:solidFill>
                <a:srgbClr val="334155"/>
              </a:solidFill>
              <a:latin typeface="Segoe UI"/>
            </a:endParaRPr>
          </a:p>
          <a:p>
            <a:pPr marL="342900" indent="-342900">
              <a:spcBef>
                <a:spcPts val="200"/>
              </a:spcBef>
              <a:buFont typeface="Wingdings" panose="05000000000000000000" pitchFamily="2" charset="2"/>
              <a:buChar char="q"/>
            </a:pPr>
            <a:r>
              <a:rPr sz="2000" b="1" dirty="0">
                <a:solidFill>
                  <a:srgbClr val="0F172A"/>
                </a:solidFill>
                <a:latin typeface="Segoe UI"/>
              </a:rPr>
              <a:t>Yashwanth K R</a:t>
            </a:r>
            <a:endParaRPr sz="2000" dirty="0">
              <a:solidFill>
                <a:srgbClr val="334155"/>
              </a:solidFill>
              <a:latin typeface="Segoe U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1A779B2-94C8-E418-575F-BE5276900E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Its Relevance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Deepfakes Move Faster Than Human Triage.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A single fake clip reaches millions in minutes, destroying reputations before reports are seen.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143000"/>
            <a:ext cx="33375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34160" y="1244600"/>
            <a:ext cx="11430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THREAT VECTORS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90472"/>
            <a:ext cx="3154680" cy="1874519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EXACT PROBLEM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Hyper-Realistic AI Fakes: </a:t>
            </a:r>
            <a:r>
              <a:rPr sz="1100">
                <a:solidFill>
                  <a:srgbClr val="334155"/>
                </a:solidFill>
                <a:latin typeface="Segoe UI"/>
              </a:rPr>
              <a:t>Convincing face-swaps and voice clones created with zero barrier.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Viral Spread Velocity: </a:t>
            </a:r>
            <a:r>
              <a:rPr sz="1100">
                <a:solidFill>
                  <a:srgbClr val="334155"/>
                </a:solidFill>
                <a:latin typeface="Segoe UI"/>
              </a:rPr>
              <a:t>Altered copies are cropped, mirrored, and reposted in seconds.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Asymmetric Triage: </a:t>
            </a:r>
            <a:r>
              <a:rPr sz="1100">
                <a:solidFill>
                  <a:srgbClr val="334155"/>
                </a:solidFill>
                <a:latin typeface="Segoe UI"/>
              </a:rPr>
              <a:t>Victims face slow 72-hour manual reporting while damage compounds.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0440"/>
            <a:ext cx="33375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534160" y="3611880"/>
            <a:ext cx="114300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URGENCY &amp;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67912"/>
            <a:ext cx="3154680" cy="1828800"/>
          </a:xfrm>
          <a:prstGeom prst="rect">
            <a:avLst/>
          </a:prstGeom>
          <a:noFill/>
        </p:spPr>
        <p:txBody>
          <a:bodyPr wrap="square" lIns="73152" tIns="18288" rIns="73152" bIns="18288">
            <a:spAutoFit/>
          </a:bodyPr>
          <a:lstStyle/>
          <a:p>
            <a:pPr>
              <a:defRPr sz="1350" b="1">
                <a:solidFill>
                  <a:srgbClr val="C2410C"/>
                </a:solidFill>
                <a:latin typeface="Segoe UI"/>
              </a:defRPr>
            </a:pPr>
            <a:r>
              <a:t>WHY DOES THIS MATTER?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550% Surge in Deepfakes: </a:t>
            </a:r>
            <a:r>
              <a:rPr sz="1100">
                <a:solidFill>
                  <a:srgbClr val="334155"/>
                </a:solidFill>
                <a:latin typeface="Segoe UI"/>
              </a:rPr>
              <a:t>Over 500,000 synthetic attacks logged in 2024 alone.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Irreversible Harm: </a:t>
            </a:r>
            <a:r>
              <a:rPr sz="1100">
                <a:solidFill>
                  <a:srgbClr val="334155"/>
                </a:solidFill>
                <a:latin typeface="Segoe UI"/>
              </a:rPr>
              <a:t>80% retain false narratives even after official retractions.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Crippling Latency: </a:t>
            </a:r>
            <a:r>
              <a:rPr sz="1100">
                <a:solidFill>
                  <a:srgbClr val="334155"/>
                </a:solidFill>
                <a:latin typeface="Segoe UI"/>
              </a:rPr>
              <a:t>Standard DMCA takes 3–5 days; viral damage occurs in &lt;2 hours.</a:t>
            </a:r>
          </a:p>
          <a:p>
            <a:pPr>
              <a:spcBef>
                <a:spcPts val="150"/>
              </a:spcBef>
            </a:pPr>
            <a:r>
              <a:rPr sz="1100" b="1">
                <a:solidFill>
                  <a:srgbClr val="0F172A"/>
                </a:solidFill>
                <a:latin typeface="Segoe UI"/>
              </a:rPr>
              <a:t>• Trust Crisis: </a:t>
            </a:r>
            <a:r>
              <a:rPr sz="1100">
                <a:solidFill>
                  <a:srgbClr val="334155"/>
                </a:solidFill>
                <a:latin typeface="Segoe UI"/>
              </a:rPr>
              <a:t>Weaponized against elections, leaders, and private citizens.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1143000"/>
            <a:ext cx="3977639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realistic_deepfake_forens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170432"/>
            <a:ext cx="3922776" cy="218541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26" name="Rounded Rectangle 25"/>
          <p:cNvSpPr/>
          <p:nvPr/>
        </p:nvSpPr>
        <p:spPr>
          <a:xfrm>
            <a:off x="4069080" y="3520440"/>
            <a:ext cx="39776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06240" y="3611880"/>
            <a:ext cx="128016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ATTACK LIFECYCLE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087" y="3858768"/>
            <a:ext cx="3858768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EA580C"/>
                </a:solidFill>
                <a:latin typeface="Segoe UI"/>
              </a:defRPr>
            </a:pPr>
            <a:r>
              <a:t>① Creation ➔ ② Seed ➔ ③ Mirror ➔ ④ Harm ➔ ⑤ Triage</a:t>
            </a:r>
          </a:p>
          <a:p>
            <a:pPr>
              <a:spcBef>
                <a:spcPts val="2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Without perceptual tracking, altered copies reappear indefinitely across platforms.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1143000"/>
            <a:ext cx="3410712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13520" y="1243584"/>
            <a:ext cx="132588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AFFECTED PARTIES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1508760"/>
            <a:ext cx="3227832" cy="31089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WHO FACES THIS PROBLEM?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Public Figures &amp; Leaders: </a:t>
            </a:r>
            <a:r>
              <a:rPr sz="1200">
                <a:solidFill>
                  <a:srgbClr val="334155"/>
                </a:solidFill>
                <a:latin typeface="Segoe UI"/>
              </a:rPr>
              <a:t>Political disinformation, forged statements, and election tampering.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Private Citizens &amp; Students: </a:t>
            </a:r>
            <a:r>
              <a:rPr sz="1200">
                <a:solidFill>
                  <a:srgbClr val="334155"/>
                </a:solidFill>
                <a:latin typeface="Segoe UI"/>
              </a:rPr>
              <a:t>Cyberbullying, identity theft, and non-consensual synthetic abuse.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Newsrooms &amp; Fact-Checkers: </a:t>
            </a:r>
            <a:r>
              <a:rPr sz="1200">
                <a:solidFill>
                  <a:srgbClr val="334155"/>
                </a:solidFill>
                <a:latin typeface="Segoe UI"/>
              </a:rPr>
              <a:t>Need rapid verification for breaking viral video before broadcast.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Trust &amp; Safety Teams: </a:t>
            </a:r>
            <a:r>
              <a:rPr sz="1200">
                <a:solidFill>
                  <a:srgbClr val="334155"/>
                </a:solidFill>
                <a:latin typeface="Segoe UI"/>
              </a:rPr>
              <a:t>Millions of daily uploads swamping manual human review queues.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69080" y="4800600"/>
            <a:ext cx="7525512" cy="960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06240" y="4873752"/>
            <a:ext cx="137160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CORE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5102352"/>
            <a:ext cx="7342631" cy="5943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"How might we automatically detect manipulated media with explainable confidence, trace its viral spread across altered copies, and empower victims with automated one-click takedowns?"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 &amp; Innovation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DEEPGUARD – Multi-Modal Forensics &amp; Automated Takedown Platform  </a:t>
            </a:r>
            <a:r>
              <a:rPr sz="1250" i="1">
                <a:solidFill>
                  <a:srgbClr val="64748B"/>
                </a:solidFill>
                <a:latin typeface="Segoe UI"/>
              </a:rPr>
              <a:t>"Detect artifacts, trace viral spread, and halt harm in minutes."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434340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125980" y="1239012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CORE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08760"/>
            <a:ext cx="4160520" cy="1783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WHAT ARE WE PROPOSING?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Unified Forensics: </a:t>
            </a:r>
            <a:r>
              <a:rPr sz="1200">
                <a:solidFill>
                  <a:srgbClr val="334155"/>
                </a:solidFill>
                <a:latin typeface="Segoe UI"/>
              </a:rPr>
              <a:t>Combines multi-modal detection, viral spread mapping, and legal takedowns.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Perceptual Invariance: </a:t>
            </a:r>
            <a:r>
              <a:rPr sz="1200">
                <a:solidFill>
                  <a:srgbClr val="334155"/>
                </a:solidFill>
                <a:latin typeface="Segoe UI"/>
              </a:rPr>
              <a:t>pHash &amp; visual embeddings detect cropped, compressed, and mirrored copies.</a:t>
            </a:r>
          </a:p>
          <a:p>
            <a:pPr>
              <a:spcBef>
                <a:spcPts val="200"/>
              </a:spcBef>
            </a:pPr>
            <a:r>
              <a:rPr sz="1200" b="1">
                <a:solidFill>
                  <a:srgbClr val="0F172A"/>
                </a:solidFill>
                <a:latin typeface="Segoe UI"/>
              </a:rPr>
              <a:t>• Automated DMCA: </a:t>
            </a:r>
            <a:r>
              <a:rPr sz="1200">
                <a:solidFill>
                  <a:srgbClr val="334155"/>
                </a:solidFill>
                <a:latin typeface="Segoe UI"/>
              </a:rPr>
              <a:t>Dispatches verified C2PA legal notices to platform APIs in under 15 minutes.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143000"/>
            <a:ext cx="6519672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alistic_deepguard_dashbo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170432"/>
            <a:ext cx="6464808" cy="21854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" name="Rounded Rectangle 16"/>
          <p:cNvSpPr/>
          <p:nvPr/>
        </p:nvSpPr>
        <p:spPr>
          <a:xfrm>
            <a:off x="594360" y="3520440"/>
            <a:ext cx="3547872" cy="1508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8686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1. Multi-Modal Forensic Fusion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EfficientNet-B4 spatial anomaly detection, WavLM audio spectral analysis, and DCT frequency heatmaps robust against re-compression.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5968" y="3520440"/>
            <a:ext cx="3547872" cy="150876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53128" y="3611880"/>
            <a:ext cx="8686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2. Perceptual Hash Spread Graph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pHash and CLIP visual embeddings construct a directed propagation DAG mapping mirrored copies, formats, and patient-zero source.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7576" y="3520440"/>
            <a:ext cx="3547872" cy="15087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174736" y="3611880"/>
            <a:ext cx="8686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PILLAR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6" y="3840480"/>
            <a:ext cx="3364992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Segoe UI"/>
              </a:defRPr>
            </a:pPr>
            <a:r>
              <a:t>3. Explainable Legal Takedown API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Generates C2PA-compliant cryptographic proof dossiers and dispatches automated, platform-specific DMCA notices via webhooks in &lt;15 mins.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66360"/>
            <a:ext cx="11000232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1520" y="5230368"/>
            <a:ext cx="1280160" cy="20116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END-TO-END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150" b="1">
                <a:solidFill>
                  <a:srgbClr val="EA580C"/>
                </a:solidFill>
                <a:latin typeface="Segoe UI"/>
              </a:defRPr>
            </a:pPr>
            <a:r>
              <a:t>⚡ [1] Ingestion ➔ [2] Forensics ➔ [3] Heatmap ➔ [4] pHash Index ➔ [5] Spread DAG ➔ [6] Legal Notice ➔ [7] Platform API</a:t>
            </a:r>
          </a:p>
          <a:p>
            <a:pPr>
              <a:spcBef>
                <a:spcPts val="1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From video upload to automated DMCA platform filing and verifiable legal evidence in &lt;15 minutes.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Existing Solutions &amp; Differentiation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From Isolated Dashboards to an Integrated Takedown Ecosystem.  </a:t>
            </a:r>
            <a:r>
              <a:rPr sz="1250" i="1">
                <a:solidFill>
                  <a:srgbClr val="64748B"/>
                </a:solidFill>
                <a:latin typeface="Segoe UI"/>
              </a:rPr>
              <a:t>Why legacy detectors fail on viral media — and how DeepGuard wins.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143000"/>
            <a:ext cx="47091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263140" y="1223772"/>
            <a:ext cx="137160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LEGACY SHORTCOMINGS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508760"/>
            <a:ext cx="4526280" cy="3200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EXISTING SOLUTIONS &amp; LIMITATIONS</a:t>
            </a:r>
          </a:p>
        </p:txBody>
      </p:sp>
      <p:pic>
        <p:nvPicPr>
          <p:cNvPr id="17" name="Picture 16" descr="widget_ai_detect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74519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2057400" y="1874519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Generic Online Detectors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Vague % score with no explainable heatmap; zero viral spread tracking.</a:t>
            </a:r>
          </a:p>
        </p:txBody>
      </p:sp>
      <p:pic>
        <p:nvPicPr>
          <p:cNvPr id="19" name="Picture 18" descr="widget_hash_fail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97480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0" name="TextBox 19"/>
          <p:cNvSpPr txBox="1"/>
          <p:nvPr/>
        </p:nvSpPr>
        <p:spPr>
          <a:xfrm>
            <a:off x="2057400" y="269748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Platform Content-ID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Exact hash match (MD5) easily bypassed by cropping, mirrors, or filters.</a:t>
            </a:r>
          </a:p>
        </p:txBody>
      </p:sp>
      <p:pic>
        <p:nvPicPr>
          <p:cNvPr id="21" name="Picture 20" descr="widget_dmca_pend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520440"/>
            <a:ext cx="1234440" cy="685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2" name="TextBox 21"/>
          <p:cNvSpPr txBox="1"/>
          <p:nvPr/>
        </p:nvSpPr>
        <p:spPr>
          <a:xfrm>
            <a:off x="2057400" y="3520440"/>
            <a:ext cx="3154680" cy="685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Manual DMCA Filing Forms</a:t>
            </a:r>
          </a:p>
          <a:p>
            <a:pPr>
              <a:spcBef>
                <a:spcPts val="1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Tedious 48–72 hr forms per platform; copies keep spreading unchecked.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2606040"/>
            <a:ext cx="594360" cy="59436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40680" y="2606040"/>
            <a:ext cx="594360" cy="594360"/>
          </a:xfrm>
          <a:prstGeom prst="rect">
            <a:avLst/>
          </a:prstGeom>
          <a:noFill/>
        </p:spPr>
        <p:txBody>
          <a:bodyPr wrap="square" lIns="0" tIns="109728" rIns="0">
            <a:spAutoFit/>
          </a:bodyPr>
          <a:lstStyle/>
          <a:p>
            <a:pPr algn="ctr">
              <a:defRPr sz="1400" b="1">
                <a:solidFill>
                  <a:srgbClr val="EA580C"/>
                </a:solidFill>
                <a:latin typeface="Segoe UI"/>
              </a:defRPr>
            </a:pPr>
            <a:r>
              <a:t>VS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143000"/>
            <a:ext cx="5422392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106156" y="1225296"/>
            <a:ext cx="1554480" cy="219456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DEEPGUARD ADVANTAGE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508760"/>
            <a:ext cx="5239512" cy="3337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OUR SOLUTION: DEEPGUARD ADVANTAGES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Multi-Modal Scope: </a:t>
            </a:r>
            <a:r>
              <a:rPr sz="1200">
                <a:solidFill>
                  <a:srgbClr val="334155"/>
                </a:solidFill>
                <a:latin typeface="Segoe UI"/>
              </a:rPr>
              <a:t>Analyzes video frames, audio tracks, and EXIF metadata simultaneously.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Bypass-Resistant: </a:t>
            </a:r>
            <a:r>
              <a:rPr sz="1200">
                <a:solidFill>
                  <a:srgbClr val="334155"/>
                </a:solidFill>
                <a:latin typeface="Segoe UI"/>
              </a:rPr>
              <a:t>Perceptual hashing (pHash) matches cropped, compressed, and filtered copies.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Viral Spread Mapping: </a:t>
            </a:r>
            <a:r>
              <a:rPr sz="1200">
                <a:solidFill>
                  <a:srgbClr val="334155"/>
                </a:solidFill>
                <a:latin typeface="Segoe UI"/>
              </a:rPr>
              <a:t>Directed propagation DAG identifies patient-zero and all downstream mirrors.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Automated Takedown: </a:t>
            </a:r>
            <a:r>
              <a:rPr sz="1200">
                <a:solidFill>
                  <a:srgbClr val="334155"/>
                </a:solidFill>
                <a:latin typeface="Segoe UI"/>
              </a:rPr>
              <a:t>Pre-filled DMCA notices &amp; API webhooks cut response time from 72h to &lt;15m.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6A34A"/>
                </a:solidFill>
                <a:latin typeface="Segoe UI"/>
              </a:rPr>
              <a:t>✔ Full Explainability: </a:t>
            </a:r>
            <a:r>
              <a:rPr sz="1200">
                <a:solidFill>
                  <a:srgbClr val="334155"/>
                </a:solidFill>
                <a:latin typeface="Segoe UI"/>
              </a:rPr>
              <a:t>Generates Grad-CAM visual heatmaps and C2PA cryptographic audit trails.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074920"/>
            <a:ext cx="11000232" cy="8686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5138928"/>
            <a:ext cx="146304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COMPETITIVE MOAT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76672"/>
            <a:ext cx="10817352" cy="502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🏆 Judges and investigators can inject a manipulated video, inspect real-time Grad-CAM heatmaps, trace all derivative re-uploads on the spread DAG, and dispatch simulated DMCA takedowns in seconds.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Technical Approach &amp; Feasibility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A Working Forensic &amp; Takedown Engine, Not Just a Visual Demo.  </a:t>
            </a:r>
            <a:r>
              <a:rPr sz="1250" i="1">
                <a:solidFill>
                  <a:srgbClr val="64748B"/>
                </a:solidFill>
                <a:latin typeface="Segoe UI"/>
              </a:rPr>
              <a:t>Full-stack architecture, deterministic graph traversal, and 24-hour hackathon scope.</a:t>
            </a:r>
          </a:p>
        </p:txBody>
      </p:sp>
      <p:pic>
        <p:nvPicPr>
          <p:cNvPr id="13" name="Picture 12" descr="realistic_architecture_diagr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000" y="946189"/>
            <a:ext cx="8337756" cy="3090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ounded Rectangle 13"/>
          <p:cNvSpPr/>
          <p:nvPr/>
        </p:nvSpPr>
        <p:spPr>
          <a:xfrm>
            <a:off x="594360" y="3520440"/>
            <a:ext cx="354787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696720" y="3584448"/>
            <a:ext cx="109728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"/>
              </a:defRPr>
            </a:pPr>
            <a:r>
              <a:t>🛠 TECHNOLOGIES USED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Frontend: </a:t>
            </a:r>
            <a:r>
              <a:rPr sz="1050">
                <a:solidFill>
                  <a:srgbClr val="334155"/>
                </a:solidFill>
                <a:latin typeface="Segoe UI"/>
              </a:rPr>
              <a:t>React.js, Tailwind CSS, D3.js, Canvas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Backend API: </a:t>
            </a:r>
            <a:r>
              <a:rPr sz="1050">
                <a:solidFill>
                  <a:srgbClr val="334155"/>
                </a:solidFill>
                <a:latin typeface="Segoe UI"/>
              </a:rPr>
              <a:t>Python 3.12, FastAPI, Celery, Redis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Forensic ML: </a:t>
            </a:r>
            <a:r>
              <a:rPr sz="1050">
                <a:solidFill>
                  <a:srgbClr val="334155"/>
                </a:solidFill>
                <a:latin typeface="Segoe UI"/>
              </a:rPr>
              <a:t>PyTorch, EfficientNet-B4, WavLM, OpenCV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Search &amp; Graph: </a:t>
            </a:r>
            <a:r>
              <a:rPr sz="1050">
                <a:solidFill>
                  <a:srgbClr val="334155"/>
                </a:solidFill>
                <a:latin typeface="Segoe UI"/>
              </a:rPr>
              <a:t>Milvus Vector DB, NetworkX, pHash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284C7"/>
                </a:solidFill>
                <a:latin typeface="Segoe UI"/>
              </a:rPr>
              <a:t>• Cloud &amp; Standards: </a:t>
            </a:r>
            <a:r>
              <a:rPr sz="1050">
                <a:solidFill>
                  <a:srgbClr val="334155"/>
                </a:solidFill>
                <a:latin typeface="Segoe UI"/>
              </a:rPr>
              <a:t>AWS S3, SQLite, Docker, C2PA Standard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520440"/>
            <a:ext cx="3547872" cy="2331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398238" y="3584448"/>
            <a:ext cx="109728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AI RATIONALE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🤖 WHERE IS AI NEEDED?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Subtle Artifacts: </a:t>
            </a:r>
            <a:r>
              <a:rPr sz="1050">
                <a:solidFill>
                  <a:srgbClr val="334155"/>
                </a:solidFill>
                <a:latin typeface="Segoe UI"/>
              </a:rPr>
              <a:t>Deep neural nets detect sub-pixel boundary warping and synthetic vocal jitter invisible to rule engines.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Invariant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Embeddings match cropped, compressed, or speed-altered re-uploads across platforms.</a:t>
            </a:r>
          </a:p>
          <a:p>
            <a:pPr>
              <a:spcBef>
                <a:spcPts val="12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Deterministic Rules: </a:t>
            </a:r>
            <a:r>
              <a:rPr sz="1050">
                <a:solidFill>
                  <a:srgbClr val="334155"/>
                </a:solidFill>
                <a:latin typeface="Segoe UI"/>
              </a:rPr>
              <a:t>Takedown filing and provenance validation use deterministic logic to prevent false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3520440"/>
            <a:ext cx="3547872" cy="2331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92212" y="3584448"/>
            <a:ext cx="109728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MVP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3858768"/>
            <a:ext cx="3364992" cy="19202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🎯 HACKATHON MVP SCOPE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Media Ingestion: </a:t>
            </a:r>
            <a:r>
              <a:rPr sz="1050">
                <a:solidFill>
                  <a:srgbClr val="334155"/>
                </a:solidFill>
                <a:latin typeface="Segoe UI"/>
              </a:rPr>
              <a:t>Direct video upload &amp; social URL parser.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Forensic Scoring: </a:t>
            </a:r>
            <a:r>
              <a:rPr sz="1050">
                <a:solidFill>
                  <a:srgbClr val="334155"/>
                </a:solidFill>
                <a:latin typeface="Segoe UI"/>
              </a:rPr>
              <a:t>Per-frame Grad-CAM heatmaps &amp; verdict.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Variant Matching: </a:t>
            </a:r>
            <a:r>
              <a:rPr sz="1050">
                <a:solidFill>
                  <a:srgbClr val="334155"/>
                </a:solidFill>
                <a:latin typeface="Segoe UI"/>
              </a:rPr>
              <a:t>pHash detection of cropped/mirrored copies.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Spread Graph: </a:t>
            </a:r>
            <a:r>
              <a:rPr sz="1050">
                <a:solidFill>
                  <a:srgbClr val="334155"/>
                </a:solidFill>
                <a:latin typeface="Segoe UI"/>
              </a:rPr>
              <a:t>D3.js simulated viral propagation DAG.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Automated DMCA: </a:t>
            </a:r>
            <a:r>
              <a:rPr sz="1050">
                <a:solidFill>
                  <a:srgbClr val="334155"/>
                </a:solidFill>
                <a:latin typeface="Segoe UI"/>
              </a:rPr>
              <a:t>Pre-filled legal notice &amp; C2PA manifest log.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Expected Impact &amp; Execution Plan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Measure the Speed. Stop the Virality. Protect Victims at Scale.  </a:t>
            </a:r>
            <a:r>
              <a:rPr sz="1250" i="1">
                <a:solidFill>
                  <a:srgbClr val="64748B"/>
                </a:solidFill>
                <a:latin typeface="Segoe UI"/>
              </a:rPr>
              <a:t>Quantifiable metrics, stakeholder benefits, and 24-hour milestones.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143000"/>
            <a:ext cx="333756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600200" y="1207008"/>
            <a:ext cx="1188720" cy="20116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EXPECTED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463040"/>
            <a:ext cx="3154680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"/>
              </a:defRPr>
            </a:pPr>
            <a:r>
              <a:t>📈 QUANTIFIABLE OUTCOMES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95% Faster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Cuts triage from 72h to &lt;15 mins.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Viral Containment: </a:t>
            </a:r>
            <a:r>
              <a:rPr sz="1050">
                <a:solidFill>
                  <a:srgbClr val="334155"/>
                </a:solidFill>
                <a:latin typeface="Segoe UI"/>
              </a:rPr>
              <a:t>Halts derivative mirrors before 100K views.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Victim Agency: </a:t>
            </a:r>
            <a:r>
              <a:rPr sz="1050">
                <a:solidFill>
                  <a:srgbClr val="334155"/>
                </a:solidFill>
                <a:latin typeface="Segoe UI"/>
              </a:rPr>
              <a:t>Free 1-click court-ready C2PA legal dossier.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Scalable Workers: </a:t>
            </a:r>
            <a:r>
              <a:rPr sz="1050">
                <a:solidFill>
                  <a:srgbClr val="334155"/>
                </a:solidFill>
                <a:latin typeface="Segoe UI"/>
              </a:rPr>
              <a:t>Stateless pipeline handles 10,000+ daily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1143000"/>
            <a:ext cx="4069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94960" y="1202436"/>
            <a:ext cx="1280160" cy="20116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TARGET BENCHMARKS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463040"/>
            <a:ext cx="3886200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Segoe UI"/>
              </a:defRPr>
            </a:pPr>
            <a:r>
              <a:t>🎯 EVALUATION TARGETS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&gt;92% Detection F1: </a:t>
            </a:r>
            <a:r>
              <a:rPr sz="1050">
                <a:solidFill>
                  <a:srgbClr val="334155"/>
                </a:solidFill>
                <a:latin typeface="Segoe UI"/>
              </a:rPr>
              <a:t>Benchmarked on DFDC &amp; FaceForensics++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&lt;15 Min Takedown: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DMCA vs. 3-day manual triage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&gt;88% Variant Match: </a:t>
            </a:r>
            <a:r>
              <a:rPr sz="1050">
                <a:solidFill>
                  <a:srgbClr val="334155"/>
                </a:solidFill>
                <a:latin typeface="Segoe UI"/>
              </a:rPr>
              <a:t>Identifies cropped &amp; re-encoded social mirrors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16A34A"/>
                </a:solidFill>
                <a:latin typeface="Segoe UI"/>
              </a:rPr>
              <a:t>✔ &lt;3% False Positives: </a:t>
            </a:r>
            <a:r>
              <a:rPr sz="1050">
                <a:solidFill>
                  <a:srgbClr val="334155"/>
                </a:solidFill>
                <a:latin typeface="Segoe UI"/>
              </a:rPr>
              <a:t>Validated against authentic broadcast news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143000"/>
            <a:ext cx="331927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340596" y="1197864"/>
            <a:ext cx="1188720" cy="2011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KEY BENEFICIARIES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463040"/>
            <a:ext cx="3136392" cy="1691640"/>
          </a:xfrm>
          <a:prstGeom prst="rect">
            <a:avLst/>
          </a:prstGeom>
          <a:noFill/>
        </p:spPr>
        <p:txBody>
          <a:bodyPr wrap="square" lIns="73152" tIns="9144" rIns="73152" bIns="9144">
            <a:spAutoFit/>
          </a:bodyPr>
          <a:lstStyle/>
          <a:p>
            <a:pPr>
              <a:defRPr sz="1250" b="1">
                <a:solidFill>
                  <a:srgbClr val="16A34A"/>
                </a:solidFill>
                <a:latin typeface="Segoe UI"/>
              </a:defRPr>
            </a:pPr>
            <a:r>
              <a:t>👥 WHO BENEFITS?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Targeted Victims: </a:t>
            </a:r>
            <a:r>
              <a:rPr sz="1050">
                <a:solidFill>
                  <a:srgbClr val="334155"/>
                </a:solidFill>
                <a:latin typeface="Segoe UI"/>
              </a:rPr>
              <a:t>Instant removal of defamatory synthetic media.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Platform Moderators: </a:t>
            </a:r>
            <a:r>
              <a:rPr sz="1050">
                <a:solidFill>
                  <a:srgbClr val="334155"/>
                </a:solidFill>
                <a:latin typeface="Segoe UI"/>
              </a:rPr>
              <a:t>Automated triage eliminating manual review backlogs.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Fact-Checkers: </a:t>
            </a:r>
            <a:r>
              <a:rPr sz="1050">
                <a:solidFill>
                  <a:srgbClr val="334155"/>
                </a:solidFill>
                <a:latin typeface="Segoe UI"/>
              </a:rPr>
              <a:t>Rapid verification for breaking user-generated video.</a:t>
            </a:r>
          </a:p>
          <a:p>
            <a:pPr>
              <a:spcBef>
                <a:spcPts val="1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Legal Teams: </a:t>
            </a:r>
            <a:r>
              <a:rPr sz="1050">
                <a:solidFill>
                  <a:srgbClr val="334155"/>
                </a:solidFill>
                <a:latin typeface="Segoe UI"/>
              </a:rPr>
              <a:t>Verifiable cryptographic chain of custody for court.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310128"/>
            <a:ext cx="58521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97480" y="3383280"/>
            <a:ext cx="1463040" cy="219456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HACKATHON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657600"/>
            <a:ext cx="5669280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⏱ 24-HOUR HACKATHON MILESTONE ROADMAP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00–04 (Setup): </a:t>
            </a:r>
            <a:r>
              <a:rPr sz="1150">
                <a:solidFill>
                  <a:srgbClr val="334155"/>
                </a:solidFill>
                <a:latin typeface="Segoe UI"/>
              </a:rPr>
              <a:t>FastAPI ingestion, OpenCV frames, model weights.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04–10 (Forensics): </a:t>
            </a:r>
            <a:r>
              <a:rPr sz="1150">
                <a:solidFill>
                  <a:srgbClr val="334155"/>
                </a:solidFill>
                <a:latin typeface="Segoe UI"/>
              </a:rPr>
              <a:t>EfficientNet artifacts, WavLM biometrics, heatmaps.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10–16 (Spread Graph): </a:t>
            </a:r>
            <a:r>
              <a:rPr sz="1150">
                <a:solidFill>
                  <a:srgbClr val="334155"/>
                </a:solidFill>
                <a:latin typeface="Segoe UI"/>
              </a:rPr>
              <a:t>pHash indexing, Milvus vector search, NetworkX DAG.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16–20 (UI &amp; Legal): </a:t>
            </a:r>
            <a:r>
              <a:rPr sz="1150">
                <a:solidFill>
                  <a:srgbClr val="334155"/>
                </a:solidFill>
                <a:latin typeface="Segoe UI"/>
              </a:rPr>
              <a:t>React dashboard, D3.js spread graph, DMCA notices.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EA580C"/>
                </a:solidFill>
                <a:latin typeface="Segoe UI"/>
              </a:rPr>
              <a:t>• Hours 20–24 (Benchmarking): </a:t>
            </a:r>
            <a:r>
              <a:rPr sz="1150">
                <a:solidFill>
                  <a:srgbClr val="334155"/>
                </a:solidFill>
                <a:latin typeface="Segoe UI"/>
              </a:rPr>
              <a:t>Attack simulation, latency tuning, final pitch demo.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310128"/>
            <a:ext cx="5010912" cy="2468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49056" y="3398520"/>
            <a:ext cx="128016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EXPANSION 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657600"/>
            <a:ext cx="4828032" cy="20574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C2410C"/>
                </a:solidFill>
                <a:latin typeface="Segoe UI"/>
              </a:defRPr>
            </a:pPr>
            <a:r>
              <a:t>🚀 FUTURE SCOPE &amp; SCALABILITY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Social Extension: </a:t>
            </a:r>
            <a:r>
              <a:rPr sz="1150">
                <a:solidFill>
                  <a:srgbClr val="334155"/>
                </a:solidFill>
                <a:latin typeface="Segoe UI"/>
              </a:rPr>
              <a:t>Real-time deepfake warning badge overlay on video feeds.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Decentralized Provenance: </a:t>
            </a:r>
            <a:r>
              <a:rPr sz="1150">
                <a:solidFill>
                  <a:srgbClr val="334155"/>
                </a:solidFill>
                <a:latin typeface="Segoe UI"/>
              </a:rPr>
              <a:t>C2PA blockchain ledger for immutable origin logs.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Moderation Webhooks: </a:t>
            </a:r>
            <a:r>
              <a:rPr sz="1150">
                <a:solidFill>
                  <a:srgbClr val="334155"/>
                </a:solidFill>
                <a:latin typeface="Segoe UI"/>
              </a:rPr>
              <a:t>Direct push connectors to YouTube, X, and TikTok APIs.</a:t>
            </a:r>
          </a:p>
          <a:p>
            <a:pPr>
              <a:spcBef>
                <a:spcPts val="15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Live Stream Forensics: </a:t>
            </a:r>
            <a:r>
              <a:rPr sz="1150">
                <a:solidFill>
                  <a:srgbClr val="334155"/>
                </a:solidFill>
                <a:latin typeface="Segoe UI"/>
              </a:rPr>
              <a:t>Sub-second audio-visual inspection for live broadcast feeds.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47472"/>
            <a:ext cx="10515600" cy="731520"/>
          </a:xfrm>
          <a:prstGeom prst="rect">
            <a:avLst/>
          </a:prstGeom>
          <a:noFill/>
        </p:spPr>
        <p:txBody>
          <a:bodyPr wrap="square" lIns="0" tIns="0" rIns="73152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100"/>
              </a:spcBef>
            </a:pPr>
            <a:r>
              <a:rPr sz="1350" b="1">
                <a:solidFill>
                  <a:srgbClr val="EA580C"/>
                </a:solidFill>
                <a:latin typeface="Segoe UI"/>
              </a:rPr>
              <a:t>Protecting Truth, Identity, and Trust in the Age of Generative AI.  </a:t>
            </a:r>
            <a:r>
              <a:rPr sz="1250" i="1">
                <a:solidFill>
                  <a:srgbClr val="64748B"/>
                </a:solidFill>
                <a:latin typeface="Segoe UI"/>
              </a:rPr>
              <a:t>"Shifting the balance of power from deepfake creators back to victims."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4709160" cy="2788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354580" y="1243584"/>
            <a:ext cx="118872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CORE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4526280" cy="2331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400" b="1">
                <a:solidFill>
                  <a:srgbClr val="C2410C"/>
                </a:solidFill>
                <a:latin typeface="Segoe UI"/>
              </a:defRPr>
            </a:pPr>
            <a:r>
              <a:t>💡 KEY TAKEAWAYS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Proactive Defense: </a:t>
            </a:r>
            <a:r>
              <a:rPr sz="1150">
                <a:solidFill>
                  <a:srgbClr val="334155"/>
                </a:solidFill>
                <a:latin typeface="Segoe UI"/>
              </a:rPr>
              <a:t>DeepGuard transforms deepfake response from helpless manual reporting into automated viral containment.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Multi-Modal Truth: </a:t>
            </a:r>
            <a:r>
              <a:rPr sz="1150">
                <a:solidFill>
                  <a:srgbClr val="334155"/>
                </a:solidFill>
                <a:latin typeface="Segoe UI"/>
              </a:rPr>
              <a:t>Fuses visual artifacts, audio biometrics, and perceptual hashing to resist evasion transforms.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Cross-Platform Mapping: </a:t>
            </a:r>
            <a:r>
              <a:rPr sz="1150">
                <a:solidFill>
                  <a:srgbClr val="334155"/>
                </a:solidFill>
                <a:latin typeface="Segoe UI"/>
              </a:rPr>
              <a:t>Traces patient-zero source and every derivative mirror across networks on a directed DAG.</a:t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0F172A"/>
                </a:solidFill>
                <a:latin typeface="Segoe UI"/>
              </a:rPr>
              <a:t>• Victim Empowerment: </a:t>
            </a:r>
            <a:r>
              <a:rPr sz="1150">
                <a:solidFill>
                  <a:srgbClr val="334155"/>
                </a:solidFill>
                <a:latin typeface="Segoe UI"/>
              </a:rPr>
              <a:t>Equips non-technical users with court-ready C2PA evidence and 1-click legal DMCA filing.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0680" y="1143000"/>
            <a:ext cx="6153912" cy="2788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realistic_c2pa_provena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1170432"/>
            <a:ext cx="6099048" cy="273405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16" name="Rounded Rectangle 15"/>
          <p:cNvSpPr/>
          <p:nvPr/>
        </p:nvSpPr>
        <p:spPr>
          <a:xfrm>
            <a:off x="594360" y="4023360"/>
            <a:ext cx="11000232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DD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46304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9144" rIns="36576" bIns="9144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ACADEMIC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17352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📚 VERIFIABLE REFERENCES &amp; SCIENTIFIC BENCHMARKS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1. FaceForensics++ (ICCV): </a:t>
            </a:r>
            <a:r>
              <a:rPr sz="1050">
                <a:solidFill>
                  <a:srgbClr val="334155"/>
                </a:solidFill>
                <a:latin typeface="Segoe UI"/>
              </a:rPr>
              <a:t>Learning to Detect Manipulated Facial Images across Deepfake Methods. [arXiv:1901.08971]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2. Meta AI / Kaggle DFDC: </a:t>
            </a:r>
            <a:r>
              <a:rPr sz="1050">
                <a:solidFill>
                  <a:srgbClr val="334155"/>
                </a:solidFill>
                <a:latin typeface="Segoe UI"/>
              </a:rPr>
              <a:t>The DeepFake Detection Challenge Dataset and Benchmark Findings. [arXiv:2006.07397]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3. C2PA Standard: </a:t>
            </a:r>
            <a:r>
              <a:rPr sz="1050">
                <a:solidFill>
                  <a:srgbClr val="334155"/>
                </a:solidFill>
                <a:latin typeface="Segoe UI"/>
              </a:rPr>
              <a:t>Coalition for Content Provenance and Authenticity Technical Specification (c2pa.org).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645152"/>
            <a:ext cx="5303520" cy="10972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050" b="1">
                <a:solidFill>
                  <a:srgbClr val="0F172A"/>
                </a:solidFill>
                <a:latin typeface="Segoe UI"/>
              </a:rPr>
              <a:t>• 4. Sumsub Fraud Report: </a:t>
            </a:r>
            <a:r>
              <a:rPr sz="1050">
                <a:solidFill>
                  <a:srgbClr val="334155"/>
                </a:solidFill>
                <a:latin typeface="Segoe UI"/>
              </a:rPr>
              <a:t>550%+ Surge in GenAI Deepfakes across Social and Identity Platforms (2024).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5. IEEE TIFS: </a:t>
            </a:r>
            <a:r>
              <a:rPr sz="1050">
                <a:solidFill>
                  <a:srgbClr val="334155"/>
                </a:solidFill>
                <a:latin typeface="Segoe UI"/>
              </a:rPr>
              <a:t>Perceptual Hashing &amp; Robust Media Fingerprinting under Non-Linear Compression.</a:t>
            </a:r>
          </a:p>
          <a:p>
            <a:pPr>
              <a:spcBef>
                <a:spcPts val="200"/>
              </a:spcBef>
            </a:pPr>
            <a:r>
              <a:rPr sz="1050" b="1">
                <a:solidFill>
                  <a:srgbClr val="0F172A"/>
                </a:solidFill>
                <a:latin typeface="Segoe UI"/>
              </a:rPr>
              <a:t>• 6. Legal Compliance: </a:t>
            </a:r>
            <a:r>
              <a:rPr sz="1050">
                <a:solidFill>
                  <a:srgbClr val="334155"/>
                </a:solidFill>
                <a:latin typeface="Segoe UI"/>
              </a:rPr>
              <a:t>US Digital Millennium Copyright Act (17 U.S.C. § 512) &amp; EU AI Act Annex IV.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1584</Words>
  <Application>Microsoft Office PowerPoint</Application>
  <PresentationFormat>Widescreen</PresentationFormat>
  <Paragraphs>152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Yashwanth K R</cp:lastModifiedBy>
  <cp:revision>9</cp:revision>
  <dcterms:created xsi:type="dcterms:W3CDTF">2026-10-16T15:16:25Z</dcterms:created>
  <dcterms:modified xsi:type="dcterms:W3CDTF">2026-10-25T04:53:07Z</dcterms:modified>
</cp:coreProperties>
</file>