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5EB"/>
    <a:srgbClr val="F9F6EC"/>
    <a:srgbClr val="FB4102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9CC0C-BE61-D512-9D7B-95D0E0282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EBFA59-3EE9-8C52-94DC-A842163D7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763F3-344A-0E24-406C-CF5B4FB38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2EAF9-B79B-D292-F21D-33EC031B3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E600B-F956-E5B1-55A1-DDB0BB899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669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D851-6B6C-727A-B0B0-C9A8A5E48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2D22E-92C4-4B4C-C9E1-38281FE32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4E275-39ED-242C-2D6B-19D3ADC39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AF2FA-985B-703F-7328-2EA9DB76C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C5501-AB1E-91AF-C109-3A3E2AE90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649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0A493-4DBA-B618-7D23-B3AD277E1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7D4B9-CE74-A94A-B1B5-5FC71327D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09427-1CD5-6F66-09C6-CE448B5B2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13C95-5EC6-25A3-2CAA-7C2D047A2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F6148-A77B-212B-636B-8D42386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20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9C87D-7F19-266A-B5A7-3D10F4F15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E28D1-DDC5-1BE3-3E7C-5E0C84A82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2C9DD-18D3-3B01-E1CA-B2387A131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A06A5-8350-2568-5F99-C3600E8E1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7F1A5-24BC-F037-0190-A304A376C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14BE4-5F2E-49B1-4036-F87277F1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906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49BC9-8470-0060-871B-DF8FC53C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58D18-600A-FA14-80A3-1F422D7C7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248EB4-5509-19C7-C9AB-E33DBA7C9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46ACFB-4B32-B675-7AE5-9EE246FB14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304494-094C-9FA8-11AB-439B1CEC10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971569-8540-DBCF-0068-63B89A2E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B20FAE-5E73-DBB6-4363-6D8540897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BF7BEC-2A23-5A0A-33E7-BD727888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703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83235-5F3B-9B0D-A174-97C86E59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DD2B7A-CEAA-8230-24DE-5FD177D74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8924F-3B2F-0F55-6592-ED382FBB0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ACAC3-6587-7956-7478-532804265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644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2CB7A7-ED02-9C1B-A549-4CE81CC74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BCB080-669E-3494-348F-5CB58CB37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9E9DE-696B-5284-4446-EDE9CF47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52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913AA-4EA8-C60B-DC94-D69A7B6A6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8DA3D-984F-FFC3-49D8-4C1BCDA6A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B8C6B-91CE-EE5E-4AB0-6AF57750C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BD0F3-B90D-AA7F-B9F9-3DC3B414B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2E106-FAE1-ECFD-CC6C-65CF3F890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CEEDF-F6FB-D11B-7B33-02AC035C0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491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1016F-2BF5-DA16-4AF0-B8FCC9900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920636-FBDC-42A0-A6AC-81DBB6B14D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EF501-C2C7-435B-96F0-D6ACCF428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C7A9C-837C-0866-7E2E-3C962B2C4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051CB-D17E-6EDD-5997-1BC722277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2C902-ECFE-18F5-49EB-A35D08EC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641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9A2BD-DFBE-8614-976C-C42CA4A2E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521C08-49BF-4FCA-B7EF-4DE2595BE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0D10-4D58-E5EE-5986-6CC678EEB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B91DB-6489-41F7-78EE-3468EDC51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8437E-6A68-9665-6244-70798F28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90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E9FCF1-65DD-2E56-758F-0A6468B86D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614A1B-E392-11B4-B3A9-05982F7F4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7CA87-EEB6-F931-3A1B-2C76E800D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C981E-67FA-CD3D-C0C1-F46D1670D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37607-4220-CE21-F234-9C293D4D8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9987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CA0E5-D3FA-53DC-B511-C05078F57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A0E66-1A23-0DEC-1F8A-59ABAF7F0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95B68-943E-23C1-8CEE-D94185BB5C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F40F7-5EA2-EB77-638C-58027E49F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BEA62-F34F-CEBB-D998-29B117BFC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799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853429-2C99-863B-93A3-2440EA86E8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70" r="16096" b="23208"/>
          <a:stretch/>
        </p:blipFill>
        <p:spPr>
          <a:xfrm>
            <a:off x="0" y="0"/>
            <a:ext cx="12273280" cy="69265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B81835-7478-270A-B235-98A957776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63" y="0"/>
            <a:ext cx="2946595" cy="103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E427A3-A526-EA87-1871-BE39C5C89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393" y="116692"/>
            <a:ext cx="2262123" cy="7570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30CCD7E-C9A4-4D5D-86B6-DC017AD9A7C3}"/>
              </a:ext>
            </a:extLst>
          </p:cNvPr>
          <p:cNvSpPr txBox="1"/>
          <p:nvPr/>
        </p:nvSpPr>
        <p:spPr>
          <a:xfrm>
            <a:off x="914400" y="2331720"/>
            <a:ext cx="10360152" cy="164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350" b="1">
                <a:solidFill>
                  <a:srgbClr val="EA580C"/>
                </a:solidFill>
                <a:latin typeface="Segoe UI"/>
              </a:defRPr>
            </a:pPr>
            <a:r>
              <a:t>THEME 05: EDGE INTELLIGENCE &amp; OFFLINE-FIRST AI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300"/>
              </a:spcBef>
              <a:defRPr sz="4000" b="1">
                <a:solidFill>
                  <a:srgbClr val="0F172A"/>
                </a:solidFill>
                <a:latin typeface="Segoe UI"/>
              </a:defRPr>
            </a:pPr>
            <a:r>
              <a:t>VOICEKIRANA</a:t>
            </a:r>
          </a:p>
          <a:p>
            <a:pPr algn="ctr">
              <a:spcBef>
                <a:spcPts val="200"/>
              </a:spcBef>
              <a:defRPr sz="1700" b="1">
                <a:solidFill>
                  <a:srgbClr val="0284C7"/>
                </a:solidFill>
                <a:latin typeface="Segoe UI"/>
              </a:defRPr>
            </a:pPr>
            <a:r>
              <a:t>Offline Voice-Based Stock, Credit Ledger &amp; Instant Bill Generator</a:t>
            </a:r>
          </a:p>
          <a:p>
            <a:pPr algn="ctr">
              <a:spcBef>
                <a:spcPts val="200"/>
              </a:spcBef>
              <a:defRPr sz="1300" i="1">
                <a:solidFill>
                  <a:srgbClr val="64748B"/>
                </a:solidFill>
                <a:latin typeface="Segoe UI"/>
              </a:defRPr>
            </a:pPr>
            <a:r>
              <a:t>"Speak vernacular entries. Generate instant bills, track udhaar, and prevent stockouts — 100% offline."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EF6C0F-365A-F329-3EF0-2F7D3CC66FC6}"/>
              </a:ext>
            </a:extLst>
          </p:cNvPr>
          <p:cNvSpPr txBox="1"/>
          <p:nvPr/>
        </p:nvSpPr>
        <p:spPr>
          <a:xfrm>
            <a:off x="1371600" y="4160520"/>
            <a:ext cx="4389120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300" b="1">
                <a:solidFill>
                  <a:srgbClr val="EA580C"/>
                </a:solidFill>
                <a:latin typeface="Segoe UI"/>
              </a:defRPr>
            </a:pPr>
            <a:r>
              <a:t>TEAM DETAILS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defRPr sz="1700" b="1">
                <a:solidFill>
                  <a:srgbClr val="0F172A"/>
                </a:solidFill>
                <a:latin typeface="Segoe UI"/>
              </a:defRPr>
            </a:pPr>
            <a:r>
              <a:t>Team Name: AI Avengers</a:t>
            </a:r>
          </a:p>
          <a:p>
            <a:pPr>
              <a:spcBef>
                <a:spcPts val="2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Track: THEME 05: EDGE INTELLIGENCE &amp; OFFLINE-FIRST AI</a:t>
            </a:r>
          </a:p>
          <a:p>
            <a:pPr>
              <a:spcBef>
                <a:spcPts val="200"/>
              </a:spcBef>
              <a:defRPr sz="1200" i="1">
                <a:solidFill>
                  <a:srgbClr val="64748B"/>
                </a:solidFill>
                <a:latin typeface="Segoe UI"/>
              </a:defRPr>
            </a:pPr>
            <a:r>
              <a:t>Don Bosco Institute of Technology (DBIT)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BE2F43-5C49-991E-F1B0-2C69CD8D894A}"/>
              </a:ext>
            </a:extLst>
          </p:cNvPr>
          <p:cNvSpPr txBox="1"/>
          <p:nvPr/>
        </p:nvSpPr>
        <p:spPr>
          <a:xfrm>
            <a:off x="6400800" y="4160520"/>
            <a:ext cx="4572000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300" b="1">
                <a:solidFill>
                  <a:srgbClr val="EA580C"/>
                </a:solidFill>
                <a:latin typeface="Segoe UI"/>
              </a:defRPr>
            </a:pPr>
            <a:r>
              <a:t>TEAM MEMBERS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0F172A"/>
                </a:solidFill>
                <a:latin typeface="Segoe UI"/>
              </a:rPr>
              <a:t>•  Raj Aanada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0F172A"/>
                </a:solidFill>
                <a:latin typeface="Segoe UI"/>
              </a:rPr>
              <a:t>•  Yashma C P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0F172A"/>
                </a:solidFill>
                <a:latin typeface="Segoe UI"/>
              </a:rPr>
              <a:t>•  Likith M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0F172A"/>
                </a:solidFill>
                <a:latin typeface="Segoe UI"/>
              </a:rPr>
              <a:t>•  Yashwanth K 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3109518-8B78-DF36-D749-48EDE87089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77237"/>
            <a:ext cx="6096001" cy="211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29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0D371E4-788F-AE25-55F2-F8C84245D0A5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2/7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785D40A-ABCD-6EA1-BF61-D6FD90780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A06408-5286-A806-B200-9C4DF74BAB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rIns="73152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Problem Statement &amp; Its Relevance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The Small Merchant Digital Divide &amp; Manual Ledger Chaos.  </a:t>
            </a:r>
            <a:r>
              <a:rPr sz="1250" i="1">
                <a:solidFill>
                  <a:srgbClr val="64748B"/>
                </a:solidFill>
                <a:latin typeface="Segoe UI"/>
              </a:rPr>
              <a:t>Kirana owners lose hours and ₹1,25,000+ monthly due to manual paper bookkeeping during busy counter rushes.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1143000"/>
            <a:ext cx="33375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1234440"/>
            <a:ext cx="1234440" cy="21945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COUNTER FRICTION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508760"/>
            <a:ext cx="315468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50" b="1">
                <a:solidFill>
                  <a:srgbClr val="DC2626"/>
                </a:solidFill>
                <a:latin typeface="Segoe UI"/>
              </a:defRPr>
            </a:pPr>
            <a:r>
              <a:t>THE PAPER BAHI-KHATA TRAP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Typing is Too Slow: </a:t>
            </a:r>
            <a:r>
              <a:rPr sz="1100">
                <a:solidFill>
                  <a:srgbClr val="334155"/>
                </a:solidFill>
                <a:latin typeface="Segoe UI"/>
              </a:rPr>
              <a:t>During peak evening rush, typing on mobile apps or desktop POS keyboards causes long customer lines.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Forgotten Credit (Udhaar): </a:t>
            </a:r>
            <a:r>
              <a:rPr sz="1100">
                <a:solidFill>
                  <a:srgbClr val="334155"/>
                </a:solidFill>
                <a:latin typeface="Segoe UI"/>
              </a:rPr>
              <a:t>Writing credit entries on loose paper slips leads to forgotten balances and disputes.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Zero Inventory Visibility: </a:t>
            </a:r>
            <a:r>
              <a:rPr sz="1100">
                <a:solidFill>
                  <a:srgbClr val="334155"/>
                </a:solidFill>
                <a:latin typeface="Segoe UI"/>
              </a:rPr>
              <a:t>Shopkeepers run out of staples (sugar, oil, atta) mid-day without warning.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520440"/>
            <a:ext cx="33375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3611880"/>
            <a:ext cx="1280160" cy="219456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ECONOMIC LOSS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886200"/>
            <a:ext cx="315468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50" b="1">
                <a:solidFill>
                  <a:srgbClr val="C2410C"/>
                </a:solidFill>
                <a:latin typeface="Segoe UI"/>
              </a:defRPr>
            </a:pPr>
            <a:r>
              <a:t>WHY DOES IT MATTER?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₹1,25,000 Monthly Loss: </a:t>
            </a:r>
            <a:r>
              <a:rPr sz="1100">
                <a:solidFill>
                  <a:srgbClr val="334155"/>
                </a:solidFill>
                <a:latin typeface="Segoe UI"/>
              </a:rPr>
              <a:t>Average unrecovered credit and unbilled items per small rural/urban grocery store.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Spotty Connectivity: </a:t>
            </a:r>
            <a:r>
              <a:rPr sz="1100">
                <a:solidFill>
                  <a:srgbClr val="334155"/>
                </a:solidFill>
                <a:latin typeface="Segoe UI"/>
              </a:rPr>
              <a:t>Tier-2/3 towns and basement stores suffer frequent cellular drops; cloud apps freeze.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Language Exclusion: </a:t>
            </a:r>
            <a:r>
              <a:rPr sz="1100">
                <a:solidFill>
                  <a:srgbClr val="334155"/>
                </a:solidFill>
                <a:latin typeface="Segoe UI"/>
              </a:rPr>
              <a:t>Over 80% of merchants cannot navigate complex English POS interfaces.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1143000"/>
            <a:ext cx="4069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06240" y="1234440"/>
            <a:ext cx="1234440" cy="21945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CURRENT GAPS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1508760"/>
            <a:ext cx="388620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50" b="1">
                <a:solidFill>
                  <a:srgbClr val="0284C7"/>
                </a:solidFill>
                <a:latin typeface="Segoe UI"/>
              </a:defRPr>
            </a:pPr>
            <a:r>
              <a:t>WHY EXISTING TOOLS FAIL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Cloud Apps Crash Offline: </a:t>
            </a:r>
            <a:r>
              <a:rPr sz="1100">
                <a:solidFill>
                  <a:srgbClr val="334155"/>
                </a:solidFill>
                <a:latin typeface="Segoe UI"/>
              </a:rPr>
              <a:t>Khatabook &amp; Vyapar freeze completely when internet connectivity drops.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Desktop POS is Prohibitive: </a:t>
            </a:r>
            <a:r>
              <a:rPr sz="1100">
                <a:solidFill>
                  <a:srgbClr val="334155"/>
                </a:solidFill>
                <a:latin typeface="Segoe UI"/>
              </a:rPr>
              <a:t>Hardware costs ₹15,000+ with steep learning curves for semi-literate clerks.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No Instant Bill Generation: </a:t>
            </a:r>
            <a:r>
              <a:rPr sz="1100">
                <a:solidFill>
                  <a:srgbClr val="334155"/>
                </a:solidFill>
                <a:latin typeface="Segoe UI"/>
              </a:rPr>
              <a:t>Voice apps only record memos; they cannot compute taxes or print thermal receipts.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69080" y="3520440"/>
            <a:ext cx="4069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06240" y="3611880"/>
            <a:ext cx="1234440" cy="219456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EMPIRICAL 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3886200"/>
            <a:ext cx="388620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50" b="1">
                <a:solidFill>
                  <a:srgbClr val="16A34A"/>
                </a:solidFill>
                <a:latin typeface="Segoe UI"/>
              </a:defRPr>
            </a:pPr>
            <a:r>
              <a:t>GROUND REALITY IN NUMBERS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13+ Million Kiranas in India: </a:t>
            </a:r>
            <a:r>
              <a:rPr sz="1100">
                <a:solidFill>
                  <a:srgbClr val="334155"/>
                </a:solidFill>
                <a:latin typeface="Segoe UI"/>
              </a:rPr>
              <a:t>Drive 88% of FMCG retail sales across India, yet 92% operate on manual paper notebooks.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2.5 Hours Daily Lost: </a:t>
            </a:r>
            <a:r>
              <a:rPr sz="1100">
                <a:solidFill>
                  <a:srgbClr val="334155"/>
                </a:solidFill>
                <a:latin typeface="Segoe UI"/>
              </a:rPr>
              <a:t>Spent matching customer ledgers and stock counts after shop closure every single night.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14% Stockouts on Staples: </a:t>
            </a:r>
            <a:r>
              <a:rPr sz="1100">
                <a:solidFill>
                  <a:srgbClr val="334155"/>
                </a:solidFill>
                <a:latin typeface="Segoe UI"/>
              </a:rPr>
              <a:t>Loss of high-margin walk-in sales when milk, oil, and flour unexpectedly run dry.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1143000"/>
            <a:ext cx="331927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1234440"/>
            <a:ext cx="3136392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200" b="1">
                <a:solidFill>
                  <a:srgbClr val="DC2626"/>
                </a:solidFill>
                <a:latin typeface="Segoe UI"/>
              </a:defRPr>
            </a:pPr>
            <a:r>
              <a:t>13M+</a:t>
            </a:r>
          </a:p>
          <a:p>
            <a:pPr>
              <a:spcBef>
                <a:spcPts val="1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Kirana Stores in India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88% of FMCG retail runs on offline paper ledgers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2743200"/>
            <a:ext cx="331927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2834640"/>
            <a:ext cx="3136392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200" b="1">
                <a:solidFill>
                  <a:srgbClr val="EA580C"/>
                </a:solidFill>
                <a:latin typeface="Segoe UI"/>
              </a:defRPr>
            </a:pPr>
            <a:r>
              <a:t>₹1.25L</a:t>
            </a:r>
          </a:p>
          <a:p>
            <a:pPr>
              <a:spcBef>
                <a:spcPts val="1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Monthly Credit at Risk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Unreconciled udhaar lost per store annually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75320" y="4343400"/>
            <a:ext cx="331927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4434840"/>
            <a:ext cx="3136392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200" b="1">
                <a:solidFill>
                  <a:srgbClr val="0284C7"/>
                </a:solidFill>
                <a:latin typeface="Segoe UI"/>
              </a:defRPr>
            </a:pPr>
            <a:r>
              <a:t>2.5 Hrs</a:t>
            </a:r>
          </a:p>
          <a:p>
            <a:pPr>
              <a:spcBef>
                <a:spcPts val="1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Daily Bookkeeping Saved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Time reclaimed by hands-free voice billing</a:t>
            </a:r>
          </a:p>
        </p:txBody>
      </p:sp>
    </p:spTree>
    <p:extLst>
      <p:ext uri="{BB962C8B-B14F-4D97-AF65-F5344CB8AC3E}">
        <p14:creationId xmlns:p14="http://schemas.microsoft.com/office/powerpoint/2010/main" val="3813759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F4AFF3A-2B62-5009-AFA7-F5DB6526AAB7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3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144BEE-B900-92C2-AC75-3EF80CC66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54BB20-3A67-09ED-A11D-79CD9826E7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rIns="73152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Proposed Solution &amp; Core Innovation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Voice-to-Ledger-to-Bill: 100% Offline Edge Retail Operating System.  </a:t>
            </a:r>
            <a:r>
              <a:rPr sz="1250" i="1">
                <a:solidFill>
                  <a:srgbClr val="64748B"/>
                </a:solidFill>
                <a:latin typeface="Segoe UI"/>
              </a:rPr>
              <a:t>Speak naturally in vernacular dialect; VoiceKirana generates instant bills, updates udhaar, and alerts low stock.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143000"/>
            <a:ext cx="254203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234440"/>
            <a:ext cx="1554480" cy="20116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VERNACULAR SPEECH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463040"/>
            <a:ext cx="2267712" cy="1508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Offline Edge Speech-to-Text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Understands regional dialects (Hindi, Kannada, Hinglish) using quantized Vosk ASR running 100% locally with zero cloud latency.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1143000"/>
            <a:ext cx="254203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83280" y="1234440"/>
            <a:ext cx="1554480" cy="201168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SLOT-FILLING BILL GENERATOR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463040"/>
            <a:ext cx="2267712" cy="1508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Instant Itemized Thermal Receipt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Parses "2 kg sugar Ramesh udhaar" into structured items, computes total with tax, prints thermal bill, and shows customer UPI QR.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127247"/>
            <a:ext cx="254203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3218687"/>
            <a:ext cx="1554480" cy="20116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DOUBLE-ENTRY CREDIT KHATA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447287"/>
            <a:ext cx="2267712" cy="1508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Zero-Dispute Customer Ledger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Maintains ACID-compliant SQLite credit balances per customer with instant SMS/WhatsApp summary sync when connectivity restores.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3127247"/>
            <a:ext cx="254203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83280" y="3218687"/>
            <a:ext cx="1554480" cy="20116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PREDICTIVE STOCK SENTINEL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447287"/>
            <a:ext cx="2267712" cy="1508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End-of-Day Low Stock Alerts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Automatically decrements inventory with every voice entry; generates wholesale reorder shopping lists before shelves empty.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1143000"/>
            <a:ext cx="5650992" cy="3886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voicekirana_dashboar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1170432"/>
            <a:ext cx="5596128" cy="383133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594360" y="5166360"/>
            <a:ext cx="35661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12080"/>
            <a:ext cx="33832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16A34A"/>
                </a:solidFill>
                <a:latin typeface="Segoe UI"/>
              </a:defRPr>
            </a:pPr>
            <a:r>
              <a:t>&lt; 300ms SPEECH RECOGNITION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Sub-second quantized on-device inference with zero cellular or Wi-Fi reliance.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06824" y="5166360"/>
            <a:ext cx="35661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98264" y="5212080"/>
            <a:ext cx="33832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C2410C"/>
                </a:solidFill>
                <a:latin typeface="Segoe UI"/>
              </a:defRPr>
            </a:pPr>
            <a:r>
              <a:t>INSTANT THERMAL &amp; UPI RECEIPT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Direct Bluetooth thermal printer output + QR code for customer UPI payment.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19288" y="5166360"/>
            <a:ext cx="35661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0728" y="5212080"/>
            <a:ext cx="33832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100% PRIVATE LOCAL STORAGE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Merchant financial data and customer phone numbers never leave the device.</a:t>
            </a:r>
          </a:p>
        </p:txBody>
      </p:sp>
    </p:spTree>
    <p:extLst>
      <p:ext uri="{BB962C8B-B14F-4D97-AF65-F5344CB8AC3E}">
        <p14:creationId xmlns:p14="http://schemas.microsoft.com/office/powerpoint/2010/main" val="4134097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3682782-3FA5-0419-F223-8927F3C57C9F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4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D14755-D70D-2DF8-794D-61FDEBA1FA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A15BF0-813C-12C8-41EF-316E8885BD7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rIns="73152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Existing Solutions &amp; Differentiation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Why Paper Khatas and Desktop POS Systems Fail in Kirana Stores.  </a:t>
            </a:r>
            <a:r>
              <a:rPr sz="1250" i="1">
                <a:solidFill>
                  <a:srgbClr val="64748B"/>
                </a:solidFill>
                <a:latin typeface="Segoe UI"/>
              </a:rPr>
              <a:t>Comparing VoiceKirana against traditional paper records and heavy cloud billing software.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143000"/>
            <a:ext cx="470916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1234440"/>
            <a:ext cx="1508760" cy="21945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TRADITIONAL BOTTLENECK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508760"/>
            <a:ext cx="45262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Segoe UI"/>
              </a:defRPr>
            </a:pPr>
            <a:r>
              <a:t>LEGACY SOLUTIONS &amp; DAILY FAILURES</a:t>
            </a:r>
          </a:p>
        </p:txBody>
      </p:sp>
      <p:pic>
        <p:nvPicPr>
          <p:cNvPr id="17" name="Picture 16" descr="voicekirana_comparis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74519"/>
            <a:ext cx="4434840" cy="2468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" y="4434840"/>
            <a:ext cx="4434840" cy="1325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Paper Bahi-Khata: Manual writing causes counter delays, damaged pages, and lost debts.</a:t>
            </a:r>
          </a:p>
          <a:p>
            <a:pPr>
              <a:spcBef>
                <a:spcPts val="200"/>
              </a:spcBef>
              <a:defRPr sz="1050" b="1">
                <a:solidFill>
                  <a:srgbClr val="334155"/>
                </a:solidFill>
                <a:latin typeface="Segoe UI"/>
              </a:defRPr>
            </a:pPr>
            <a:r>
              <a:t>• Khatabook / Vyapar: Cloud-dependent; typing required; unusable when internet drops.</a:t>
            </a:r>
          </a:p>
          <a:p>
            <a:pPr>
              <a:spcBef>
                <a:spcPts val="200"/>
              </a:spcBef>
              <a:defRPr sz="1050" b="1">
                <a:solidFill>
                  <a:srgbClr val="DC2626"/>
                </a:solidFill>
                <a:latin typeface="Segoe UI"/>
              </a:defRPr>
            </a:pPr>
            <a:r>
              <a:t>• Desktop POS: Expensive (₹15,000+), bulky hardware, complex English navigation.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32120" y="1143000"/>
            <a:ext cx="6062472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0" y="1234440"/>
            <a:ext cx="1508760" cy="219456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FEATURE 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1508760"/>
            <a:ext cx="587959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16A34A"/>
                </a:solidFill>
                <a:latin typeface="Segoe UI"/>
              </a:defRPr>
            </a:pPr>
            <a:r>
              <a:t>BENCHMARK: VOICEKIRANA VS ALTERNATIVES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623560" y="1874519"/>
          <a:ext cx="587959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005840"/>
                <a:gridCol w="1005840"/>
                <a:gridCol w="1005840"/>
                <a:gridCol w="1170432"/>
              </a:tblGrid>
              <a:tr h="4876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Capabilities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Paper Khata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Khatabook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Desktop POS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VoiceKirana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Hands-Free Vernacular 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Typing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English Keys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Sub-300ms Audio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100% Offline Functionality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Offline Paper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Fails Offline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Partial Offline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Pure Edge SQLite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Instant Bill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Manual 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Bulky Hardware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1-Sec Voice Bill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Credit (Udhaar) Khata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Error-Prone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Manual Type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Clunky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Voice-Linked Khata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End-of-Day Low-Stock 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Manual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Auto-Reorder List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623560" y="4892040"/>
            <a:ext cx="5879592" cy="8686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CORE ARCHITECTURAL ADVANTAGE</a:t>
            </a:r>
          </a:p>
          <a:p>
            <a:pPr>
              <a:spcBef>
                <a:spcPts val="100"/>
              </a:spcBef>
            </a:pPr>
            <a:r>
              <a:rPr b="1">
                <a:solidFill>
                  <a:srgbClr val="16A34A"/>
                </a:solidFill>
              </a:rPr>
              <a:t>• Zero Training Curve: </a:t>
            </a:r>
            <a:r>
              <a:rPr>
                <a:solidFill>
                  <a:srgbClr val="334155"/>
                </a:solidFill>
              </a:rPr>
              <a:t>Merchants speak the exact same colloquial words they say to customers.</a:t>
            </a:r>
          </a:p>
          <a:p>
            <a:pPr>
              <a:spcBef>
                <a:spcPts val="100"/>
              </a:spcBef>
            </a:pPr>
            <a:r>
              <a:rPr b="1">
                <a:solidFill>
                  <a:srgbClr val="0284C7"/>
                </a:solidFill>
              </a:rPr>
              <a:t>• Hardware Democratization: </a:t>
            </a:r>
            <a:r>
              <a:rPr>
                <a:solidFill>
                  <a:srgbClr val="334155"/>
                </a:solidFill>
              </a:rPr>
              <a:t>Runs on any existing ₹6,000 Android smartphone with zero cloud hosting charges.</a:t>
            </a:r>
          </a:p>
        </p:txBody>
      </p:sp>
    </p:spTree>
    <p:extLst>
      <p:ext uri="{BB962C8B-B14F-4D97-AF65-F5344CB8AC3E}">
        <p14:creationId xmlns:p14="http://schemas.microsoft.com/office/powerpoint/2010/main" val="3699086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D4C68F8-207D-56DE-939C-68C28613B3E3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5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576391-3192-3C0D-E19E-5B1E69569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A876C4-AFF8-8B42-BB2A-C0440FD2D7B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rIns="73152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Technical Architecture &amp; System Flow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5-Layer Disconnected Edge Architecture with Real-Time Audio Pipeline.  </a:t>
            </a:r>
            <a:r>
              <a:rPr sz="1250" i="1">
                <a:solidFill>
                  <a:srgbClr val="64748B"/>
                </a:solidFill>
                <a:latin typeface="Segoe UI"/>
              </a:rPr>
              <a:t>Ultra-compact offline inference stack: Audio Stream -&gt; Quantized Vosk ASR -&gt; Slot Filler -&gt; SQLite -&gt; ESC/POS.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143000"/>
            <a:ext cx="516636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voicekirana_architectu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1170432"/>
            <a:ext cx="5111496" cy="465429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943600" y="1143000"/>
            <a:ext cx="565099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0" y="1216152"/>
            <a:ext cx="1691640" cy="1828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LAYER 1: AUDIO INGESTION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380744"/>
            <a:ext cx="5468112" cy="603504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Local Microphone Stream &amp; Noise Filter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Pulls 16kHz mono PCM stream via PyAudio; applies spectral subtraction to eliminate grocery shop background chatter.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2093976"/>
            <a:ext cx="565099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35040" y="2167128"/>
            <a:ext cx="1691640" cy="18288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LAYER 2: QUANTIZED EDGE ASR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331720"/>
            <a:ext cx="5468112" cy="603504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Vosk / Kaldi Neural Acoustic Model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Runs 35MB 8-bit quantized acoustic model on edge CPU; outputs phoneme lattices and greedy-decoded text in &lt;300ms.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044952"/>
            <a:ext cx="565099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35040" y="3118104"/>
            <a:ext cx="1691640" cy="1828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LAYER 3: SLOT-FILLING NLP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282696"/>
            <a:ext cx="5468112" cy="603504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Deterministic Rule &amp; Entity Parser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Extracts Item Name, Quantity, Unit (kg/g/pkt), Price, and Customer Name via high-speed regex &amp; fuzzy catalog matching.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3995928"/>
            <a:ext cx="565099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35040" y="4069080"/>
            <a:ext cx="1691640" cy="1828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LAYER 4: ATOMIC LEDGER 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233672"/>
            <a:ext cx="5468112" cy="603504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Embedded SQLite ACID Database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Updates customer khata, decrements stock inventory, and logs transactions in WAL-mode SQLite database with zero cloud sync.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4946904"/>
            <a:ext cx="565099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35040" y="5020056"/>
            <a:ext cx="1691640" cy="18288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LAYER 5: THERMAL &amp; DISPLAY DISPATCH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5184648"/>
            <a:ext cx="5468112" cy="603504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ESC/POS &amp; UPI Payment Terminal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Generates binary ESC/POS print commands for Bluetooth thermal printers and renders dynamic UPI QR code on merchant screen.</a:t>
            </a:r>
          </a:p>
        </p:txBody>
      </p:sp>
    </p:spTree>
    <p:extLst>
      <p:ext uri="{BB962C8B-B14F-4D97-AF65-F5344CB8AC3E}">
        <p14:creationId xmlns:p14="http://schemas.microsoft.com/office/powerpoint/2010/main" val="651658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49AD378-AC17-38C2-5566-39D8D6ECA8A1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6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DC6F33-9ED0-770C-B837-461B3F045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D67373-12DD-F93F-3B42-B3E51D2BDF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rIns="73152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Feasibility, 24-Hour Roadmap &amp; Societal Impact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Achievable 24-Hour Hackathon Delivery, Live Demos &amp; Deep Bharat Reach.  </a:t>
            </a:r>
            <a:r>
              <a:rPr sz="1250" i="1">
                <a:solidFill>
                  <a:srgbClr val="64748B"/>
                </a:solidFill>
                <a:latin typeface="Segoe UI"/>
              </a:rPr>
              <a:t>Engineered specifically for live judging: speak vernacular items into mic and watch the thermal bill print instantly.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143000"/>
            <a:ext cx="3547872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234440"/>
            <a:ext cx="1280160" cy="20116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LIVE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463040"/>
            <a:ext cx="3364992" cy="1783080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250" b="1">
                <a:solidFill>
                  <a:srgbClr val="DC2626"/>
                </a:solidFill>
                <a:latin typeface="Segoe UI"/>
              </a:defRPr>
            </a:pPr>
            <a:r>
              <a:t>LIVE HACKATHON DEMO PLAN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Step 1 (Cash Sale): </a:t>
            </a:r>
            <a:r>
              <a:rPr sz="1000">
                <a:solidFill>
                  <a:srgbClr val="334155"/>
                </a:solidFill>
                <a:latin typeface="Segoe UI"/>
              </a:rPr>
              <a:t>Speak "2 kg atta, 1 litre mustard oil" -&gt; Watch instant bill appear in 1.2 seconds.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Step 2 (Credit Khata): </a:t>
            </a:r>
            <a:r>
              <a:rPr sz="1000">
                <a:solidFill>
                  <a:srgbClr val="334155"/>
                </a:solidFill>
                <a:latin typeface="Segoe UI"/>
              </a:rPr>
              <a:t>Speak "1 kg basmati rice Suresh udhaar" -&gt; Customer khata ledger debited automatically.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Step 3 (Low Stock): </a:t>
            </a:r>
            <a:r>
              <a:rPr sz="1000">
                <a:solidFill>
                  <a:srgbClr val="334155"/>
                </a:solidFill>
                <a:latin typeface="Segoe UI"/>
              </a:rPr>
              <a:t>Inventory falls below 5kg threshold -&gt; Instant amber low-stock alert triggers on screen.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Step 4 (Thermal Print): </a:t>
            </a:r>
            <a:r>
              <a:rPr sz="1000">
                <a:solidFill>
                  <a:srgbClr val="334155"/>
                </a:solidFill>
                <a:latin typeface="Segoe UI"/>
              </a:rPr>
              <a:t>One-click print dispatches itemized slip to simulated ESC/POS thermal printer.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1143000"/>
            <a:ext cx="3547872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62272" y="1234440"/>
            <a:ext cx="1371600" cy="20116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TARGET BENCHMARKS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1463040"/>
            <a:ext cx="3364992" cy="1783080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250" b="1">
                <a:solidFill>
                  <a:srgbClr val="C2410C"/>
                </a:solidFill>
                <a:latin typeface="Segoe UI"/>
              </a:defRPr>
            </a:pPr>
            <a:r>
              <a:t>EVALUATION TARGETS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• &lt; 300ms ASR Latency: </a:t>
            </a:r>
            <a:r>
              <a:rPr sz="1000">
                <a:solidFill>
                  <a:srgbClr val="334155"/>
                </a:solidFill>
                <a:latin typeface="Segoe UI"/>
              </a:rPr>
              <a:t>Sub-second speech-to-text response on local CPU hardware.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• &gt; 95% Entity Extraction: </a:t>
            </a:r>
            <a:r>
              <a:rPr sz="1000">
                <a:solidFill>
                  <a:srgbClr val="334155"/>
                </a:solidFill>
                <a:latin typeface="Segoe UI"/>
              </a:rPr>
              <a:t>Accurate extraction of quantity, product name, and price.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• 0 KB Cloud Dependence: </a:t>
            </a:r>
            <a:r>
              <a:rPr sz="1000">
                <a:solidFill>
                  <a:srgbClr val="334155"/>
                </a:solidFill>
                <a:latin typeface="Segoe UI"/>
              </a:rPr>
              <a:t>Complete standalone execution with Wi-Fi/cellular turned OFF.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• &lt; 35MB Model Footprint: </a:t>
            </a:r>
            <a:r>
              <a:rPr sz="1000">
                <a:solidFill>
                  <a:srgbClr val="334155"/>
                </a:solidFill>
                <a:latin typeface="Segoe UI"/>
              </a:rPr>
              <a:t>Ultra-lightweight quantized neural model runs on 1GB RAM.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1143000"/>
            <a:ext cx="3547872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93024" y="1234440"/>
            <a:ext cx="1280160" cy="20116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STAKEHOLDERS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7304" y="1463040"/>
            <a:ext cx="3364992" cy="1783080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250" b="1">
                <a:solidFill>
                  <a:srgbClr val="0284C7"/>
                </a:solidFill>
                <a:latin typeface="Segoe UI"/>
              </a:defRPr>
            </a:pPr>
            <a:r>
              <a:t>WHO BENEFITS?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Kirana &amp; Provision Stores: </a:t>
            </a:r>
            <a:r>
              <a:rPr sz="1000">
                <a:solidFill>
                  <a:srgbClr val="334155"/>
                </a:solidFill>
                <a:latin typeface="Segoe UI"/>
              </a:rPr>
              <a:t>Instant hands-free billing during peak morning and evening rush hours.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Vegetable &amp; Fruit Vendors: </a:t>
            </a:r>
            <a:r>
              <a:rPr sz="1000">
                <a:solidFill>
                  <a:srgbClr val="334155"/>
                </a:solidFill>
                <a:latin typeface="Segoe UI"/>
              </a:rPr>
              <a:t>Rapid itemized calculation without paper notes or mental arithmetic errors.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Rural Customers: </a:t>
            </a:r>
            <a:r>
              <a:rPr sz="1000">
                <a:solidFill>
                  <a:srgbClr val="334155"/>
                </a:solidFill>
                <a:latin typeface="Segoe UI"/>
              </a:rPr>
              <a:t>Transparent itemized thermal printed receipts with clear credit records.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FMCG Wholesalers: </a:t>
            </a:r>
            <a:r>
              <a:rPr sz="1000">
                <a:solidFill>
                  <a:srgbClr val="334155"/>
                </a:solidFill>
                <a:latin typeface="Segoe UI"/>
              </a:rPr>
              <a:t>Timely stock replenishment orders generated automatically every night.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429000"/>
            <a:ext cx="11000232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3520440"/>
            <a:ext cx="1645920" cy="219456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24-HOUR SPRINT TIMELINE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794760"/>
            <a:ext cx="1081735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RIGOROUS 24-HOUR HACKATHON EXECUTION ROADMAP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160520"/>
            <a:ext cx="2633472" cy="15544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06240"/>
            <a:ext cx="2450592" cy="1463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50" b="1">
                <a:solidFill>
                  <a:srgbClr val="16A34A"/>
                </a:solidFill>
                <a:latin typeface="Segoe UI"/>
              </a:defRPr>
            </a:pPr>
            <a:r>
              <a:t>PHASE 1: 00:00 — 06:00</a:t>
            </a:r>
          </a:p>
          <a:p>
            <a:pPr>
              <a:spcBef>
                <a:spcPts val="1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OFFLINE ASR &amp; MODEL SETUP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Vosk quantized Indian English/Hindi model setup.</a:t>
            </a:r>
            <a:br/>
            <a:r>
              <a:t>• Local audio capture stream (PyAudio / SoundDevice).</a:t>
            </a:r>
            <a:br/>
            <a:r>
              <a:t>• Word error rate benchmarking on edge CPU.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4160520"/>
            <a:ext cx="2633472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4206240"/>
            <a:ext cx="2450592" cy="1463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50" b="1">
                <a:solidFill>
                  <a:srgbClr val="C2410C"/>
                </a:solidFill>
                <a:latin typeface="Segoe UI"/>
              </a:defRPr>
            </a:pPr>
            <a:r>
              <a:t>PHASE 2: 06:00 — 12:00</a:t>
            </a:r>
          </a:p>
          <a:p>
            <a:pPr>
              <a:spcBef>
                <a:spcPts val="1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NLP &amp; SLOT-FILLING ENGINE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Entity regex parser (item, quantity, price, customer).</a:t>
            </a:r>
            <a:br/>
            <a:r>
              <a:t>• Currency &amp; unit normalizer (kg, g, packet, litre).</a:t>
            </a:r>
            <a:br/>
            <a:r>
              <a:t>• Khata credit vs. cash classifier.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160520"/>
            <a:ext cx="2633472" cy="15544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4206240"/>
            <a:ext cx="2450592" cy="1463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50" b="1">
                <a:solidFill>
                  <a:srgbClr val="16A34A"/>
                </a:solidFill>
                <a:latin typeface="Segoe UI"/>
              </a:defRPr>
            </a:pPr>
            <a:r>
              <a:t>PHASE 3: 12:00 — 18:00</a:t>
            </a:r>
          </a:p>
          <a:p>
            <a:pPr>
              <a:spcBef>
                <a:spcPts val="1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SQLITE LEDGER &amp; THERMAL BILL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Schema design (products, customers, transactions).</a:t>
            </a:r>
            <a:br/>
            <a:r>
              <a:t>• Instant thermal receipt generator + UPI QR code.</a:t>
            </a:r>
            <a:br/>
            <a:r>
              <a:t>• Automated low-stock trigger logic.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4160520"/>
            <a:ext cx="2633472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4206240"/>
            <a:ext cx="2450592" cy="1463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50" b="1">
                <a:solidFill>
                  <a:srgbClr val="C2410C"/>
                </a:solidFill>
                <a:latin typeface="Segoe UI"/>
              </a:defRPr>
            </a:pPr>
            <a:r>
              <a:t>PHASE 4: 18:00 — 24:00</a:t>
            </a:r>
          </a:p>
          <a:p>
            <a:pPr>
              <a:spcBef>
                <a:spcPts val="1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UI POLISH &amp; LIVE MIC REHEARSAL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Streamlit merchant dashboard with live audio waveform.</a:t>
            </a:r>
            <a:br/>
            <a:r>
              <a:t>• Multi-dialect testing (Hindi, Kannada, Hinglish).</a:t>
            </a:r>
            <a:br/>
            <a:r>
              <a:t>• Final live demo script rehearsal with 5 rapid entries.</a:t>
            </a:r>
          </a:p>
        </p:txBody>
      </p:sp>
    </p:spTree>
    <p:extLst>
      <p:ext uri="{BB962C8B-B14F-4D97-AF65-F5344CB8AC3E}">
        <p14:creationId xmlns:p14="http://schemas.microsoft.com/office/powerpoint/2010/main" val="286556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10946FF-DA18-7B33-9172-39F4DB510891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7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F7ACDD-C1B2-95A5-92B3-2AFB47FCA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0C7E9C-9E5F-5794-5F68-5ECE61208F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rIns="73152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Conclusion &amp; References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Dignity, Speed, and Financial Health for Bharat's Backbone Retailers.  </a:t>
            </a:r>
            <a:r>
              <a:rPr sz="1250" i="1">
                <a:solidFill>
                  <a:srgbClr val="64748B"/>
                </a:solidFill>
                <a:latin typeface="Segoe UI"/>
              </a:rPr>
              <a:t>"Bringing edge intelligence to the kirana counter without requiring English or internet."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143000"/>
            <a:ext cx="4709160" cy="2788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234440"/>
            <a:ext cx="1188720" cy="219456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CORE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508760"/>
            <a:ext cx="4526280" cy="2331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16A34A"/>
                </a:solidFill>
                <a:latin typeface="Segoe UI"/>
              </a:defRPr>
            </a:pPr>
            <a:r>
              <a:t>KEY TAKEAWAYS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Zero Typing Barrier: </a:t>
            </a:r>
            <a:r>
              <a:rPr sz="1100">
                <a:solidFill>
                  <a:srgbClr val="334155"/>
                </a:solidFill>
                <a:latin typeface="Segoe UI"/>
              </a:rPr>
              <a:t>Shopkeepers simply speak naturally; VoiceKirana generates itemized bills in under 3 seconds.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100% Offline Autonomy: </a:t>
            </a:r>
            <a:r>
              <a:rPr sz="1100">
                <a:solidFill>
                  <a:srgbClr val="334155"/>
                </a:solidFill>
                <a:latin typeface="Segoe UI"/>
              </a:rPr>
              <a:t>Complete immunity from cellular outages; merchant records stay private on the device.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Credit &amp; Stock Clarity: </a:t>
            </a:r>
            <a:r>
              <a:rPr sz="1100">
                <a:solidFill>
                  <a:srgbClr val="334155"/>
                </a:solidFill>
                <a:latin typeface="Segoe UI"/>
              </a:rPr>
              <a:t>Eliminates ₹1,25,000 monthly credit leaks and alerts merchants before staples run out of stock.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Zero Hardware Cost: </a:t>
            </a:r>
            <a:r>
              <a:rPr sz="1100">
                <a:solidFill>
                  <a:srgbClr val="334155"/>
                </a:solidFill>
                <a:latin typeface="Segoe UI"/>
              </a:rPr>
              <a:t>Runs on any budget Android phone or existing merchant tablet with zero subscription fees.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40680" y="1143000"/>
            <a:ext cx="6153912" cy="2788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voicekirana_bad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1170432"/>
            <a:ext cx="6099048" cy="273405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94360" y="4023360"/>
            <a:ext cx="11000232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1463040" cy="21945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TECHNICAL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89120"/>
            <a:ext cx="10817352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VERIFIABLE REFERENCES &amp; EDGE AI BENCHMARKS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45152"/>
            <a:ext cx="530352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Bef>
                <a:spcPts val="100"/>
              </a:spcBef>
            </a:pPr>
            <a:r>
              <a:rPr sz="950" b="1">
                <a:solidFill>
                  <a:srgbClr val="0F172A"/>
                </a:solidFill>
                <a:latin typeface="Segoe UI"/>
              </a:rPr>
              <a:t>1. Vosk Offline ASR Architecture: </a:t>
            </a:r>
            <a:r>
              <a:rPr sz="950">
                <a:solidFill>
                  <a:srgbClr val="334155"/>
                </a:solidFill>
                <a:latin typeface="Segoe UI"/>
              </a:rPr>
              <a:t>Kaldi-Based Lightweight Speech Recognition for Embedded Devices (AlphaCephei).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0F172A"/>
                </a:solidFill>
                <a:latin typeface="Segoe UI"/>
              </a:rPr>
              <a:t>2. TensorFlow Lite Quantization: </a:t>
            </a:r>
            <a:r>
              <a:rPr sz="950">
                <a:solidFill>
                  <a:srgbClr val="334155"/>
                </a:solidFill>
                <a:latin typeface="Segoe UI"/>
              </a:rPr>
              <a:t>Quantized Neural Network Inference for Microcontrollers and Edge Hardware.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0F172A"/>
                </a:solidFill>
                <a:latin typeface="Segoe UI"/>
              </a:rPr>
              <a:t>3. SQLite Embedded Database: </a:t>
            </a:r>
            <a:r>
              <a:rPr sz="950">
                <a:solidFill>
                  <a:srgbClr val="334155"/>
                </a:solidFill>
                <a:latin typeface="Segoe UI"/>
              </a:rPr>
              <a:t>ACID Compliance and Crash-Proof Storage in Disconnected Environments.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645152"/>
            <a:ext cx="530352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Bef>
                <a:spcPts val="100"/>
              </a:spcBef>
            </a:pPr>
            <a:r>
              <a:rPr sz="950" b="1">
                <a:solidFill>
                  <a:srgbClr val="0F172A"/>
                </a:solidFill>
                <a:latin typeface="Segoe UI"/>
              </a:rPr>
              <a:t>4. National Retail Federation Report: </a:t>
            </a:r>
            <a:r>
              <a:rPr sz="950">
                <a:solidFill>
                  <a:srgbClr val="334155"/>
                </a:solidFill>
                <a:latin typeface="Segoe UI"/>
              </a:rPr>
              <a:t>Digitization and Informal Credit Dynamics in Indian Unorganized Retail.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0F172A"/>
                </a:solidFill>
                <a:latin typeface="Segoe UI"/>
              </a:rPr>
              <a:t>5. ESC/POS Protocol Standard: </a:t>
            </a:r>
            <a:r>
              <a:rPr sz="950">
                <a:solidFill>
                  <a:srgbClr val="334155"/>
                </a:solidFill>
                <a:latin typeface="Segoe UI"/>
              </a:rPr>
              <a:t>Binary Command Set for Point of Sale Thermal Printing Systems.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0F172A"/>
                </a:solidFill>
                <a:latin typeface="Segoe UI"/>
              </a:rPr>
              <a:t>6. NPCI UPI Offline Specification: </a:t>
            </a:r>
            <a:r>
              <a:rPr sz="950">
                <a:solidFill>
                  <a:srgbClr val="334155"/>
                </a:solidFill>
                <a:latin typeface="Segoe UI"/>
              </a:rPr>
              <a:t>Dynamic QR Code Generation for Contactless Merchant Payments.</a:t>
            </a:r>
          </a:p>
        </p:txBody>
      </p:sp>
    </p:spTree>
    <p:extLst>
      <p:ext uri="{BB962C8B-B14F-4D97-AF65-F5344CB8AC3E}">
        <p14:creationId xmlns:p14="http://schemas.microsoft.com/office/powerpoint/2010/main" val="1244322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343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Sadhana S</dc:creator>
  <cp:lastModifiedBy>Sadhana S</cp:lastModifiedBy>
  <cp:revision>6</cp:revision>
  <dcterms:created xsi:type="dcterms:W3CDTF">2026-10-16T15:16:25Z</dcterms:created>
  <dcterms:modified xsi:type="dcterms:W3CDTF">2026-10-20T16:26:16Z</dcterms:modified>
</cp:coreProperties>
</file>