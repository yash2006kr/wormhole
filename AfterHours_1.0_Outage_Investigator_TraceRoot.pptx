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1645920" y="2011680"/>
            <a:ext cx="8961120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600" b="1">
                <a:solidFill>
                  <a:srgbClr val="F95700"/>
                </a:solidFill>
                <a:latin typeface="Segoe UI"/>
              </a:defRPr>
            </a:pPr>
            <a:r>
              <a:t>TraceRoot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Graph-Causal Incident Investigation &amp; Autonomous Containment Platform</a:t>
            </a:r>
          </a:p>
          <a:p>
            <a:pPr algn="ctr">
              <a:defRPr sz="1500" i="1">
                <a:solidFill>
                  <a:srgbClr val="64748B"/>
                </a:solidFill>
                <a:latin typeface="Segoe UI"/>
              </a:defRPr>
            </a:pPr>
            <a:r>
              <a:t>Problem Statement 01: Outage Investigator | Network Incident Root-Cause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645920" y="3840480"/>
            <a:ext cx="4206240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Team Name: CloudGuardians</a:t>
            </a:r>
          </a:p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Domain: Cybersecurity · Network Observability · SRE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217920" y="3840480"/>
            <a:ext cx="4754880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TEAM MEMBERS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1E293B"/>
                </a:solidFill>
                <a:latin typeface="Segoe UI"/>
              </a:defRPr>
            </a:pPr>
            <a:r>
              <a:t>• Lead / Architecture: Yashwanth KR</a:t>
            </a:r>
          </a:p>
          <a:p>
            <a:pPr>
              <a:defRPr sz="1400">
                <a:solidFill>
                  <a:srgbClr val="1E293B"/>
                </a:solidFill>
                <a:latin typeface="Segoe UI"/>
              </a:defRPr>
            </a:pPr>
            <a:r>
              <a:t>• Ingestion &amp; Causal Graph: Team Member 2</a:t>
            </a:r>
          </a:p>
          <a:p>
            <a:pPr>
              <a:defRPr sz="1400">
                <a:solidFill>
                  <a:srgbClr val="1E293B"/>
                </a:solidFill>
                <a:latin typeface="Segoe UI"/>
              </a:defRPr>
            </a:pPr>
            <a:r>
              <a:t>• Incident Engine &amp; Playbooks: Team Member 3</a:t>
            </a:r>
          </a:p>
          <a:p>
            <a:pPr>
              <a:defRPr sz="1400">
                <a:solidFill>
                  <a:srgbClr val="1E293B"/>
                </a:solidFill>
                <a:latin typeface="Segoe UI"/>
              </a:defRPr>
            </a:pPr>
            <a:r>
              <a:t>• Dashboard &amp; Observability UI: Team Member 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F81D9-405D-2B75-24AC-F9F0F8D84DE1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PS 01: Outage Investigator | Navigating the Fog of War in Distributed Incidents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1234440"/>
            <a:ext cx="342900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WHAT EXACT PROBLEM ARE WE SOLVING?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The 'Alert Storm' Paradox: </a:t>
            </a:r>
            <a:r>
              <a:rPr sz="1400">
                <a:solidFill>
                  <a:srgbClr val="1E293B"/>
                </a:solidFill>
                <a:latin typeface="Segoe UI"/>
              </a:rPr>
              <a:t>A single root failure (e.g., BGP route leak, DNS timeout, DB pool exhaustion) triggers thousands of secondary dependent alerts across microservices.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Symptom vs. Cause Confusion: </a:t>
            </a:r>
            <a:r>
              <a:rPr sz="1400">
                <a:solidFill>
                  <a:srgbClr val="1E293B"/>
                </a:solidFill>
                <a:latin typeface="Segoe UI"/>
              </a:rPr>
              <a:t>Traditional monitoring treats all failing services identically. On-call engineers cannot isolate what started the collapse from downstream victims.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High Cognitive Triage Load: </a:t>
            </a:r>
            <a:r>
              <a:rPr sz="1400">
                <a:solidFill>
                  <a:srgbClr val="1E293B"/>
                </a:solidFill>
                <a:latin typeface="Segoe UI"/>
              </a:rPr>
              <a:t>Incident responders spend crucial early minutes manually digging through unranked logs rather than executing containment.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23444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FOR WHOM IS THIS A PROBLEM?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Site Reliability Engineers (SREs): </a:t>
            </a:r>
            <a:r>
              <a:rPr sz="1400">
                <a:solidFill>
                  <a:srgbClr val="1E293B"/>
                </a:solidFill>
                <a:latin typeface="Segoe UI"/>
              </a:rPr>
              <a:t>Engineers under severe pressure to restore mission-critical services under strict 99.99% SLAs.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Network Operations Centers (NOCs): </a:t>
            </a:r>
            <a:r>
              <a:rPr sz="1400">
                <a:solidFill>
                  <a:srgbClr val="1E293B"/>
                </a:solidFill>
                <a:latin typeface="Segoe UI"/>
              </a:rPr>
              <a:t>Operators managing multi-tier hybrid/cloud topologies lacking end-to-end visibility across virtual &amp; physical layers.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Enterprise Cloud Architects: </a:t>
            </a:r>
            <a:r>
              <a:rPr sz="1400">
                <a:solidFill>
                  <a:srgbClr val="1E293B"/>
                </a:solidFill>
                <a:latin typeface="Segoe UI"/>
              </a:rPr>
              <a:t>Teams designing microservices where complex cascading dependency graphs obscure failure propagation.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Digital Businesses &amp; End Users: </a:t>
            </a:r>
            <a:r>
              <a:rPr sz="1400">
                <a:solidFill>
                  <a:srgbClr val="1E293B"/>
                </a:solidFill>
                <a:latin typeface="Segoe UI"/>
              </a:rPr>
              <a:t>Fintechs, e-commerce, and healthcare where every minute of outage erodes user trust and halts operations.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B91C1C"/>
                </a:solidFill>
                <a:latin typeface="Segoe UI"/>
              </a:defRPr>
            </a:pPr>
            <a:r>
              <a:t>WHY DOES THIS PROBLEM MATTER?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Massive Financial Bleed: </a:t>
            </a:r>
            <a:r>
              <a:rPr sz="1400">
                <a:solidFill>
                  <a:srgbClr val="1E293B"/>
                </a:solidFill>
                <a:latin typeface="Segoe UI"/>
              </a:rPr>
              <a:t>Enterprise downtime costs exceed $9,000 per minute ($540,000/hour) according to Gartner and Ponemon studies.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Prolonged MTTI / MTTR: </a:t>
            </a:r>
            <a:r>
              <a:rPr sz="1400">
                <a:solidFill>
                  <a:srgbClr val="1E293B"/>
                </a:solidFill>
                <a:latin typeface="Segoe UI"/>
              </a:rPr>
              <a:t>Root-cause identification consumes &gt;70% of total outage triage time due to manual trial-and-error hypothesis testing.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Cascading Blast-Radius: </a:t>
            </a:r>
            <a:r>
              <a:rPr sz="1400">
                <a:solidFill>
                  <a:srgbClr val="1E293B"/>
                </a:solidFill>
                <a:latin typeface="Segoe UI"/>
              </a:rPr>
              <a:t>Uncontained network or service failures quickly spread to healthy availability zones, escalating localized faults into full outages.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Operator Burnout &amp; Fatigue: </a:t>
            </a:r>
            <a:r>
              <a:rPr sz="1400">
                <a:solidFill>
                  <a:srgbClr val="1E293B"/>
                </a:solidFill>
                <a:latin typeface="Segoe UI"/>
              </a:rPr>
              <a:t>Repeated false-alarm storms and chaotic firefighting lead to human errors during live sev-1 remediation.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Innovation</a:t>
            </a: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TraceRoot: Temporal-Topological Causal Graph Engine for Rapid Containment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1234440"/>
            <a:ext cx="10725912" cy="10058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END-TO-END INVESTIGATION &amp; REMEDIATION PIPELINE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[1] Multi-Source Ingestion</a:t>
            </a:r>
            <a:r>
              <a:rPr sz="1400" b="1">
                <a:solidFill>
                  <a:srgbClr val="0F172A"/>
                </a:solidFill>
                <a:latin typeface="Segoe UI"/>
              </a:rPr>
              <a:t> ➔ [2] Topological Dependency Graph</a:t>
            </a:r>
            <a:r>
              <a:rPr sz="1400" b="1">
                <a:solidFill>
                  <a:srgbClr val="0F172A"/>
                </a:solidFill>
                <a:latin typeface="Segoe UI"/>
              </a:rPr>
              <a:t> ➔ [3] Temporal-Causal Engine</a:t>
            </a:r>
            <a:r>
              <a:rPr sz="1400" b="1">
                <a:solidFill>
                  <a:srgbClr val="0F172A"/>
                </a:solidFill>
                <a:latin typeface="Segoe UI"/>
              </a:rPr>
              <a:t> ➔ [4] Actionable Containment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CORE SYSTEM CAPABILITIES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Multi-Modal Telemetry Stream: </a:t>
            </a:r>
            <a:r>
              <a:rPr sz="1400">
                <a:solidFill>
                  <a:srgbClr val="1E293B"/>
                </a:solidFill>
                <a:latin typeface="Segoe UI"/>
              </a:rPr>
              <a:t>Ingests simulated VPC flow logs, packet metrics, application stderr logs, and Kubernetes events in real time.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Dynamic Causal DAG: </a:t>
            </a:r>
            <a:r>
              <a:rPr sz="1400">
                <a:solidFill>
                  <a:srgbClr val="1E293B"/>
                </a:solidFill>
                <a:latin typeface="Segoe UI"/>
              </a:rPr>
              <a:t>Constructs a directed acyclic graph mapping services, subnets, routers, and DB clusters to model real dependency chains.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Temporal Fault Sequencing: </a:t>
            </a:r>
            <a:r>
              <a:rPr sz="1400">
                <a:solidFill>
                  <a:srgbClr val="1E293B"/>
                </a:solidFill>
                <a:latin typeface="Segoe UI"/>
              </a:rPr>
              <a:t>Traces exact timestamped event propagation ($T_0$ root vs. $T_0 + \Delta t$ symptoms) to identify the initial point of failure.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Incident Timeline Reconstruction: </a:t>
            </a:r>
            <a:r>
              <a:rPr sz="1400">
                <a:solidFill>
                  <a:srgbClr val="1E293B"/>
                </a:solidFill>
                <a:latin typeface="Segoe UI"/>
              </a:rPr>
              <a:t>Generates an interactive, chronological Gantt view of the incident from initial anomaly to full blast radius.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37744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INNOVATIVE APPROACH &amp; HIGHLIGHTS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Deterministic Causality vs. Guesswork: </a:t>
            </a:r>
            <a:r>
              <a:rPr sz="1400">
                <a:solidFill>
                  <a:srgbClr val="1E293B"/>
                </a:solidFill>
                <a:latin typeface="Segoe UI"/>
              </a:rPr>
              <a:t>Uses graph reachability algorithms (Floyd-Warshall / PageRank) instead of black-box statistical correlation.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Explainable Evidence Dossier: </a:t>
            </a:r>
            <a:r>
              <a:rPr sz="1400">
                <a:solidFill>
                  <a:srgbClr val="1E293B"/>
                </a:solidFill>
                <a:latin typeface="Segoe UI"/>
              </a:rPr>
              <a:t>Every flagged root cause is paired with concrete cryptographic/log receipts and dependency paths (zero hallucination).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Closed-Loop Containment Playbooks: </a:t>
            </a:r>
            <a:r>
              <a:rPr sz="1400">
                <a:solidFill>
                  <a:srgbClr val="1E293B"/>
                </a:solidFill>
                <a:latin typeface="Segoe UI"/>
              </a:rPr>
              <a:t>Recommends validated containment actions (dynamic DNS reroute, subnet isolation, rate limiting) with human-in-the-loop approvals.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Noise-Suppression Intelligence: </a:t>
            </a:r>
            <a:r>
              <a:rPr sz="1400">
                <a:solidFill>
                  <a:srgbClr val="1E293B"/>
                </a:solidFill>
                <a:latin typeface="Segoe UI"/>
              </a:rPr>
              <a:t>Automatically de-duplicates cascading symptom alerts into a single unified incident graph.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Why Conventional APMs and GenAI Fall Short in Outage Investigation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1234440"/>
            <a:ext cx="10725912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COMPARISON: TRACEROOT VS. EXISTING INDUSTRY TOOLS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1. Root-Cause Isolation Paradigm
   </a:t>
            </a:r>
            <a:r>
              <a:rPr sz="1400">
                <a:solidFill>
                  <a:srgbClr val="64748B"/>
                </a:solidFill>
                <a:latin typeface="Segoe UI"/>
              </a:rPr>
              <a:t>❌ Traditional APM (Datadog/Dynatrace): Relies on static metric thresholds and statistical co-occurrence.
   </a:t>
            </a:r>
            <a:r>
              <a:rPr sz="1400" b="1">
                <a:solidFill>
                  <a:srgbClr val="15803D"/>
                </a:solidFill>
                <a:latin typeface="Segoe UI"/>
              </a:rPr>
              <a:t>✅ TraceRoot Advantage: Deterministic graph reachability and temporal causality isolate the true source with proof.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2. Cascading Failure Handling
   </a:t>
            </a:r>
            <a:r>
              <a:rPr sz="1400">
                <a:solidFill>
                  <a:srgbClr val="64748B"/>
                </a:solidFill>
                <a:latin typeface="Segoe UI"/>
              </a:rPr>
              <a:t>❌ Standard Monitoring &amp; Alerting: Floods operators with hundreds of redundant symptom alarms ('Alert Fatigue').
   </a:t>
            </a:r>
            <a:r>
              <a:rPr sz="1400" b="1">
                <a:solidFill>
                  <a:srgbClr val="15803D"/>
                </a:solidFill>
                <a:latin typeface="Segoe UI"/>
              </a:rPr>
              <a:t>✅ TraceRoot Advantage: Group-collapses downstream symptom cascades into a single unified causal tree.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3. Explainability &amp; Trust
   </a:t>
            </a:r>
            <a:r>
              <a:rPr sz="1400">
                <a:solidFill>
                  <a:srgbClr val="64748B"/>
                </a:solidFill>
                <a:latin typeface="Segoe UI"/>
              </a:rPr>
              <a:t>❌ GenAI Log Copilots: Prone to hallucinations, lacks architectural topology, and offers non-verifiable suggestions.
   </a:t>
            </a:r>
            <a:r>
              <a:rPr sz="1400" b="1">
                <a:solidFill>
                  <a:srgbClr val="15803D"/>
                </a:solidFill>
                <a:latin typeface="Segoe UI"/>
              </a:rPr>
              <a:t>✅ TraceRoot Advantage: 100% explainable, deterministic evidence trail linking physical logs to graph topology.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4. Incident Containment &amp; Action
   </a:t>
            </a:r>
            <a:r>
              <a:rPr sz="1400">
                <a:solidFill>
                  <a:srgbClr val="64748B"/>
                </a:solidFill>
                <a:latin typeface="Segoe UI"/>
              </a:rPr>
              <a:t>❌ Existing Observability Suites: Passive observability dashboards that leave containment entirely to manual triage.
   </a:t>
            </a:r>
            <a:r>
              <a:rPr sz="1400" b="1">
                <a:solidFill>
                  <a:srgbClr val="15803D"/>
                </a:solidFill>
                <a:latin typeface="Segoe UI"/>
              </a:rPr>
              <a:t>✅ TraceRoot Advantage: Generates ready-to-execute, guardrailed network &amp; cloud containment playbooks.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5912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OUR KEY COMPETITIVE ADVANTAGE: MATHEMATICALLY DETERMINISTIC CAUSALITY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  <a:latin typeface="Segoe UI"/>
              </a:defRPr>
            </a:pPr>
            <a:r>
              <a:t>Unlike probabilistic ML models that guess correlations or black-box LLMs that hallucinate incident causes, TraceRoot merges physical network topology with nanosecond event ordering. SREs receive concrete proof, confidence metrics, and targeted containment actions in &lt;60 seconds.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 &amp; Feasibility</a:t>
            </a: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Full-Stack Architecture, Algorithmic Engine &amp; 24-Hour Hackathon Build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123444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Ingestion &amp; Normalizer: </a:t>
            </a:r>
            <a:r>
              <a:rPr sz="1400">
                <a:solidFill>
                  <a:srgbClr val="1E293B"/>
                </a:solidFill>
                <a:latin typeface="Segoe UI"/>
              </a:rPr>
              <a:t>Python FastAPI &amp; Apache Kafka stream processing; normalizes OpenTelemetry logs, VPC flow metrics, and ping health stats.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Graph Topology Engine: </a:t>
            </a:r>
            <a:r>
              <a:rPr sz="1400">
                <a:solidFill>
                  <a:srgbClr val="1E293B"/>
                </a:solidFill>
                <a:latin typeface="Segoe UI"/>
              </a:rPr>
              <a:t>NetworkX &amp; Neo4j graph database storing network nodes, routing hops, microservice edges, and upstream dependencies.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Causal Graph Traversal: </a:t>
            </a:r>
            <a:r>
              <a:rPr sz="1400">
                <a:solidFill>
                  <a:srgbClr val="1E293B"/>
                </a:solidFill>
                <a:latin typeface="Segoe UI"/>
              </a:rPr>
              <a:t>Custom Dijkstra/Floyd-Warshall fault path algorithms and PageRank centrality to isolate failure epicenters.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Incident Command UI: </a:t>
            </a:r>
            <a:r>
              <a:rPr sz="1400">
                <a:solidFill>
                  <a:srgbClr val="1E293B"/>
                </a:solidFill>
                <a:latin typeface="Segoe UI"/>
              </a:rPr>
              <a:t>React / Next.js frontend with Cytoscape.js interactive topology graph and Chrono-Timeline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ROLE OF AI &amp; DETERMINISTIC RULES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Deterministic Graph Rules (Core): </a:t>
            </a:r>
            <a:r>
              <a:rPr sz="1400">
                <a:solidFill>
                  <a:srgbClr val="1E293B"/>
                </a:solidFill>
                <a:latin typeface="Segoe UI"/>
              </a:rPr>
              <a:t>Root cause attribution relies strictly on graph reachability and temporal ordering, guaranteeing 100% explainability and zero hallucination.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Targeted NLP (Optional / Supporting): </a:t>
            </a:r>
            <a:r>
              <a:rPr sz="1400">
                <a:solidFill>
                  <a:srgbClr val="1E293B"/>
                </a:solidFill>
                <a:latin typeface="Segoe UI"/>
              </a:rPr>
              <a:t>Sentence-BERT embeddings cluster noisy, unstructured error logs into standardized canonical error tokens without manual regex.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Dynamic Anomaly Detection: </a:t>
            </a:r>
            <a:r>
              <a:rPr sz="1400">
                <a:solidFill>
                  <a:srgbClr val="1E293B"/>
                </a:solidFill>
                <a:latin typeface="Segoe UI"/>
              </a:rPr>
              <a:t>Z-score sliding window on latency and packet-loss metrics flags pre-outage degradation before total service failure.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Human-in-the-Loop Safeguards: </a:t>
            </a:r>
            <a:r>
              <a:rPr sz="1400">
                <a:solidFill>
                  <a:srgbClr val="1E293B"/>
                </a:solidFill>
                <a:latin typeface="Segoe UI"/>
              </a:rPr>
              <a:t>Remediation commands require operator approval; no automated catastrophic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15803D"/>
                </a:solidFill>
                <a:latin typeface="Segoe UI"/>
              </a:defRPr>
            </a:pPr>
            <a:r>
              <a:t>HACKATHON BUILD SCOPE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Synthetic Chaos Generator: </a:t>
            </a:r>
            <a:r>
              <a:rPr sz="1400">
                <a:solidFill>
                  <a:srgbClr val="1E293B"/>
                </a:solidFill>
                <a:latin typeface="Segoe UI"/>
              </a:rPr>
              <a:t>Simulates 4 realistic outage scenarios: BGP route drop, DNS resolver exhaustion, DB deadlocks, and cascading API timeouts.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Real-Time Ingestion Pipeline: </a:t>
            </a:r>
            <a:r>
              <a:rPr sz="1400">
                <a:solidFill>
                  <a:srgbClr val="1E293B"/>
                </a:solidFill>
                <a:latin typeface="Segoe UI"/>
              </a:rPr>
              <a:t>Fully functional streaming pipeline processing simulated multi-source logs at 500+ events/sec.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Live Interactive Dashboard: </a:t>
            </a:r>
            <a:r>
              <a:rPr sz="1400">
                <a:solidFill>
                  <a:srgbClr val="1E293B"/>
                </a:solidFill>
                <a:latin typeface="Segoe UI"/>
              </a:rPr>
              <a:t>Interactive Cytoscape.js topology view showing nodes changing status from healthy to degraded, pinpointing root cause in red.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Remediation Playbook Generator: </a:t>
            </a:r>
            <a:r>
              <a:rPr sz="1400">
                <a:solidFill>
                  <a:srgbClr val="1E293B"/>
                </a:solidFill>
                <a:latin typeface="Segoe UI"/>
              </a:rPr>
              <a:t>Outputs ready-to-run AWS CLI / iptables containment commands for the identified fault.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Impact &amp; Execution Plan</a:t>
            </a: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Quantifiable SRE Metrics, 24-Hour Hackathon Roadmap &amp; Scaling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123444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MEASURABLE IMPACT &amp; OUTCOMES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75–80% Reduction in MTTI: </a:t>
            </a:r>
            <a:r>
              <a:rPr sz="1400">
                <a:solidFill>
                  <a:srgbClr val="1E293B"/>
                </a:solidFill>
                <a:latin typeface="Segoe UI"/>
              </a:rPr>
              <a:t>Cuts root-cause diagnosis from an industry average of 45+ minutes to under 90 seconds.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90% Alert Noise Elimination: </a:t>
            </a:r>
            <a:r>
              <a:rPr sz="1400">
                <a:solidFill>
                  <a:srgbClr val="1E293B"/>
                </a:solidFill>
                <a:latin typeface="Segoe UI"/>
              </a:rPr>
              <a:t>Condenses hundreds of cascading secondary alarms into a single coherent incident tree.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Sub-3-Minute Blast Containment: </a:t>
            </a:r>
            <a:r>
              <a:rPr sz="1400">
                <a:solidFill>
                  <a:srgbClr val="1E293B"/>
                </a:solidFill>
                <a:latin typeface="Segoe UI"/>
              </a:rPr>
              <a:t>Generates targeted containment actions before localized network faults spread across regions.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Direct Beneficiaries: </a:t>
            </a:r>
            <a:r>
              <a:rPr sz="1400">
                <a:solidFill>
                  <a:srgbClr val="1E293B"/>
                </a:solidFill>
                <a:latin typeface="Segoe UI"/>
              </a:rPr>
              <a:t>SREs avoid on-call panic; enterprises safeguard SLA guarantees; end-users experience uninterrupted digital services.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Cost Prevention: </a:t>
            </a:r>
            <a:r>
              <a:rPr sz="1400">
                <a:solidFill>
                  <a:srgbClr val="1E293B"/>
                </a:solidFill>
                <a:latin typeface="Segoe UI"/>
              </a:rPr>
              <a:t>Prevents multi-million-dollar outage penalties and reputational damage for cloud-native organizations.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34440"/>
            <a:ext cx="521208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24-HOUR HACKATHON MILESTONE ROADMAP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Hours 00–04 (Data Ingestion &amp; Scenarios): </a:t>
            </a:r>
            <a:r>
              <a:rPr sz="1400">
                <a:solidFill>
                  <a:srgbClr val="1E293B"/>
                </a:solidFill>
                <a:latin typeface="Segoe UI"/>
              </a:rPr>
              <a:t>Define OpenTelemetry schemas, build streaming pipeline, and create Chaos failure generator simulating 4 outage patterns.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Hours 04–12 (Graph Engine &amp; Causality): </a:t>
            </a:r>
            <a:r>
              <a:rPr sz="1400">
                <a:solidFill>
                  <a:srgbClr val="1E293B"/>
                </a:solidFill>
                <a:latin typeface="Segoe UI"/>
              </a:rPr>
              <a:t>Implement NetworkX dependency model, temporal anomaly parser, and root-cause scoring traversal algorithm.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Hours 12–18 (Dashboard &amp; Containment UI): </a:t>
            </a:r>
            <a:r>
              <a:rPr sz="1400">
                <a:solidFill>
                  <a:srgbClr val="1E293B"/>
                </a:solidFill>
                <a:latin typeface="Segoe UI"/>
              </a:rPr>
              <a:t>Build Cytoscape.js interactive topology graph, chronological event timeline, and playbook generator.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Hours 18–24 (Testing &amp; Pitch Polish): </a:t>
            </a:r>
            <a:r>
              <a:rPr sz="1400">
                <a:solidFill>
                  <a:srgbClr val="1E293B"/>
                </a:solidFill>
                <a:latin typeface="Segoe UI"/>
              </a:rPr>
              <a:t>Validate accuracy against chaos injection scenarios, measure MTTI benchmarks, and rehearse live demo.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Future Horizon: </a:t>
            </a:r>
            <a:r>
              <a:rPr sz="1400">
                <a:solidFill>
                  <a:srgbClr val="1E293B"/>
                </a:solidFill>
                <a:latin typeface="Segoe UI"/>
              </a:rPr>
              <a:t>Kernel-level eBPF continuous auto-instrumentation, AWS Systems Manager automation runner, and multi-cloud mesh support.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731520" y="438912"/>
            <a:ext cx="89611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defRPr sz="1400" b="1">
                <a:solidFill>
                  <a:srgbClr val="F95700"/>
                </a:solidFill>
                <a:latin typeface="Segoe UI"/>
              </a:defRPr>
            </a:pPr>
            <a:r>
              <a:t>Deterministic Incident Investigation for Next-Generation Cloud Observability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234440"/>
            <a:ext cx="10725912" cy="21945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1">
                <a:solidFill>
                  <a:srgbClr val="F95700"/>
                </a:solidFill>
                <a:latin typeface="Segoe UI"/>
              </a:defRPr>
            </a:pPr>
            <a:r>
              <a:t>SUMMARY &amp; STRATEGIC TAKEAWAY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From Alert Chaos to Deterministic Precision: </a:t>
            </a:r>
            <a:r>
              <a:rPr sz="1400">
                <a:solidFill>
                  <a:srgbClr val="1E293B"/>
                </a:solidFill>
                <a:latin typeface="Segoe UI"/>
              </a:rPr>
              <a:t>TraceRoot replaces subjective, trial-and-error incident troubleshooting with mathematically sound causal graph traversal.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Explainable Proof Over Black-Box Guesses: </a:t>
            </a:r>
            <a:r>
              <a:rPr sz="1400">
                <a:solidFill>
                  <a:srgbClr val="1E293B"/>
                </a:solidFill>
                <a:latin typeface="Segoe UI"/>
              </a:rPr>
              <a:t>Engineers receive undeniable topological receipts linking anomalous logs to the initial point of failure, enabling confident decision-making.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Actionable Blast Containment: </a:t>
            </a:r>
            <a:r>
              <a:rPr sz="1400">
                <a:solidFill>
                  <a:srgbClr val="1E293B"/>
                </a:solidFill>
                <a:latin typeface="Segoe UI"/>
              </a:rPr>
              <a:t>Shifts the SRE paradigm from passive symptom monitoring to rapid root-cause isolation and immediate automated containment.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5912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VERIFIABLE REFERENCES &amp; INDUSTRY CITATIONS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Gartner IT Operations Study (2023): </a:t>
            </a:r>
            <a:r>
              <a:rPr sz="1400">
                <a:solidFill>
                  <a:srgbClr val="1E293B"/>
                </a:solidFill>
                <a:latin typeface="Segoe UI"/>
              </a:rPr>
              <a:t>The Cost of Enterprise Network Downtime and the Economics of SRE Incident Triage ($5,600 – $9,000/minute).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Google Site Reliability Engineering (SRE) Handbook: </a:t>
            </a:r>
            <a:r>
              <a:rPr sz="1400">
                <a:solidFill>
                  <a:srgbClr val="1E293B"/>
                </a:solidFill>
                <a:latin typeface="Segoe UI"/>
              </a:rPr>
              <a:t>Chapter 22: 'Addressing Cascading Failures' &amp; Chapter 25: 'Managing Critical Alerts' (Beyer et al., O'Reilly Media).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AWS Well-Architected Framework: </a:t>
            </a:r>
            <a:r>
              <a:rPr sz="1400">
                <a:solidFill>
                  <a:srgbClr val="1E293B"/>
                </a:solidFill>
                <a:latin typeface="Segoe UI"/>
              </a:rPr>
              <a:t>Reliability Pillar: Best Practices for Resilient Cloud Architecture, Automated Failure Recovery &amp; Incident Containment.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USENIX NSDI &amp; ACM SIGCOMM: </a:t>
            </a:r>
            <a:r>
              <a:rPr sz="1400">
                <a:solidFill>
                  <a:srgbClr val="1E293B"/>
                </a:solidFill>
                <a:latin typeface="Segoe UI"/>
              </a:rPr>
              <a:t>Topology-Aware Root Cause Analysis in Large-Scale Cloud Microservices using Directed Causal Graphs.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• OpenTelemetry &amp; NetworkX Specifications: </a:t>
            </a:r>
            <a:r>
              <a:rPr sz="1400">
                <a:solidFill>
                  <a:srgbClr val="1E293B"/>
                </a:solidFill>
                <a:latin typeface="Segoe UI"/>
              </a:rPr>
              <a:t>Distributed Tracing Observability Data Models &amp; Network Centrality Graph Traversal Standards.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