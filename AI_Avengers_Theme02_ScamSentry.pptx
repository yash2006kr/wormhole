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914400" y="2331720"/>
            <a:ext cx="10360152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50" b="1">
                <a:solidFill>
                  <a:srgbClr val="EA580C"/>
                </a:solidFill>
                <a:latin typeface="Segoe UI"/>
              </a:defRPr>
            </a:pPr>
            <a:r>
              <a:t>THEME 02: TRUST, PRIVACY &amp; DIGITAL PROVENANCE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4000" b="1">
                <a:solidFill>
                  <a:srgbClr val="0F172A"/>
                </a:solidFill>
                <a:latin typeface="Segoe UI"/>
              </a:defRPr>
            </a:pPr>
            <a:r>
              <a:t>SCAMSENTRY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0284C7"/>
                </a:solidFill>
                <a:latin typeface="Segoe UI"/>
              </a:defRPr>
            </a:pPr>
            <a:r>
              <a:t>Multi-Modal Provenance &amp; Forensic Defense Against Job, Scholarship &amp; UPI Fraud</a:t>
            </a:r>
          </a:p>
          <a:p>
            <a:pPr algn="ctr">
              <a:spcBef>
                <a:spcPts val="200"/>
              </a:spcBef>
              <a:defRPr sz="1300" i="1">
                <a:solidFill>
                  <a:srgbClr val="64748B"/>
                </a:solidFill>
                <a:latin typeface="Segoe UI"/>
              </a:defRPr>
            </a:pPr>
            <a:r>
              <a:t>"Zero-trust verification for offer letters, UPI payment receipts, and viral WhatsApp forward scams."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371600" y="4160520"/>
            <a:ext cx="438912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Team Name: AI Avengers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Track: THEME 02: TRUST, PRIVACY &amp; DIGITAL PROVENANCE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t>Don Bosco Institute of Technology (DBIT)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400800" y="4160520"/>
            <a:ext cx="457200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MEMBERS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Raj Aanada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Yashma C P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Likith M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Yashwanth K 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The Rampant Epidemic of Digital Impersonation &amp; Payment Spoofing.  </a:t>
            </a:r>
            <a:r>
              <a:rPr sz="1250" i="1">
                <a:solidFill>
                  <a:srgbClr val="64748B"/>
                </a:solidFill>
                <a:latin typeface="Segoe UI"/>
              </a:rPr>
              <a:t>Predatory scams exploit students, job seekers, and retailers — draining ₹1,750+ Crores annually across India.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234440"/>
            <a:ext cx="13716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RECRUITMENT SCAMS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50876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Segoe UI"/>
              </a:defRPr>
            </a:pPr>
            <a:r>
              <a:t>PREDATORY JOB OFFERS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Bogus Offer Letters: </a:t>
            </a:r>
            <a:r>
              <a:rPr sz="1100">
                <a:solidFill>
                  <a:srgbClr val="334155"/>
                </a:solidFill>
                <a:latin typeface="Segoe UI"/>
              </a:rPr>
              <a:t>Fraudsters forge Tier-1 IT (TCS, Infosys) letters demanding ₹1,500 - ₹15,000 "laptop security fees".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Typosquatted Domains: </a:t>
            </a:r>
            <a:r>
              <a:rPr sz="1100">
                <a:solidFill>
                  <a:srgbClr val="334155"/>
                </a:solidFill>
                <a:latin typeface="Segoe UI"/>
              </a:rPr>
              <a:t>Recruiters use spoofed domains like careers-tcs-india.net registered &lt;30 days ago.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Targeting the Vulnerable: </a:t>
            </a:r>
            <a:r>
              <a:rPr sz="1100">
                <a:solidFill>
                  <a:srgbClr val="334155"/>
                </a:solidFill>
                <a:latin typeface="Segoe UI"/>
              </a:rPr>
              <a:t>Exploits fresh graduates desperate for campus placements and internships.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13716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PAYMENT &amp; SCHEMES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FORGED UPI &amp; GHOST SCHEMES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Counterfeit UPI Receipts: </a:t>
            </a:r>
            <a:r>
              <a:rPr sz="1100">
                <a:solidFill>
                  <a:srgbClr val="334155"/>
                </a:solidFill>
                <a:latin typeface="Segoe UI"/>
              </a:rPr>
              <a:t>Spoof APKs generate pixel-perfect fake "Payment Successful" screens duping merchants.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Ghost Scholarships: </a:t>
            </a:r>
            <a:r>
              <a:rPr sz="1100">
                <a:solidFill>
                  <a:srgbClr val="334155"/>
                </a:solidFill>
                <a:latin typeface="Segoe UI"/>
              </a:rPr>
              <a:t>Phishing links mimicking National Scholarship Portal (NSP) harvest Aadhaar &amp; bank OTPs.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Irreversible Loss: </a:t>
            </a:r>
            <a:r>
              <a:rPr sz="1100">
                <a:solidFill>
                  <a:srgbClr val="334155"/>
                </a:solidFill>
                <a:latin typeface="Segoe UI"/>
              </a:rPr>
              <a:t>Victims realize fraud only after giving away retail goods or seeing drained accounts.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1234440"/>
            <a:ext cx="128016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DEFENSE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150876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Segoe UI"/>
              </a:defRPr>
            </a:pPr>
            <a:r>
              <a:t>WHY CURRENT TOOLS FAIL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No Multi-Modal Ingestion: </a:t>
            </a:r>
            <a:r>
              <a:rPr sz="1100">
                <a:solidFill>
                  <a:srgbClr val="334155"/>
                </a:solidFill>
                <a:latin typeface="Segoe UI"/>
              </a:rPr>
              <a:t>Truecaller &amp; SMS filters only check phone numbers; they cannot analyze PDFs or images.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HR Response Lag: </a:t>
            </a:r>
            <a:r>
              <a:rPr sz="1100">
                <a:solidFill>
                  <a:srgbClr val="334155"/>
                </a:solidFill>
                <a:latin typeface="Segoe UI"/>
              </a:rPr>
              <a:t>Corporate HR verification portals take 5 to 10 business days to confirm an offer.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Zero ELA Forensics: </a:t>
            </a:r>
            <a:r>
              <a:rPr sz="1100">
                <a:solidFill>
                  <a:srgbClr val="334155"/>
                </a:solidFill>
                <a:latin typeface="Segoe UI"/>
              </a:rPr>
              <a:t>Ordinary citizens cannot detect spliced fonts, edited timestamps, or fake UTR numbers.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352044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3611880"/>
            <a:ext cx="123444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EMPIRICAL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88620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Segoe UI"/>
              </a:defRPr>
            </a:pPr>
            <a:r>
              <a:t>GROUND REALITY IN NUMBERS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₹1,750 Cr+ Annual Siphon: </a:t>
            </a:r>
            <a:r>
              <a:rPr sz="1100">
                <a:solidFill>
                  <a:srgbClr val="334155"/>
                </a:solidFill>
                <a:latin typeface="Segoe UI"/>
              </a:rPr>
              <a:t>Lost across India through fake employment onboarding drives and fraudulent portals.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4.2 Million Fake Offers: </a:t>
            </a:r>
            <a:r>
              <a:rPr sz="1100">
                <a:solidFill>
                  <a:srgbClr val="334155"/>
                </a:solidFill>
                <a:latin typeface="Segoe UI"/>
              </a:rPr>
              <a:t>Circulated annually via Telegram groups, WhatsApp recruiters, and spam emails.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68% Non-Reporting Rate: </a:t>
            </a:r>
            <a:r>
              <a:rPr sz="1100">
                <a:solidFill>
                  <a:srgbClr val="334155"/>
                </a:solidFill>
                <a:latin typeface="Segoe UI"/>
              </a:rPr>
              <a:t>Victims feel shame or lack evidence, allowing organized scam rings to thrive unchecked.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1430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2344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DC2626"/>
                </a:solidFill>
                <a:latin typeface="Segoe UI"/>
              </a:defRPr>
            </a:pPr>
            <a:r>
              <a:t>₹1,750 Cr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Annual Scam Loss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Reported digital recruitment &amp; payment fraud in India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7432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8346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Segoe UI"/>
              </a:defRPr>
            </a:pPr>
            <a:r>
              <a:t>4.2M+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Phishing Targets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Students &amp; fresh graduates targeted by fake job drives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43434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4348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Segoe UI"/>
              </a:defRPr>
            </a:pPr>
            <a:r>
              <a:t>&lt; 30 Days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Domain Lifespan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Average operational lifespan of lookalike phishing sites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Core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Zero-Trust Multi-Modal Forensics: Document, Domain &amp; Image Provenance.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Upload an offer letter PDF, WhatsApp forward, or payment screenshot — receive an explainable verdict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55448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MULTI-MODAL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463040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Unified Document &amp; Media Gateway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Accepts PDF offer letters, email headers, WhatsApp forwards, and screenshot images through web drop and automated bots.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14300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234440"/>
            <a:ext cx="1554480" cy="20116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DOMAIN PROVENANCE 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463040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WHOIS &amp; Infrastructure Intelligence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Inspects sender domain creation date (&lt;30 days = red flag), SPF/DKIM records, and corporate registry typosquatting.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27247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218687"/>
            <a:ext cx="15544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IMAGE FORENSICS &amp; 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47287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Error Level Analysis &amp; Font Kerning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Detects compression discontinuities and font baselines in UPI screenshots to expose edited transaction amounts.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127247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3218687"/>
            <a:ext cx="15544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EXPLAINABLE EVIDENCE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447287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Actionable Risk Score &amp; Family Bot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Delivers a 0-100% Risk Index citing legal violations (IPC 420) and provides an automated WhatsApp forward bot for families.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143000"/>
            <a:ext cx="5650992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camsentry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170432"/>
            <a:ext cx="5596128" cy="383133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94360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&lt; 2.5s MULTI-MODAL VERDICT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Sub-second OCR, domain lookup, and ELA image forensics running in parallel.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Segoe UI"/>
              </a:defRPr>
            </a:pPr>
            <a:r>
              <a:t>SPLICED UPI IMAGE DETECTION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Pinpoints tampered digits and font mismatches generated by fake payment APKs.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9288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WHATSAPP FAMILY SHIELD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Zero friction: forward suspicious forwards directly to WhatsApp bot for check.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Why Generic Anti-Spam Tools Fail Against Modern Socio-Technical Fraud.  </a:t>
            </a:r>
            <a:r>
              <a:rPr sz="1250" i="1">
                <a:solidFill>
                  <a:srgbClr val="64748B"/>
                </a:solidFill>
                <a:latin typeface="Segoe UI"/>
              </a:rPr>
              <a:t>Comparing ScamSentry against Truecaller, manual HR checks, and antivirus software.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234440"/>
            <a:ext cx="150876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TRADITIONAL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LEGACY DEFENSES &amp; BLIND SPOTS</a:t>
            </a:r>
          </a:p>
        </p:txBody>
      </p:sp>
      <p:pic>
        <p:nvPicPr>
          <p:cNvPr id="17" name="Picture 16" descr="scamsentry_comparis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443484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434840"/>
            <a:ext cx="443484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Phone Blacklists (Truecaller): Only flags reported phone numbers; blind to PDFs and image files.</a:t>
            </a:r>
          </a:p>
          <a:p>
            <a:pPr>
              <a:spcBef>
                <a:spcPts val="200"/>
              </a:spcBef>
              <a:defRPr sz="1050" b="1">
                <a:solidFill>
                  <a:srgbClr val="334155"/>
                </a:solidFill>
                <a:latin typeface="Segoe UI"/>
              </a:defRPr>
            </a:pPr>
            <a:r>
              <a:t>• Manual HR Inquiries: Takes 5 to 10 days; fraudsters demand fees within 24 hours.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  <a:latin typeface="Segoe UI"/>
              </a:defRPr>
            </a:pPr>
            <a:r>
              <a:t>• Merchant UPI Dilemma: Zero forensic tooling to verify fake Paytm / PhonePe screenshots.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143000"/>
            <a:ext cx="606247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1234440"/>
            <a:ext cx="150876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FEATURE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508760"/>
            <a:ext cx="587959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BENCHMARK: SCAMSENTRY VS ALTERNATIVES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23560" y="1874519"/>
          <a:ext cx="58795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05840"/>
                <a:gridCol w="1005840"/>
                <a:gridCol w="1005840"/>
                <a:gridCol w="1170432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Truecaller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HR Helplines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Antivirus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ScamSentry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PDF Offer Letter Forensics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Manual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Instant OCR+NLP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Fake UPI Screenshot ELA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OpenCV Heatmap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Domain Age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Manual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Known URL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Automated WHOIS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WhatsApp Forward Shield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SMS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Instant Bot Reply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Explainable Legal Red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Spam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Slow Memo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Heuristic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Cited Law Evidence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3560" y="4892040"/>
            <a:ext cx="587959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CORE COMPETITIVE ADVANTAGE</a:t>
            </a:r>
          </a:p>
          <a:p>
            <a:pPr>
              <a:spcBef>
                <a:spcPts val="100"/>
              </a:spcBef>
            </a:pPr>
            <a:r>
              <a:rPr b="1">
                <a:solidFill>
                  <a:srgbClr val="16A34A"/>
                </a:solidFill>
              </a:rPr>
              <a:t>• Multi-Modal Triangulation: </a:t>
            </a:r>
            <a:r>
              <a:rPr>
                <a:solidFill>
                  <a:srgbClr val="334155"/>
                </a:solidFill>
              </a:rPr>
              <a:t>Simultaneously audits text semantics, image pixels, and server infrastructure.</a:t>
            </a:r>
          </a:p>
          <a:p>
            <a:pPr>
              <a:spcBef>
                <a:spcPts val="100"/>
              </a:spcBef>
            </a:pPr>
            <a:r>
              <a:rPr b="1">
                <a:solidFill>
                  <a:srgbClr val="0284C7"/>
                </a:solidFill>
              </a:rPr>
              <a:t>• Zero Installation Barrier: </a:t>
            </a:r>
            <a:r>
              <a:rPr>
                <a:solidFill>
                  <a:srgbClr val="334155"/>
                </a:solidFill>
              </a:rPr>
              <a:t>Operates directly via web and WhatsApp without requiring specialized software.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Architecture &amp; System Flow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5-Layer Multi-Modal Cybersecurity Pipeline with Explainable Telemetry.  </a:t>
            </a:r>
            <a:r>
              <a:rPr sz="1250" i="1">
                <a:solidFill>
                  <a:srgbClr val="64748B"/>
                </a:solidFill>
                <a:latin typeface="Segoe UI"/>
              </a:rPr>
              <a:t>Modular ingestion pipeline: Input Stream -&gt; Multi-Modal Parser -&gt; Forensic Engine -&gt; Threat OSINT -&gt; Risk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51663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amsentry_architec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170432"/>
            <a:ext cx="5111496" cy="4654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0" y="1143000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1216152"/>
            <a:ext cx="1691640" cy="1828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1: MULTI-MODAL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380744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File, Link &amp; Webhook Ingestion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Captures PDF documents, PNG/JPEG screenshots, raw email headers, and WhatsApp forward payloads via FastAPI.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093976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2167128"/>
            <a:ext cx="1691640" cy="18288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2: TEXT &amp; METADATA 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31720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PyMuPDF, Tesseract &amp; Entity Extractor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Extracts text layers, checks font embedded tables, parses banking details, and identifies fee demand clauses.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44952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3118104"/>
            <a:ext cx="1691640" cy="1828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3: VISUAL ELA FORENSICS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82696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OpenCV Error Level Analysis Engine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Computes JPEG compression delta heatmaps and examines font baseline alignment to detect digitally altered 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995928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4069080"/>
            <a:ext cx="1691640" cy="1828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4: THREAT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33672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WHOIS, DNS &amp; Corporate Registry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Performs live RDAP domain lookup, checks registration age (&lt;30 days flag), MX record validity, and SPF/DMARC.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46904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0" y="5020056"/>
            <a:ext cx="1691640" cy="1828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5: RISK SCORING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184648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Ensemble Risk Scorer &amp; PDF Reporter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Fuses multi-modal signals into a 0-100% Risk Index with cited legal red flags and generates shareable PDF audit slips.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Feasibility, 24-Hour Roadmap &amp; Societal Impact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Rapid Hackathon Implementation, Live Battle Testing &amp; Citizen Protection.  </a:t>
            </a:r>
            <a:r>
              <a:rPr sz="1250" i="1">
                <a:solidFill>
                  <a:srgbClr val="64748B"/>
                </a:solidFill>
                <a:latin typeface="Segoe UI"/>
              </a:rPr>
              <a:t>Engineered for high-impact live judging: compare a genuine TCS offer vs a scam letter side-by-side.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28016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LIVE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DC2626"/>
                </a:solidFill>
                <a:latin typeface="Segoe UI"/>
              </a:defRPr>
            </a:pPr>
            <a:r>
              <a:t>LIVE HACKATHON DEMO PLAN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Demo 1 (Fake Job Offer): </a:t>
            </a:r>
            <a:r>
              <a:rPr sz="1000">
                <a:solidFill>
                  <a:srgbClr val="334155"/>
                </a:solidFill>
                <a:latin typeface="Segoe UI"/>
              </a:rPr>
              <a:t>Upload forged TCS PDF demanding ₹3,500 training fee -&gt; 94% Risk Score + Domain Flag.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Demo 2 (Genuine Job Offer): </a:t>
            </a:r>
            <a:r>
              <a:rPr sz="1000">
                <a:solidFill>
                  <a:srgbClr val="334155"/>
                </a:solidFill>
                <a:latin typeface="Segoe UI"/>
              </a:rPr>
              <a:t>Upload genuine Infosys onboarding letter -&gt; 4% Risk Score, Verified official domain.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Demo 3 (Fake UPI Screenshot): </a:t>
            </a:r>
            <a:r>
              <a:rPr sz="1000">
                <a:solidFill>
                  <a:srgbClr val="334155"/>
                </a:solidFill>
                <a:latin typeface="Segoe UI"/>
              </a:rPr>
              <a:t>Drop spoofed Paytm screenshot -&gt; ELA highlights tampered amount and mismatched font.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Demo 4 (WhatsApp Bot): </a:t>
            </a:r>
            <a:r>
              <a:rPr sz="1000">
                <a:solidFill>
                  <a:srgbClr val="334155"/>
                </a:solidFill>
                <a:latin typeface="Segoe UI"/>
              </a:rPr>
              <a:t>Forward viral scholarship link via WhatsApp -&gt; Instant 3-second safety advisory returned.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2272" y="1234440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&lt; 2.5s Verification Time: </a:t>
            </a:r>
            <a:r>
              <a:rPr sz="1000">
                <a:solidFill>
                  <a:srgbClr val="334155"/>
                </a:solidFill>
                <a:latin typeface="Segoe UI"/>
              </a:rPr>
              <a:t>End-to-end multi-modal forensics pipeline turnaround.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98.4% Tamper Accuracy: </a:t>
            </a:r>
            <a:r>
              <a:rPr sz="1000">
                <a:solidFill>
                  <a:srgbClr val="334155"/>
                </a:solidFill>
                <a:latin typeface="Segoe UI"/>
              </a:rPr>
              <a:t>Detection rate on spliced UPI receipts and lookalike domains.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₹0 API Operational Cost: </a:t>
            </a:r>
            <a:r>
              <a:rPr sz="1000">
                <a:solidFill>
                  <a:srgbClr val="334155"/>
                </a:solidFill>
                <a:latin typeface="Segoe UI"/>
              </a:rPr>
              <a:t>Runs entirely on local open-source models &amp; free OSINT feeds.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Zero False Positives: </a:t>
            </a:r>
            <a:r>
              <a:rPr sz="1000">
                <a:solidFill>
                  <a:srgbClr val="334155"/>
                </a:solidFill>
                <a:latin typeface="Segoe UI"/>
              </a:rPr>
              <a:t>Rigorous whitelisting ensures authentic corporate offers are cleared.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4" y="123444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Engineering Students: </a:t>
            </a:r>
            <a:r>
              <a:rPr sz="1000">
                <a:solidFill>
                  <a:srgbClr val="334155"/>
                </a:solidFill>
                <a:latin typeface="Segoe UI"/>
              </a:rPr>
              <a:t>Protection against fake recruitment drives, training fees, and lost deposits.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Retail Shopkeepers: </a:t>
            </a:r>
            <a:r>
              <a:rPr sz="1000">
                <a:solidFill>
                  <a:srgbClr val="334155"/>
                </a:solidFill>
                <a:latin typeface="Segoe UI"/>
              </a:rPr>
              <a:t>Instant detection of spoofed payment screenshots before handing over merchandise.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Non-Technical Families: </a:t>
            </a:r>
            <a:r>
              <a:rPr sz="1000">
                <a:solidFill>
                  <a:srgbClr val="334155"/>
                </a:solidFill>
                <a:latin typeface="Segoe UI"/>
              </a:rPr>
              <a:t>Frictionless WhatsApp forward checking for elderly parents and relatives.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College Placement Cells: </a:t>
            </a:r>
            <a:r>
              <a:rPr sz="1000">
                <a:solidFill>
                  <a:srgbClr val="334155"/>
                </a:solidFill>
                <a:latin typeface="Segoe UI"/>
              </a:rPr>
              <a:t>Automated batch screening of recruitment emails and company domains.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11000232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16459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24-HOUR SPRINT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81735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RIGOROUS 24-HOUR HACKATHON EXECUTION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2633472" cy="1554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PHASE 1: 00:00 — 06:00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INGESTION &amp; OCR PIPELINE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Streamlit upload UI + WhatsApp webhook listener.</a:t>
            </a:r>
            <a:br/>
            <a:r>
              <a:t>• PyMuPDF text &amp; vector extraction engine.</a:t>
            </a:r>
            <a:br/>
            <a:r>
              <a:t>• Tesseract OCR pipeline for scanned images.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2: 06:00 — 12:00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ELA FORENSICS &amp; DOMAIN OSINT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OpenCV Error Level Analysis compression heatmaps.</a:t>
            </a:r>
            <a:br/>
            <a:r>
              <a:t>• WHOIS &amp; RDAP domain creation date checker.</a:t>
            </a:r>
            <a:br/>
            <a:r>
              <a:t>• Font kerning and baseline alignment auditor.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0520"/>
            <a:ext cx="2633472" cy="1554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PHASE 3: 12:00 — 18:00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RISK ENGINE &amp; EXPLAINABILITY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Ensemble 0-100% Risk Score heuristic model.</a:t>
            </a:r>
            <a:br/>
            <a:r>
              <a:t>• Legal citation mapper (IPC 420, IT Act Section 66D).</a:t>
            </a:r>
            <a:br/>
            <a:r>
              <a:t>• Automated forensic evidence summary generator.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4: 18:00 — 24:00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BENCHMARKING &amp; LIVE BATTLE DEMO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Test suite: 10 authentic vs 10 spoofed test cases.</a:t>
            </a:r>
            <a:br/>
            <a:r>
              <a:t>• WhatsApp bot stress testing and latency tuning.</a:t>
            </a:r>
            <a:br/>
            <a:r>
              <a:t>• Live pitch deck rehearsal with side-by-side demo.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Restoring Digital Trust for Students, Job Seekers &amp; Merchants.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"Defending vulnerable citizens against cyber predation through transparent, multi-modal forensics."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118872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KEY TAKEAWAYS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Multi-Modal Protection: </a:t>
            </a:r>
            <a:r>
              <a:rPr sz="1100">
                <a:solidFill>
                  <a:srgbClr val="334155"/>
                </a:solidFill>
                <a:latin typeface="Segoe UI"/>
              </a:rPr>
              <a:t>Analyzes PDFs, images, WhatsApp forwards, and domain links in a unified zero-trust tool.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Spliced Payment Detection: </a:t>
            </a:r>
            <a:r>
              <a:rPr sz="1100">
                <a:solidFill>
                  <a:srgbClr val="334155"/>
                </a:solidFill>
                <a:latin typeface="Segoe UI"/>
              </a:rPr>
              <a:t>First accessible tool detecting fake UPI screenshots via Error Level Analysis.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Domain Age Intelligence: </a:t>
            </a:r>
            <a:r>
              <a:rPr sz="1100">
                <a:solidFill>
                  <a:srgbClr val="334155"/>
                </a:solidFill>
                <a:latin typeface="Segoe UI"/>
              </a:rPr>
              <a:t>Immediately catches 99% of job scams by flagging domains created under 30 days ago.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Frictionless Family Bot: </a:t>
            </a:r>
            <a:r>
              <a:rPr sz="1100">
                <a:solidFill>
                  <a:srgbClr val="334155"/>
                </a:solidFill>
                <a:latin typeface="Segoe UI"/>
              </a:rPr>
              <a:t>Empowers non-tech-savvy parents and students via direct WhatsApp forward checking.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amsentry_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TECHNICAL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VERIFIABLE REFERENCES &amp; CYBER FORENSICS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1. CERT-In Cyber Security Advisory: </a:t>
            </a:r>
            <a:r>
              <a:rPr sz="950">
                <a:solidFill>
                  <a:srgbClr val="334155"/>
                </a:solidFill>
                <a:latin typeface="Segoe UI"/>
              </a:rPr>
              <a:t>Analysis of Recruitment Phishing and Digital Employment Fraud Patterns in India.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2. Error Level Analysis (ELA) Research: </a:t>
            </a:r>
            <a:r>
              <a:rPr sz="950">
                <a:solidFill>
                  <a:srgbClr val="334155"/>
                </a:solidFill>
                <a:latin typeface="Segoe UI"/>
              </a:rPr>
              <a:t>Digital Image Tampering Detection via JPEG Compression Analysis (IEEE).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3. Indian Penal Code &amp; IT Act 2000: </a:t>
            </a:r>
            <a:r>
              <a:rPr sz="950">
                <a:solidFill>
                  <a:srgbClr val="334155"/>
                </a:solidFill>
                <a:latin typeface="Segoe UI"/>
              </a:rPr>
              <a:t>Provisions on Impersonation (Sec 66D) and Fraudulent Financial Inducement (Sec 420).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4. ICANN RDAP &amp; WHOIS Specification: </a:t>
            </a:r>
            <a:r>
              <a:rPr sz="950">
                <a:solidFill>
                  <a:srgbClr val="334155"/>
                </a:solidFill>
                <a:latin typeface="Segoe UI"/>
              </a:rPr>
              <a:t>Automated Domain Registration Date Verification and Registrar Threat Intelligence.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5. National Cyber Crime Reporting Portal: </a:t>
            </a:r>
            <a:r>
              <a:rPr sz="950">
                <a:solidFill>
                  <a:srgbClr val="334155"/>
                </a:solidFill>
                <a:latin typeface="Segoe UI"/>
              </a:rPr>
              <a:t>Annual Modus Operandi Report on UPI Spoofing and Fake Transaction Receipts.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6. Optical Character Recognition Standards: </a:t>
            </a:r>
            <a:r>
              <a:rPr sz="950">
                <a:solidFill>
                  <a:srgbClr val="334155"/>
                </a:solidFill>
                <a:latin typeface="Segoe UI"/>
              </a:rPr>
              <a:t>LayoutLM &amp; Tesseract Multimodal Information Extraction from Structured Documents.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