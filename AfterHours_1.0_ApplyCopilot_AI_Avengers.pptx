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914400" y="2331720"/>
            <a:ext cx="10360152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50" b="1">
                <a:solidFill>
                  <a:srgbClr val="EA580C"/>
                </a:solidFill>
                <a:latin typeface="Segoe UI"/>
              </a:defRPr>
            </a:pPr>
            <a:r>
              <a:t>THEME 01: AGENTIC AI &amp; MULTI-AGENT SYSTEMS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APPLYCOPILOT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0284C7"/>
                </a:solidFill>
                <a:latin typeface="Segoe UI"/>
              </a:defRPr>
            </a:pPr>
            <a:r>
              <a:t>Voice-Steered Autonomous Web Agent with 5 Specialized Execution Protocols</a:t>
            </a:r>
          </a:p>
          <a:p>
            <a:pPr algn="ctr">
              <a:spcBef>
                <a:spcPts val="200"/>
              </a:spcBef>
              <a:defRPr sz="1300" i="1">
                <a:solidFill>
                  <a:srgbClr val="64748B"/>
                </a:solidFill>
                <a:latin typeface="Segoe UI"/>
              </a:defRPr>
            </a:pPr>
            <a:r>
              <a:t>"Speak your intent. Watch Jarvis navigate, reason, and execute — across transit rushes, civic portals, fraud defense, and anti-dark-pattern checkouts."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371600" y="4160520"/>
            <a:ext cx="438912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Team Name: AI Avengers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Track: Theme 01: Agentic AI &amp; Multi-Agent Systems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t>Don Bosco Institute of Technology (DBIT)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400800" y="4160520"/>
            <a:ext cx="457200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MEMBERS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Raj Aanada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Yashma C P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Likith M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Yashwanth K 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The Universal Web Friction &amp; The 5 Critical Digital Failure Vectors.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From frantic 90-second ticket rushes to rejected 20KB documents and predatory dark-pattern fees.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234440"/>
            <a:ext cx="13716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HIGH-STRESS RUSHES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50876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TRANSIT PANIC &amp; REPETITIVE FORMS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Transit Rush Panic: </a:t>
            </a:r>
            <a:r>
              <a:rPr sz="1100">
                <a:solidFill>
                  <a:srgbClr val="334155"/>
                </a:solidFill>
                <a:latin typeface="Segoe UI"/>
              </a:rPr>
              <a:t>Peak KSRTC and Tatkal train seats vanish in &lt; 90 seconds due to slow manual field entry.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Multi-Portal Burnout: </a:t>
            </a:r>
            <a:r>
              <a:rPr sz="1100">
                <a:solidFill>
                  <a:srgbClr val="334155"/>
                </a:solidFill>
                <a:latin typeface="Segoe UI"/>
              </a:rPr>
              <a:t>Re-entering identical credentials, marks, &amp; addresses across 20+ fragmented portals.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Bespoke Essay Exhaustion: </a:t>
            </a:r>
            <a:r>
              <a:rPr sz="1100">
                <a:solidFill>
                  <a:srgbClr val="334155"/>
                </a:solidFill>
                <a:latin typeface="Segoe UI"/>
              </a:rPr>
              <a:t>Drafting custom statements of purpose for scholarships under tight deadlines.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13716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HIDDEN TRAPS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REJECTED DOCS &amp; SNEAKY FEES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Impossible Upload Constraints: </a:t>
            </a:r>
            <a:r>
              <a:rPr sz="1100">
                <a:solidFill>
                  <a:srgbClr val="334155"/>
                </a:solidFill>
                <a:latin typeface="Segoe UI"/>
              </a:rPr>
              <a:t>Portals demand photos strictly between 20KB-50KB and 3.5x4.5cm, causing rejection loops.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Deceptive Dark Patterns: </a:t>
            </a:r>
            <a:r>
              <a:rPr sz="1100">
                <a:solidFill>
                  <a:srgbClr val="334155"/>
                </a:solidFill>
                <a:latin typeface="Segoe UI"/>
              </a:rPr>
              <a:t>Sneaky pre-checked ₹199 insurance and auto-added convenience fees inflate totals.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Civic &amp; Vernacular Exclusion: </a:t>
            </a:r>
            <a:r>
              <a:rPr sz="1100">
                <a:solidFill>
                  <a:srgbClr val="334155"/>
                </a:solidFill>
                <a:latin typeface="Segoe UI"/>
              </a:rPr>
              <a:t>Elderly and regional language citizens cannot navigate multi-step government SPAs.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1234440"/>
            <a:ext cx="128016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BOT 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150876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Segoe UI"/>
              </a:defRPr>
            </a:pPr>
            <a:r>
              <a:t>WHY EXISTING TOOLS FAIL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Voice Assistants Can't Click: </a:t>
            </a:r>
            <a:r>
              <a:rPr sz="1100">
                <a:solidFill>
                  <a:srgbClr val="334155"/>
                </a:solidFill>
                <a:latin typeface="Segoe UI"/>
              </a:rPr>
              <a:t>Siri and Alexa only answer questions; they cannot browse websites, select seats, or type.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Chrome Autofill Collapses: </a:t>
            </a:r>
            <a:r>
              <a:rPr sz="1100">
                <a:solidFill>
                  <a:srgbClr val="334155"/>
                </a:solidFill>
                <a:latin typeface="Segoe UI"/>
              </a:rPr>
              <a:t>Blind key-value dumps fail on dynamic seat grids, dates, and strict file upload rules.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Scrapers Get Banned: </a:t>
            </a:r>
            <a:r>
              <a:rPr sz="1100">
                <a:solidFill>
                  <a:srgbClr val="334155"/>
                </a:solidFill>
                <a:latin typeface="Segoe UI"/>
              </a:rPr>
              <a:t>Headless bots trigger Cloudflare 403 blocks and have zero safety bridge for CAPTCHAs or UPI.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352044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3611880"/>
            <a:ext cx="1280160" cy="219456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EMPIRICAL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88620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THE SCALE OF DIGITAL FRICTION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$100M+ Unclaimed Aid: </a:t>
            </a:r>
            <a:r>
              <a:rPr sz="1100">
                <a:solidFill>
                  <a:srgbClr val="334155"/>
                </a:solidFill>
                <a:latin typeface="Segoe UI"/>
              </a:rPr>
              <a:t>Scholarships, grants, and subsidies abandoned annually due to portal paperwork exhaustion.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&lt; 2.5 Min Sell-out Window: </a:t>
            </a:r>
            <a:r>
              <a:rPr sz="1100">
                <a:solidFill>
                  <a:srgbClr val="334155"/>
                </a:solidFill>
                <a:latin typeface="Segoe UI"/>
              </a:rPr>
              <a:t>Peak transit reservations expire before manual form completion can finish.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₹1,200 Cr Dark-Pattern Drain: </a:t>
            </a:r>
            <a:r>
              <a:rPr sz="1100">
                <a:solidFill>
                  <a:srgbClr val="334155"/>
                </a:solidFill>
                <a:latin typeface="Segoe UI"/>
              </a:rPr>
              <a:t>Lost annually by consumers to deceptive pre-selected add-ons and hidden surge fees.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143000"/>
            <a:ext cx="3291840" cy="10972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188720"/>
            <a:ext cx="31089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DC2626"/>
                </a:solidFill>
                <a:latin typeface="Segoe UI"/>
              </a:defRPr>
            </a:pPr>
            <a:r>
              <a:t>&lt; 90 SEC SELLOUT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Window before peak KSRTC/Tatkal seats sell out; manual typing fails under rush pressure.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331720"/>
            <a:ext cx="3291840" cy="1097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377440"/>
            <a:ext cx="31089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C2410C"/>
                </a:solidFill>
                <a:latin typeface="Segoe UI"/>
              </a:defRPr>
            </a:pPr>
            <a:r>
              <a:t>38% REJECTION RATE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Government job &amp; exam applicants blocked by rigid 20KB-50KB image upload limits.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520440"/>
            <a:ext cx="3291840" cy="10972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566160"/>
            <a:ext cx="3108960" cy="960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Segoe UI"/>
              </a:defRPr>
            </a:pPr>
            <a:r>
              <a:t>₹350+ SNEAKY FEES</a:t>
            </a:r>
          </a:p>
          <a:p>
            <a:pPr>
              <a:spcBef>
                <a:spcPts val="1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Hidden insurance &amp; convenience surcharges auto-checked during online ticketing checkouts.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4709160"/>
            <a:ext cx="329184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754880"/>
            <a:ext cx="3108960" cy="960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FB923C"/>
                </a:solidFill>
                <a:latin typeface="Segoe UI"/>
              </a:defRPr>
            </a:pPr>
            <a:r>
              <a:t>CONVERSATIONAL EXECUTION FLOW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  <a:latin typeface="Segoe UI"/>
              </a:defRPr>
            </a:pPr>
            <a:r>
              <a:t>Voice Intent → Vault Match → Protocol Reason → HITL Gate → Exec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Segoe UI"/>
              </a:defRPr>
            </a:pPr>
            <a:r>
              <a:t>Speak your goal. Swarm navigates live, pausing for payment approval.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Core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ApplyCopilot: Autonomous Voice Engine Orchestrating 5 Core Protocols.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"Speak naturally. Jarvis dynamically engages the target protocol — from high-speed transit checkout to anti-dark-pattern sanitization."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44348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3716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JARVIS WEB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08760"/>
            <a:ext cx="425196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WHAT ARE WE PROPOSING?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Conversational Voice Steering: </a:t>
            </a:r>
            <a:r>
              <a:rPr sz="1100">
                <a:solidFill>
                  <a:srgbClr val="334155"/>
                </a:solidFill>
                <a:latin typeface="Segoe UI"/>
              </a:rPr>
              <a:t>Sub-250ms voice assistant transforms natural speech into structured browser actions.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5 Specialized Execution Protocols: </a:t>
            </a:r>
            <a:r>
              <a:rPr sz="1100">
                <a:solidFill>
                  <a:srgbClr val="334155"/>
                </a:solidFill>
                <a:latin typeface="Segoe UI"/>
              </a:rPr>
              <a:t>Dynamic task dispatch across transit booking, civic aid, document surgery, dark-patterns &amp; fraud.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Air-Gapped Human Gate: </a:t>
            </a:r>
            <a:r>
              <a:rPr sz="1100">
                <a:solidFill>
                  <a:srgbClr val="334155"/>
                </a:solidFill>
                <a:latin typeface="Segoe UI"/>
              </a:rPr>
              <a:t>Mirrored viewport streams live clicks; auto-pauses for UPI payment &amp; CAPTCHA clearance.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143000"/>
            <a:ext cx="642823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ycopilot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1170432"/>
            <a:ext cx="6373368" cy="218541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94360" y="3520440"/>
            <a:ext cx="2112264" cy="2423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1929384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SPEED &amp; SEATS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858768"/>
            <a:ext cx="196596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1. Transit Rush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Sub-250ms Grid Parser: </a:t>
            </a:r>
            <a:r>
              <a:rPr sz="850">
                <a:solidFill>
                  <a:srgbClr val="334155"/>
                </a:solidFill>
                <a:latin typeface="Segoe UI"/>
              </a:rPr>
              <a:t>Instantly identifies vacant sleeper/window berths on KSRTC &amp; IRCTC.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Passenger Vault Auto-Fill: </a:t>
            </a:r>
            <a:r>
              <a:rPr sz="850">
                <a:solidFill>
                  <a:srgbClr val="334155"/>
                </a:solidFill>
                <a:latin typeface="Segoe UI"/>
              </a:rPr>
              <a:t>Injects names, age, and ID proofs to beat the 90-sec sellout window.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Direct-to-Checkout: </a:t>
            </a:r>
            <a:r>
              <a:rPr sz="850">
                <a:solidFill>
                  <a:srgbClr val="334155"/>
                </a:solidFill>
                <a:latin typeface="Segoe UI"/>
              </a:rPr>
              <a:t>Bypasses promo pages straight to payment terminal.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3520440"/>
            <a:ext cx="2112264" cy="24231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07792" y="3611880"/>
            <a:ext cx="1929384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CIVIC &amp; SCHOLAR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3858768"/>
            <a:ext cx="196596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2. Civic Helper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Vernacular Navigation: </a:t>
            </a:r>
            <a:r>
              <a:rPr sz="850">
                <a:solidFill>
                  <a:srgbClr val="334155"/>
                </a:solidFill>
                <a:latin typeface="Segoe UI"/>
              </a:rPr>
              <a:t>Voice assistance in Kannada, Hindi &amp; English for Seva Sindhu &amp; Parivahan.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Grounded Essay RAG: </a:t>
            </a:r>
            <a:r>
              <a:rPr sz="850">
                <a:solidFill>
                  <a:srgbClr val="334155"/>
                </a:solidFill>
                <a:latin typeface="Segoe UI"/>
              </a:rPr>
              <a:t>Synthesizes tailored scholarship motivation letters from stored achievements.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Elderly Inclusion: </a:t>
            </a:r>
            <a:r>
              <a:rPr sz="850">
                <a:solidFill>
                  <a:srgbClr val="334155"/>
                </a:solidFill>
                <a:latin typeface="Segoe UI"/>
              </a:rPr>
              <a:t>Hands-free completion of complex multi-step government forms.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4" y="3520440"/>
            <a:ext cx="2112264" cy="2423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9784" y="3611880"/>
            <a:ext cx="1929384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ZERO-TRUST SHIELD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3858768"/>
            <a:ext cx="196596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3. Fraud Sentinel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Domain Provenance: </a:t>
            </a:r>
            <a:r>
              <a:rPr sz="850">
                <a:solidFill>
                  <a:srgbClr val="334155"/>
                </a:solidFill>
                <a:latin typeface="Segoe UI"/>
              </a:rPr>
              <a:t>Audits registration age &amp; SSL against phishing lookalikes (&lt;30 days flag).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Air-Gapped Payment Gate: </a:t>
            </a:r>
            <a:r>
              <a:rPr sz="850">
                <a:solidFill>
                  <a:srgbClr val="334155"/>
                </a:solidFill>
                <a:latin typeface="Segoe UI"/>
              </a:rPr>
              <a:t>State machine freezes DOM on checkout/UPI; never charges blindly.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Human-in-the-Loop: </a:t>
            </a:r>
            <a:r>
              <a:rPr sz="850">
                <a:solidFill>
                  <a:srgbClr val="334155"/>
                </a:solidFill>
                <a:latin typeface="Segoe UI"/>
              </a:rPr>
              <a:t>Mandatory user authorization for UPI PIN, OTP, &amp; submission.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3520440"/>
            <a:ext cx="2112264" cy="242316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51776" y="3611880"/>
            <a:ext cx="1929384" cy="201168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IN-FLIGHT SURGERY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3858768"/>
            <a:ext cx="196596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Segoe UI"/>
              </a:defRPr>
            </a:pPr>
            <a:r>
              <a:t>4. Document Exorcist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20KB-50KB Auto-Fixer: </a:t>
            </a:r>
            <a:r>
              <a:rPr sz="850">
                <a:solidFill>
                  <a:srgbClr val="334155"/>
                </a:solidFill>
                <a:latin typeface="Segoe UI"/>
              </a:rPr>
              <a:t>Detects strict portal upload constraints in DOM validation attributes.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In-Memory Optimization: </a:t>
            </a:r>
            <a:r>
              <a:rPr sz="850">
                <a:solidFill>
                  <a:srgbClr val="334155"/>
                </a:solidFill>
                <a:latin typeface="Segoe UI"/>
              </a:rPr>
              <a:t>Auto-crops to 3.5x4.5cm, sets 200 DPI, and compresses 2MB files to 38KB.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Zero Image Software: </a:t>
            </a:r>
            <a:r>
              <a:rPr sz="850">
                <a:solidFill>
                  <a:srgbClr val="334155"/>
                </a:solidFill>
                <a:latin typeface="Segoe UI"/>
              </a:rPr>
              <a:t>Bypasses upload errors without touching MS Paint or Photoshop.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82328" y="3520440"/>
            <a:ext cx="2112264" cy="2423160"/>
          </a:xfrm>
          <a:prstGeom prst="roundRect">
            <a:avLst/>
          </a:prstGeom>
          <a:solidFill>
            <a:srgbClr val="ECFEFF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3768" y="3611880"/>
            <a:ext cx="1929384" cy="20116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CONSUMER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858768"/>
            <a:ext cx="1965960" cy="2011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5. Anti-Dark-Pattern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Hidden Fee Stripper: </a:t>
            </a:r>
            <a:r>
              <a:rPr sz="850">
                <a:solidFill>
                  <a:srgbClr val="334155"/>
                </a:solidFill>
                <a:latin typeface="Segoe UI"/>
              </a:rPr>
              <a:t>Programmatically unchecks sneaky ₹199 insurance and donation add-ons.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Dynamic Pricing Guard: </a:t>
            </a:r>
            <a:r>
              <a:rPr sz="850">
                <a:solidFill>
                  <a:srgbClr val="334155"/>
                </a:solidFill>
                <a:latin typeface="Segoe UI"/>
              </a:rPr>
              <a:t>Rotates incognito sessions &amp; headers to neutralize cookie-based surge fees.</a:t>
            </a:r>
          </a:p>
          <a:p>
            <a:pPr>
              <a:spcBef>
                <a:spcPts val="150"/>
              </a:spcBef>
            </a:pPr>
            <a:r>
              <a:rPr sz="850" b="1">
                <a:solidFill>
                  <a:srgbClr val="0F172A"/>
                </a:solidFill>
                <a:latin typeface="Segoe UI"/>
              </a:rPr>
              <a:t>• Clean Checkout Total: </a:t>
            </a:r>
            <a:r>
              <a:rPr sz="850">
                <a:solidFill>
                  <a:srgbClr val="334155"/>
                </a:solidFill>
                <a:latin typeface="Segoe UI"/>
              </a:rPr>
              <a:t>Ensures users pay true minimum base fares across booking portals.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Why Voice Assistants and Autofill Extensions Fail on the Modern Web.  </a:t>
            </a:r>
            <a:r>
              <a:rPr sz="1250" i="1">
                <a:solidFill>
                  <a:srgbClr val="64748B"/>
                </a:solidFill>
                <a:latin typeface="Segoe UI"/>
              </a:rPr>
              <a:t>How ApplyCopilot's 5 protocols bridge conversational steering with real-world browser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234440"/>
            <a:ext cx="150876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LEGACY TOOL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EXISTING TOOLS &amp; CRITICAL BREAKDOWNS</a:t>
            </a:r>
          </a:p>
        </p:txBody>
      </p:sp>
      <p:pic>
        <p:nvPicPr>
          <p:cNvPr id="17" name="Picture 16" descr="applycopilot_failure_mod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443484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434840"/>
            <a:ext cx="443484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Voice Assistants (Siri/Alexa): Conversational toys; zero DOM clicking or seat selection.</a:t>
            </a:r>
          </a:p>
          <a:p>
            <a:pPr>
              <a:spcBef>
                <a:spcPts val="200"/>
              </a:spcBef>
              <a:defRPr sz="1050" b="1">
                <a:solidFill>
                  <a:srgbClr val="334155"/>
                </a:solidFill>
                <a:latin typeface="Segoe UI"/>
              </a:defRPr>
            </a:pPr>
            <a:r>
              <a:t>• Chrome Autofill: Rigid text dump; crashes on dynamic seat grids, calendars, &amp; strict upload rules.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  <a:latin typeface="Segoe UI"/>
              </a:defRPr>
            </a:pPr>
            <a:r>
              <a:t>• Headless Bots: Trigger Cloudflare 403 blocks; zero handling for UPI/OTPs or dark-pattern fees.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143000"/>
            <a:ext cx="606247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1234440"/>
            <a:ext cx="150876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COMPETITIVE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508760"/>
            <a:ext cx="587959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BENCHMARK: APPLYCOPILOT VS ALTERNATIVES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23560" y="1874519"/>
          <a:ext cx="58795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60120"/>
                <a:gridCol w="914400"/>
                <a:gridCol w="1170432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 Core Capabilities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Siri / Alexa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Autofill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ApplyCopilot</a:t>
                      </a:r>
                    </a:p>
                  </a:txBody>
                  <a:tcPr>
                    <a:solidFill>
                      <a:srgbClr val="EA580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Transit Rush &amp; Dynamic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Blind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✓ Automated Grids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Civic Forms &amp; Essay RAG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Blind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Rigid Dump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Hallucinates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✓ Grounded RAG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Document Exorcist (20-50KB)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Upload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✓ In-Flight Surgery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Anti-Dark-Pattern Fee Stripper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Pays Extra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✓ Auto-Unchecks Fees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Zero-Trust Fraud &amp; UPI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Blind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✓ Air-Gapped UPI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3560" y="4892040"/>
            <a:ext cx="5879592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Segoe UI"/>
              </a:defRPr>
            </a:pPr>
            <a:r>
              <a:t>OUR UNFAIR ADVANTAGE:</a:t>
            </a:r>
          </a:p>
          <a:p>
            <a:pPr>
              <a:spcBef>
                <a:spcPts val="1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ApplyCopilot unites conversational voice AI with 5 specialized browser execution protocols. It solves high-stress booking rushes, tedious government forms, strict document limits, and predatory dark patterns while guaranteeing 100% human payment sovereignty.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Approach &amp; Feasibility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Voice Pipeline, Multi-Agent Swarm, Stealth Browser, and 24h Scope.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Sub-second conversational voice loop backed by Playwright and free-tier LLM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5943600" cy="4709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pplycopilot_architec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170432"/>
            <a:ext cx="5888736" cy="4654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720840" y="1143000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1234440"/>
            <a:ext cx="16916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MULTI-AGENT SWARM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508760"/>
            <a:ext cx="470916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5 SPECIALIZED PROTOCOL WORKERS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Transit Worker: </a:t>
            </a:r>
            <a:r>
              <a:rPr sz="950">
                <a:solidFill>
                  <a:srgbClr val="334155"/>
                </a:solidFill>
                <a:latin typeface="Segoe UI"/>
              </a:rPr>
              <a:t>Extracts web accessibility trees to parse dynamic seat grids &amp; calendars.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Civic &amp; Scholar Worker: </a:t>
            </a:r>
            <a:r>
              <a:rPr sz="950">
                <a:solidFill>
                  <a:srgbClr val="334155"/>
                </a:solidFill>
                <a:latin typeface="Segoe UI"/>
              </a:rPr>
              <a:t>RAG embedding reasoner generating grounded motivation essays from vault.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Document Exorcist Worker: </a:t>
            </a:r>
            <a:r>
              <a:rPr sz="950">
                <a:solidFill>
                  <a:srgbClr val="334155"/>
                </a:solidFill>
                <a:latin typeface="Segoe UI"/>
              </a:rPr>
              <a:t>In-memory Pillow/Wasm image resizer and PDF byte sanitizer (20KB-50KB).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Anti-Dark-Pattern Worker: </a:t>
            </a:r>
            <a:r>
              <a:rPr sz="950">
                <a:solidFill>
                  <a:srgbClr val="334155"/>
                </a:solidFill>
                <a:latin typeface="Segoe UI"/>
              </a:rPr>
              <a:t>DOM selector heuristics detecting and unchecking hidden fees &amp; insurance.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743200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2834640"/>
            <a:ext cx="1691640" cy="21945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STEALTH ENGINE &amp; FRAUD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108960"/>
            <a:ext cx="470916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STEALTH RUNTIME &amp; AIR-GAPPED GATEWAY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Playwright-Stealth: </a:t>
            </a:r>
            <a:r>
              <a:rPr sz="950">
                <a:solidFill>
                  <a:srgbClr val="334155"/>
                </a:solidFill>
                <a:latin typeface="Segoe UI"/>
              </a:rPr>
              <a:t>Masks navigator.webdriver, WebGL fingerprints, and browser headers against bot-detection.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Live Screencast Stream: </a:t>
            </a:r>
            <a:r>
              <a:rPr sz="950">
                <a:solidFill>
                  <a:srgbClr val="334155"/>
                </a:solidFill>
                <a:latin typeface="Segoe UI"/>
              </a:rPr>
              <a:t>Streams CDP viewport frames via WebSockets directly to the web dashboard.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Payment Interrupt Gate: </a:t>
            </a:r>
            <a:r>
              <a:rPr sz="950">
                <a:solidFill>
                  <a:srgbClr val="334155"/>
                </a:solidFill>
                <a:latin typeface="Segoe UI"/>
              </a:rPr>
              <a:t>State machine shifts to PAUSED on checkout/UPI/CAPTCHA; prompts user on mirrored canvas.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Zero Financial Liability: </a:t>
            </a:r>
            <a:r>
              <a:rPr sz="950">
                <a:solidFill>
                  <a:srgbClr val="334155"/>
                </a:solidFill>
                <a:latin typeface="Segoe UI"/>
              </a:rPr>
              <a:t>Air-gapped execution — agent never touches banking passwords or UPI PINs.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4343400"/>
            <a:ext cx="489204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0" y="4434840"/>
            <a:ext cx="146304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24-HOUR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709160"/>
            <a:ext cx="4709160" cy="10972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Segoe UI"/>
              </a:defRPr>
            </a:pPr>
            <a:r>
              <a:t>100% FREE DEVELOPER STACK &amp; MVP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Zero Paid API Blockers: </a:t>
            </a:r>
            <a:r>
              <a:rPr sz="950">
                <a:solidFill>
                  <a:srgbClr val="334155"/>
                </a:solidFill>
                <a:latin typeface="Segoe UI"/>
              </a:rPr>
              <a:t>Built on free Web Speech API, Groq Whisper, Gemini 2.5 Flash, Groq LPU, &amp; Playwright.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Multi-Protocol 24h MVP: </a:t>
            </a:r>
            <a:r>
              <a:rPr sz="950">
                <a:solidFill>
                  <a:srgbClr val="334155"/>
                </a:solidFill>
                <a:latin typeface="Segoe UI"/>
              </a:rPr>
              <a:t>Executes live transit seat selection, document auto-resizing, and fee stripping.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Failsafe Local Mock: </a:t>
            </a:r>
            <a:r>
              <a:rPr sz="950">
                <a:solidFill>
                  <a:srgbClr val="334155"/>
                </a:solidFill>
                <a:latin typeface="Segoe UI"/>
              </a:rPr>
              <a:t>Local KSRTC/scholarship test server guarantees 100% demo uptime under spotty Wi-Fi.</a:t>
            </a:r>
          </a:p>
          <a:p>
            <a:pPr>
              <a:spcBef>
                <a:spcPts val="1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• Strict Human Sign-off: </a:t>
            </a:r>
            <a:r>
              <a:rPr sz="950">
                <a:solidFill>
                  <a:srgbClr val="334155"/>
                </a:solidFill>
                <a:latin typeface="Segoe UI"/>
              </a:rPr>
              <a:t>Structured review diff ensures complete auditability before money or data is sent.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Expected Impact &amp; Execution Plan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Eliminating Administrative &amp; Transactional Friction via Voice Precision.  </a:t>
            </a:r>
            <a:r>
              <a:rPr sz="1250" i="1">
                <a:solidFill>
                  <a:srgbClr val="64748B"/>
                </a:solidFill>
                <a:latin typeface="Segoe UI"/>
              </a:rPr>
              <a:t>A concrete 24-hour sprint roadmap and measurable real-world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37160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MEASURED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QUANTIFIABLE OUTCOMES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80% Faster Bookings: </a:t>
            </a:r>
            <a:r>
              <a:rPr sz="1000">
                <a:solidFill>
                  <a:srgbClr val="334155"/>
                </a:solidFill>
                <a:latin typeface="Segoe UI"/>
              </a:rPr>
              <a:t>Reduces transit ticket checkout from 8 mins to under 90 seconds (Transit Rush).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100% Document Pass Rate: </a:t>
            </a:r>
            <a:r>
              <a:rPr sz="1000">
                <a:solidFill>
                  <a:srgbClr val="334155"/>
                </a:solidFill>
                <a:latin typeface="Segoe UI"/>
              </a:rPr>
              <a:t>Zero upload rejections on strict 20KB-50KB exam/job portals (Document Exorcist).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₹350+ Saved Per Booking: </a:t>
            </a:r>
            <a:r>
              <a:rPr sz="1000">
                <a:solidFill>
                  <a:srgbClr val="334155"/>
                </a:solidFill>
                <a:latin typeface="Segoe UI"/>
              </a:rPr>
              <a:t>Immediate elimination of auto-checked insurance &amp; surge fees (Anti-Dark-Pattern).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0% Payment Fraud: </a:t>
            </a:r>
            <a:r>
              <a:rPr sz="1000">
                <a:solidFill>
                  <a:srgbClr val="334155"/>
                </a:solidFill>
                <a:latin typeface="Segoe UI"/>
              </a:rPr>
              <a:t>Mandatory air-gapped human approval gate protects users from unintended charges.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53128" y="1234440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&lt; 250ms Voice Intent: </a:t>
            </a:r>
            <a:r>
              <a:rPr sz="1000">
                <a:solidFill>
                  <a:srgbClr val="334155"/>
                </a:solidFill>
                <a:latin typeface="Segoe UI"/>
              </a:rPr>
              <a:t>Real-time speech transcription &amp; structured command extraction via Groq.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&gt; 96% Field &amp; Seat Accuracy: </a:t>
            </a:r>
            <a:r>
              <a:rPr sz="1000">
                <a:solidFill>
                  <a:srgbClr val="334155"/>
                </a:solidFill>
                <a:latin typeface="Segoe UI"/>
              </a:rPr>
              <a:t>Correct identification of inputs, dates, and bus seat layouts.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&lt; 1.5s In-Flight Document Resizing: </a:t>
            </a:r>
            <a:r>
              <a:rPr sz="1000">
                <a:solidFill>
                  <a:srgbClr val="334155"/>
                </a:solidFill>
                <a:latin typeface="Segoe UI"/>
              </a:rPr>
              <a:t>Sub-second image re-encoding to strict 20KB-50KB threshold.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100% Pre-Submit Audit: </a:t>
            </a:r>
            <a:r>
              <a:rPr sz="1000">
                <a:solidFill>
                  <a:srgbClr val="334155"/>
                </a:solidFill>
                <a:latin typeface="Segoe UI"/>
              </a:rPr>
              <a:t>Complete visual verification diff presented before final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74736" y="123444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9016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Daily Commuters &amp; Travelers: </a:t>
            </a:r>
            <a:r>
              <a:rPr sz="1000">
                <a:solidFill>
                  <a:srgbClr val="334155"/>
                </a:solidFill>
                <a:latin typeface="Segoe UI"/>
              </a:rPr>
              <a:t>Instant hands-free bus/train ticket bookings during peak rush windows.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Students &amp; Exam Applicants: </a:t>
            </a:r>
            <a:r>
              <a:rPr sz="1000">
                <a:solidFill>
                  <a:srgbClr val="334155"/>
                </a:solidFill>
                <a:latin typeface="Segoe UI"/>
              </a:rPr>
              <a:t>Painless scholarship submissions and auto-corrected document uploads.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Online Shoppers &amp; Consumers: </a:t>
            </a:r>
            <a:r>
              <a:rPr sz="1000">
                <a:solidFill>
                  <a:srgbClr val="334155"/>
                </a:solidFill>
                <a:latin typeface="Segoe UI"/>
              </a:rPr>
              <a:t>Complete protection against deceptive dark-pattern up-sells.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Differently-Abled &amp; Seniors: </a:t>
            </a:r>
            <a:r>
              <a:rPr sz="1000">
                <a:solidFill>
                  <a:srgbClr val="334155"/>
                </a:solidFill>
                <a:latin typeface="Segoe UI"/>
              </a:rPr>
              <a:t>Empowering voice-to-action co-pilot assistance on complex public portals.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11000232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16459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24-HOUR SPRINT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81735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RIGOROUS 24-HOUR HACKATHON EXECUTION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1: 00:00 — 06:00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VOICE PIPELINE &amp; VAULT SETUP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Web Speech API &amp; audio intent router setup.</a:t>
            </a:r>
            <a:br/>
            <a:r>
              <a:t>• Encrypted local JSON vault for passenger/user credentials.</a:t>
            </a:r>
            <a:br/>
            <a:r>
              <a:t>• Sub-250ms Groq Whisper streaming audio pipeline.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160520"/>
            <a:ext cx="2633472" cy="15544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PHASE 2: 06:00 — 12:00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TRANSIT RUSH &amp; CIVIC SWARM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Playwright accessibility tree extractor for seat grids.</a:t>
            </a:r>
            <a:br/>
            <a:r>
              <a:t>• KSRTC &amp; scholarship portal interaction state machine.</a:t>
            </a:r>
            <a:br/>
            <a:r>
              <a:t>• Grounded RAG for tailored motivation essays.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3: 12:00 — 18:00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EXORCIST &amp; ANTI-DARK-PATTERN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In-memory image/PDF 20KB-50KB resizing engine.</a:t>
            </a:r>
            <a:br/>
            <a:r>
              <a:t>• DOM selector rules unchecking hidden fees &amp; insurance.</a:t>
            </a:r>
            <a:br/>
            <a:r>
              <a:t>• Live CDP screencast stream to web dashboard.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160520"/>
            <a:ext cx="2633472" cy="15544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Segoe UI"/>
              </a:defRPr>
            </a:pPr>
            <a:r>
              <a:t>PHASE 4: 18:00 — 24:00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FRAUD SENTINEL &amp; LIVE DEMO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Air-gapped interrupt loop on UPI/CAPTCHA/checkout.</a:t>
            </a:r>
            <a:br/>
            <a:r>
              <a:t>• Side-by-side battle demo rehearsal for hackathon judges.</a:t>
            </a:r>
            <a:br/>
            <a:r>
              <a:t>• Final latency optimization &amp; pitch deck rehearsal.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The Conversational Web: Autonomous Execution With Absolute Human Sovereignty.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"Shifting from passive clicking to intelligent, voice-driven copilots that respect user control."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118872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Segoe UI"/>
              </a:defRPr>
            </a:pPr>
            <a:r>
              <a:t>KEY TAKEAWAYS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Voice-First Web Navigation: </a:t>
            </a:r>
            <a:r>
              <a:rPr sz="1100">
                <a:solidFill>
                  <a:srgbClr val="334155"/>
                </a:solidFill>
                <a:latin typeface="Segoe UI"/>
              </a:rPr>
              <a:t>Replaces exhausting manual clicking with instant natural speech for forms and bookings.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5 Specialized Protocols: </a:t>
            </a:r>
            <a:r>
              <a:rPr sz="1100">
                <a:solidFill>
                  <a:srgbClr val="334155"/>
                </a:solidFill>
                <a:latin typeface="Segoe UI"/>
              </a:rPr>
              <a:t>Executes Transit Rush, Civic Helper, Fraud Sentinel, Document Exorcist, and Anti-Dark-Pattern tasks.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Ethical Machine-Human Synergy: </a:t>
            </a:r>
            <a:r>
              <a:rPr sz="1100">
                <a:solidFill>
                  <a:srgbClr val="334155"/>
                </a:solidFill>
                <a:latin typeface="Segoe UI"/>
              </a:rPr>
              <a:t>Proves that autonomous agents must keep the human in full sovereign control over money and data.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Zero-Cost Production Stack: </a:t>
            </a:r>
            <a:r>
              <a:rPr sz="1100">
                <a:solidFill>
                  <a:srgbClr val="334155"/>
                </a:solidFill>
                <a:latin typeface="Segoe UI"/>
              </a:rPr>
              <a:t>Fully buildable in 24 hours using free Web Speech API, Gemini 2.5 Flash, Groq LPU, &amp; Playwright.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lycopilot_trust_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TECHNICAL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VERIFIABLE REFERENCES &amp; SCIENTIFIC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1. W3C Web Speech &amp; ARIA Standards: </a:t>
            </a:r>
            <a:r>
              <a:rPr sz="950">
                <a:solidFill>
                  <a:srgbClr val="334155"/>
                </a:solidFill>
                <a:latin typeface="Segoe UI"/>
              </a:rPr>
              <a:t>SpeechRecognition API &amp; Accessibility Tree Navigation Specifications.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2. Groq LPU Speech Benchmarks: </a:t>
            </a:r>
            <a:r>
              <a:rPr sz="950">
                <a:solidFill>
                  <a:srgbClr val="334155"/>
                </a:solidFill>
                <a:latin typeface="Segoe UI"/>
              </a:rPr>
              <a:t>Sub-200ms Whisper Audio Transcription on Custom Inference Hardware.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3. Google Gemini 2.5 Flash: </a:t>
            </a:r>
            <a:r>
              <a:rPr sz="950">
                <a:solidFill>
                  <a:srgbClr val="334155"/>
                </a:solidFill>
                <a:latin typeface="Segoe UI"/>
              </a:rPr>
              <a:t>Low-Latency Multimodal Reasoning &amp; Zero-Shot Schema Classification.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4. Browser-Use &amp; Stagehand (2024-2026): </a:t>
            </a:r>
            <a:r>
              <a:rPr sz="950">
                <a:solidFill>
                  <a:srgbClr val="334155"/>
                </a:solidFill>
                <a:latin typeface="Segoe UI"/>
              </a:rPr>
              <a:t>Autonomous Web Agent Architecture &amp; Natural Language DOM Routing.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5. Playwright Stealth: </a:t>
            </a:r>
            <a:r>
              <a:rPr sz="950">
                <a:solidFill>
                  <a:srgbClr val="334155"/>
                </a:solidFill>
                <a:latin typeface="Segoe UI"/>
              </a:rPr>
              <a:t>Mitigating Automation Fingerprints on High-Traffic Reservation Systems.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6. FTC Guidelines on Automated Systems: </a:t>
            </a:r>
            <a:r>
              <a:rPr sz="950">
                <a:solidFill>
                  <a:srgbClr val="334155"/>
                </a:solidFill>
                <a:latin typeface="Segoe UI"/>
              </a:rPr>
              <a:t>Mandatory Human Oversight &amp; Consumer Consent in Digital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