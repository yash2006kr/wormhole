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914400" y="2331720"/>
            <a:ext cx="10360152" cy="164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50" b="1">
                <a:solidFill>
                  <a:srgbClr val="EA580C"/>
                </a:solidFill>
                <a:latin typeface="Segoe UI"/>
              </a:defRPr>
            </a:pPr>
            <a:r>
              <a:t>THEME 04: SELF-HEALING SYSTEMS &amp; AUTONOMOUS INFRASTRUCTURE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4000" b="1">
                <a:solidFill>
                  <a:srgbClr val="0F172A"/>
                </a:solidFill>
                <a:latin typeface="Segoe UI"/>
              </a:defRPr>
            </a:pPr>
            <a:r>
              <a:t>DATAHEAL</a:t>
            </a:r>
          </a:p>
          <a:p>
            <a:pPr algn="ctr">
              <a:spcBef>
                <a:spcPts val="200"/>
              </a:spcBef>
              <a:defRPr sz="1700" b="1">
                <a:solidFill>
                  <a:srgbClr val="0284C7"/>
                </a:solidFill>
                <a:latin typeface="Segoe UI"/>
              </a:defRPr>
            </a:pPr>
            <a:r>
              <a:t>Autonomous Self-Healing Engine Rescuing Broken Spreadsheets &amp; Silent ETL Failures</a:t>
            </a:r>
          </a:p>
          <a:p>
            <a:pPr algn="ctr">
              <a:spcBef>
                <a:spcPts val="200"/>
              </a:spcBef>
              <a:defRPr sz="1300" i="1">
                <a:solidFill>
                  <a:srgbClr val="64748B"/>
                </a:solidFill>
                <a:latin typeface="Segoe UI"/>
              </a:defRPr>
            </a:pPr>
            <a:r>
              <a:t>"Zero-intervention schema repair, semantic re-mapping, and intelligent row quarantine for enterprise data pipelines."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1371600" y="4160520"/>
            <a:ext cx="438912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DETAILS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Team Name: AI Avengers</a:t>
            </a:r>
          </a:p>
          <a:p>
            <a:pPr>
              <a:spcBef>
                <a:spcPts val="2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Track: THEME 04: SELF-HEALING SYSTEMS &amp; AUTONOMOUS INFRASTRUCTURE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t>Don Bosco Institute of Technology (DBIT)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6400800" y="4160520"/>
            <a:ext cx="4572000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TEAM MEMBERS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Raj Aanada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Yashma C P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Likith M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•  Yashwanth K 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The Fragile Data Ingestion Bottleneck &amp; Silent Pipeline Failures.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Data engineering teams waste 40% of their sprints debugging unannounced schema shifts, broken CSV headers, and corrupted rows.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1234440"/>
            <a:ext cx="13716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SCHEMA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50876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DC2626"/>
                </a:solidFill>
                <a:latin typeface="Segoe UI"/>
              </a:defRPr>
            </a:pPr>
            <a:r>
              <a:t>UNANNOUNCED SCHEMA DRIFTS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Arbitrary Header Renaming: </a:t>
            </a:r>
            <a:r>
              <a:rPr sz="1100">
                <a:solidFill>
                  <a:srgbClr val="334155"/>
                </a:solidFill>
                <a:latin typeface="Segoe UI"/>
              </a:rPr>
              <a:t>Upstream departments rename Customer_ID to Cust# or Client_ID without notice, breaking SQL ETLs.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Swapped Column Positions: </a:t>
            </a:r>
            <a:r>
              <a:rPr sz="1100">
                <a:solidFill>
                  <a:srgbClr val="334155"/>
                </a:solidFill>
                <a:latin typeface="Segoe UI"/>
              </a:rPr>
              <a:t>CSV exports with shifted column orders cause numbers to flow into text columns undetected.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Crashing Nightly DAGs: </a:t>
            </a:r>
            <a:r>
              <a:rPr sz="1100">
                <a:solidFill>
                  <a:srgbClr val="334155"/>
                </a:solidFill>
                <a:latin typeface="Segoe UI"/>
              </a:rPr>
              <a:t>Hard-coded schema assertions crash Airflow jobs, delaying critical executive dashboards.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13716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DIRTY SPREADSHEETS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5468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HUMAN EXCEL CORRUPTION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Mixed Date Dialects: </a:t>
            </a:r>
            <a:r>
              <a:rPr sz="1100">
                <a:solidFill>
                  <a:srgbClr val="334155"/>
                </a:solidFill>
                <a:latin typeface="Segoe UI"/>
              </a:rPr>
              <a:t>Single columns combining DD/MM/YYYY, MM-DD-YY, and epoch stamps crash standard parsers.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Currency Glyphs in Floats: </a:t>
            </a:r>
            <a:r>
              <a:rPr sz="1100">
                <a:solidFill>
                  <a:srgbClr val="334155"/>
                </a:solidFill>
                <a:latin typeface="Segoe UI"/>
              </a:rPr>
              <a:t>Dollar/Rupee symbols and commas ($1,250.00) cause silent type-casting exceptions.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Trailing Whitespace: </a:t>
            </a:r>
            <a:r>
              <a:rPr sz="1100">
                <a:solidFill>
                  <a:srgbClr val="334155"/>
                </a:solidFill>
                <a:latin typeface="Segoe UI"/>
              </a:rPr>
              <a:t>Rogue spaces create phantom duplicate records and violate primary key constraints.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1234440"/>
            <a:ext cx="128016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CURRENT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150876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0284C7"/>
                </a:solidFill>
                <a:latin typeface="Segoe UI"/>
              </a:defRPr>
            </a:pPr>
            <a:r>
              <a:t>WHY CURRENT TOOLS FAIL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Airflow / dbt Fail Hard: </a:t>
            </a:r>
            <a:r>
              <a:rPr sz="1100">
                <a:solidFill>
                  <a:srgbClr val="334155"/>
                </a:solidFill>
                <a:latin typeface="Segoe UI"/>
              </a:rPr>
              <a:t>Pipelines halt completely when a single row has bad syntax, starving entire organizations.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Silent Row Dropping: </a:t>
            </a:r>
            <a:r>
              <a:rPr sz="1100">
                <a:solidFill>
                  <a:srgbClr val="334155"/>
                </a:solidFill>
                <a:latin typeface="Segoe UI"/>
              </a:rPr>
              <a:t>Permissive parsers silently discard dirty records without alerting data owners.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Prohibitive Enterprise SaaS: </a:t>
            </a:r>
            <a:r>
              <a:rPr sz="1100">
                <a:solidFill>
                  <a:srgbClr val="334155"/>
                </a:solidFill>
                <a:latin typeface="Segoe UI"/>
              </a:rPr>
              <a:t>Monte Carlo and Great Expectations require months of manual rule configuration.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3520440"/>
            <a:ext cx="4069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3611880"/>
            <a:ext cx="123444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EMPIRICAL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886200"/>
            <a:ext cx="38862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50" b="1">
                <a:solidFill>
                  <a:srgbClr val="16A34A"/>
                </a:solidFill>
                <a:latin typeface="Segoe UI"/>
              </a:defRPr>
            </a:pPr>
            <a:r>
              <a:t>ENTERPRISE DOWNTIME METRICS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$15M Average Annual Loss: </a:t>
            </a:r>
            <a:r>
              <a:rPr sz="1100">
                <a:solidFill>
                  <a:srgbClr val="334155"/>
                </a:solidFill>
                <a:latin typeface="Segoe UI"/>
              </a:rPr>
              <a:t>Poor data quality costs mid-to-large enterprise organizations over $15M annually (Gartner).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40% Engineer Sprints Lost: </a:t>
            </a:r>
            <a:r>
              <a:rPr sz="1100">
                <a:solidFill>
                  <a:srgbClr val="334155"/>
                </a:solidFill>
                <a:latin typeface="Segoe UI"/>
              </a:rPr>
              <a:t>Data engineers spend nearly half their working hours investigating schema breakages.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6-Hour Mean Time to Repair: </a:t>
            </a:r>
            <a:r>
              <a:rPr sz="1100">
                <a:solidFill>
                  <a:srgbClr val="334155"/>
                </a:solidFill>
                <a:latin typeface="Segoe UI"/>
              </a:rPr>
              <a:t>Average latency required to manually debug, repair, and re-trigger a failed ingestion batch.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1430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2344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DC2626"/>
                </a:solidFill>
                <a:latin typeface="Segoe UI"/>
              </a:defRPr>
            </a:pPr>
            <a:r>
              <a:t>40%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Engineer Time Lost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Wasted on pipeline maintenance and broken CSV debugging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7432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8346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Segoe UI"/>
              </a:defRPr>
            </a:pPr>
            <a:r>
              <a:t>6 Hours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Average MTTR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Time required to manually debug and replay failed ETL jobs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4343400"/>
            <a:ext cx="33192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434840"/>
            <a:ext cx="31363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200" b="1">
                <a:solidFill>
                  <a:srgbClr val="0284C7"/>
                </a:solidFill>
                <a:latin typeface="Segoe UI"/>
              </a:defRPr>
            </a:pPr>
            <a:r>
              <a:t>99.9%</a:t>
            </a:r>
          </a:p>
          <a:p>
            <a:pPr>
              <a:spcBef>
                <a:spcPts val="1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Target Resilience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Operational pipeline uptime maintained via autonomous healing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Core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Autonomous Schema Healing, Semantic Re-Mapping &amp; Surgical Quarantine.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Ingest corrupted, drifting, or dirty CSV/Excel feeds — DataHeal repairs them on the fly with zero human downtime.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55448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SEMANTIC HEADER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463040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Embedding-Based Column Matcher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Uses cosine similarity over column embeddings and fuzzy string matching to map renamed headers back to the golden schema.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14300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234440"/>
            <a:ext cx="1554480" cy="20116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AUTOMATED TYPE COERCION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463040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Multi-Format Normalizer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Strips currency symbols, harmonizes mixed date dialects using dateutil heuristics, and casts values to correct datatypes.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27247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218687"/>
            <a:ext cx="15544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SURGICAL ROW QUARANTINE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47287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Non-Blocking Isolation Queue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Routes unrecoverable outlier rows to quarantine.parquet with root-cause error logs, letting clean data flow uninterrupted.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127247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3218687"/>
            <a:ext cx="15544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SELF-DOCUMENTING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447287"/>
            <a:ext cx="2267712" cy="1508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Telemetry &amp; Transformation Diffs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Emits transparent JSON transformation audit diffs detailing every column re-map and value repair for compliance.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143000"/>
            <a:ext cx="5650992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heal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170432"/>
            <a:ext cx="5596128" cy="383133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94360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100% PIPELINE UPTIME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Zero downstream DAG crashes; analytics dashboards update reliably every morning.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ZERO DATA POLLUTION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Irrecoverable anomalies are safely quarantined with full error logs for review.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9288" y="5166360"/>
            <a:ext cx="3566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5212080"/>
            <a:ext cx="3383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PLUG-AND-PLAY DUCKDB ENGINE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High-throughput in-memory execution processing 10,000 rows in under 450ms.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From Brittle Traditional Pipelines to Autonomous Self-Healing.  </a:t>
            </a:r>
            <a:r>
              <a:rPr sz="1250" i="1">
                <a:solidFill>
                  <a:srgbClr val="64748B"/>
                </a:solidFill>
                <a:latin typeface="Segoe UI"/>
              </a:rPr>
              <a:t>Comparing DataHeal against standard dbt tests, Great Expectations, and manual engineer firefighting.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234440"/>
            <a:ext cx="150876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TRADITIONAL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"/>
              </a:defRPr>
            </a:pPr>
            <a:r>
              <a:t>BRITTLE PIPELINES &amp; ON-CALL BURNOUT</a:t>
            </a:r>
          </a:p>
        </p:txBody>
      </p:sp>
      <p:pic>
        <p:nvPicPr>
          <p:cNvPr id="17" name="Picture 16" descr="dataheal_comparis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4434840" cy="2468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4434840"/>
            <a:ext cx="443484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Hardcoded Schema Assertions: A single renamed column halts entire enterprise Airflow batches.</a:t>
            </a:r>
          </a:p>
          <a:p>
            <a:pPr>
              <a:spcBef>
                <a:spcPts val="200"/>
              </a:spcBef>
              <a:defRPr sz="1050" b="1">
                <a:solidFill>
                  <a:srgbClr val="334155"/>
                </a:solidFill>
                <a:latin typeface="Segoe UI"/>
              </a:defRPr>
            </a:pPr>
            <a:r>
              <a:t>• Great Expectations / Monte Carlo: Alert generators that notify you but cannot heal anything.</a:t>
            </a:r>
          </a:p>
          <a:p>
            <a:pPr>
              <a:spcBef>
                <a:spcPts val="200"/>
              </a:spcBef>
              <a:defRPr sz="1050" b="1">
                <a:solidFill>
                  <a:srgbClr val="DC2626"/>
                </a:solidFill>
                <a:latin typeface="Segoe UI"/>
              </a:defRPr>
            </a:pPr>
            <a:r>
              <a:t>• Manual Hotfixes: Engineers wake up at 3 AM to update column names and rerun failed DAGs.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143000"/>
            <a:ext cx="606247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1234440"/>
            <a:ext cx="150876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FEATURE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508760"/>
            <a:ext cx="587959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BENCHMARK: DATAHEAL VS ALTERNATIVES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23560" y="1874519"/>
          <a:ext cx="587959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05840"/>
                <a:gridCol w="1005840"/>
                <a:gridCol w="1005840"/>
                <a:gridCol w="1170432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Airflow / dbt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Gt Expectations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Monte Carlo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DataHeal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Adaptive Header Re-Mapping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Crashes DAG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Alert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Alert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Semantic Embed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Mixed Date Dialect Healing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Throws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Throws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Auto-Harmonized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Non-Blocking Row Quarantine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Dead-Letter Parquet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Automated Type Coercion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Fails Cast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Regex Sanitizer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Self-Documenting Audit Diffs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Log Traceback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JSON Test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Slack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Full JSON Diff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3560" y="4892040"/>
            <a:ext cx="5879592" cy="868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CORE ARCHITECTURAL ADVANTAGE</a:t>
            </a:r>
          </a:p>
          <a:p>
            <a:pPr>
              <a:spcBef>
                <a:spcPts val="100"/>
              </a:spcBef>
            </a:pPr>
            <a:r>
              <a:rPr b="1">
                <a:solidFill>
                  <a:srgbClr val="16A34A"/>
                </a:solidFill>
              </a:rPr>
              <a:t>• Fail-Forward Architecture: </a:t>
            </a:r>
            <a:r>
              <a:rPr>
                <a:solidFill>
                  <a:srgbClr val="334155"/>
                </a:solidFill>
              </a:rPr>
              <a:t>Transitions data systems from catastrophic halt to resilient, autonomous recovery.</a:t>
            </a:r>
          </a:p>
          <a:p>
            <a:pPr>
              <a:spcBef>
                <a:spcPts val="100"/>
              </a:spcBef>
            </a:pPr>
            <a:r>
              <a:rPr b="1">
                <a:solidFill>
                  <a:srgbClr val="0284C7"/>
                </a:solidFill>
              </a:rPr>
              <a:t>• Zero Operational Burden: </a:t>
            </a:r>
            <a:r>
              <a:rPr>
                <a:solidFill>
                  <a:srgbClr val="334155"/>
                </a:solidFill>
              </a:rPr>
              <a:t>Requires zero DSL authoring; acts as an intelligent intermediary in any existing pipeline.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Architecture &amp; System Flow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5-Stage Autonomous Self-Healing Pipeline with DuckDB &amp; Embeddings.  </a:t>
            </a:r>
            <a:r>
              <a:rPr sz="1250" i="1">
                <a:solidFill>
                  <a:srgbClr val="64748B"/>
                </a:solidFill>
                <a:latin typeface="Segoe UI"/>
              </a:rPr>
              <a:t>High-throughput modular stream: Data Drop -&gt; Format Sniffer -&gt; Semantic Matcher -&gt; Type Sanitizer -&gt; Clean Sink.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516636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heal_architec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170432"/>
            <a:ext cx="5111496" cy="4654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0" y="1143000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1216152"/>
            <a:ext cx="1691640" cy="1828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1: INGESTION &amp; FORMAT SNIFFER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380744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Drop-Zone Watcher &amp; Header Offset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Auto-detects delimiters (comma, tab, semicolon), character encoding (UTF-8, Latin-1), and skips messy preamble 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093976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2167128"/>
            <a:ext cx="1691640" cy="18288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2: SEMANTIC SCHEMA MATCHER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31720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Cosine Similarity &amp; Levenshtein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Maps incoming column names to expected schema using Sentence-Transformers embeddings with threshold-based confidence scores.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44952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3118104"/>
            <a:ext cx="1691640" cy="1828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3: TYPE COERCION &amp;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282696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Regex Sanitizer &amp; Date Harmonizer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Strips non-numeric noise from monetary fields, parses ambiguous dates using dateutil, and fills nulls with domain defaults.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995928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040" y="4069080"/>
            <a:ext cx="1691640" cy="1828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4: SURGICAL QUARANTINE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233672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Dead-Letter Parquet Queue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Surgically isolates records violating logical bounds to quarantine.parquet and captures detailed error stack telemetry.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946904"/>
            <a:ext cx="56509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0" y="5020056"/>
            <a:ext cx="1691640" cy="1828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STAGE 5: PRODUCTION DISPATCHER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184648"/>
            <a:ext cx="5468112" cy="603504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Clean Warehouse &amp; Audit Logger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t>Dispatches 100% clean, standardized data frames to PostgreSQL / Snowflake and produces structured JSON transformation logs.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Feasibility, 24-Hour Roadmap &amp; Societal Impact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24-Hour Sprint Plan, Live Chaos-Test Demos &amp; Enterprise ROI.  </a:t>
            </a:r>
            <a:r>
              <a:rPr sz="1250" i="1">
                <a:solidFill>
                  <a:srgbClr val="64748B"/>
                </a:solidFill>
                <a:latin typeface="Segoe UI"/>
              </a:rPr>
              <a:t>Built for dramatic live judging: drag-and-drop a deliberately mangled spreadsheet and watch it heal instantly.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234440"/>
            <a:ext cx="128016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LIVE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DC2626"/>
                </a:solidFill>
                <a:latin typeface="Segoe UI"/>
              </a:defRPr>
            </a:pPr>
            <a:r>
              <a:t>LIVE HACKATHON DEMO PLAN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Chaos Injection 1: </a:t>
            </a:r>
            <a:r>
              <a:rPr sz="1000">
                <a:solidFill>
                  <a:srgbClr val="334155"/>
                </a:solidFill>
                <a:latin typeface="Segoe UI"/>
              </a:rPr>
              <a:t>Drop CSV with renamed columns (Bill_Date -&gt; Invc_Dt) -&gt; DataHeal maps them with 98% confidence.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Chaos Injection 2: </a:t>
            </a:r>
            <a:r>
              <a:rPr sz="1000">
                <a:solidFill>
                  <a:srgbClr val="334155"/>
                </a:solidFill>
                <a:latin typeface="Segoe UI"/>
              </a:rPr>
              <a:t>Feed mixed dates (2024/05/12, 12-May-2024) -&gt; Normalized to ISO 8601 instantly.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Chaos Injection 3: </a:t>
            </a:r>
            <a:r>
              <a:rPr sz="1000">
                <a:solidFill>
                  <a:srgbClr val="334155"/>
                </a:solidFill>
                <a:latin typeface="Segoe UI"/>
              </a:rPr>
              <a:t>Insert $ and commas into numeric sales columns -&gt; Stripped and cast to float in 2ms.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Chaos Injection 4: </a:t>
            </a:r>
            <a:r>
              <a:rPr sz="1000">
                <a:solidFill>
                  <a:srgbClr val="334155"/>
                </a:solidFill>
                <a:latin typeface="Segoe UI"/>
              </a:rPr>
              <a:t>Inject completely corrupted garbage row -&gt; Safely diverted to quarantine.parquet without crashing.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2272" y="1234440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100% Pipeline Uptime: </a:t>
            </a:r>
            <a:r>
              <a:rPr sz="1000">
                <a:solidFill>
                  <a:srgbClr val="334155"/>
                </a:solidFill>
                <a:latin typeface="Segoe UI"/>
              </a:rPr>
              <a:t>Zero downstream DAG crashes across 50 simulated broken schemas.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&lt; 450ms Overhead: </a:t>
            </a:r>
            <a:r>
              <a:rPr sz="1000">
                <a:solidFill>
                  <a:srgbClr val="334155"/>
                </a:solidFill>
                <a:latin typeface="Segoe UI"/>
              </a:rPr>
              <a:t>Processing latency per 10,000-row batch during autonomous repair.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96.8% Auto-Recovery: </a:t>
            </a:r>
            <a:r>
              <a:rPr sz="1000">
                <a:solidFill>
                  <a:srgbClr val="334155"/>
                </a:solidFill>
                <a:latin typeface="Segoe UI"/>
              </a:rPr>
              <a:t>Successful column alignment and datatype resolution rate.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• Zero Data Loss: </a:t>
            </a:r>
            <a:r>
              <a:rPr sz="1000">
                <a:solidFill>
                  <a:srgbClr val="334155"/>
                </a:solidFill>
                <a:latin typeface="Segoe UI"/>
              </a:rPr>
              <a:t>Every single byte is either safely healed or logged in quarantine.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143000"/>
            <a:ext cx="35478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3024" y="123444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463040"/>
            <a:ext cx="3364992" cy="1783080"/>
          </a:xfrm>
          <a:prstGeom prst="rect">
            <a:avLst/>
          </a:prstGeom>
          <a:noFill/>
        </p:spPr>
        <p:txBody>
          <a:bodyPr wrap="square" lIns="73152" rIns="73152" tIns="9144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Data Engineers: </a:t>
            </a:r>
            <a:r>
              <a:rPr sz="1000">
                <a:solidFill>
                  <a:srgbClr val="334155"/>
                </a:solidFill>
                <a:latin typeface="Segoe UI"/>
              </a:rPr>
              <a:t>Eliminates on-call alert fatigue and manual 3 AM schema patching.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Analytics &amp; BI Teams: </a:t>
            </a:r>
            <a:r>
              <a:rPr sz="1000">
                <a:solidFill>
                  <a:srgbClr val="334155"/>
                </a:solidFill>
                <a:latin typeface="Segoe UI"/>
              </a:rPr>
              <a:t>Clean, unbroken reporting feeds delivered punctually every single morning.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Business Stakeholders: </a:t>
            </a:r>
            <a:r>
              <a:rPr sz="1000">
                <a:solidFill>
                  <a:srgbClr val="334155"/>
                </a:solidFill>
                <a:latin typeface="Segoe UI"/>
              </a:rPr>
              <a:t>Zero decision-making paralysis caused by delayed financial dashboards.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Enterprise IT Operations: </a:t>
            </a:r>
            <a:r>
              <a:rPr sz="1000">
                <a:solidFill>
                  <a:srgbClr val="334155"/>
                </a:solidFill>
                <a:latin typeface="Segoe UI"/>
              </a:rPr>
              <a:t>Massive reduction in operational maintenance and pipeline incident tickets.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11000232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16459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24-HOUR SPRINT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817352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RIGOROUS 24-HOUR HACKATHON EXECUTION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2633472" cy="15544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PHASE 1: 00:00 — 06:00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CHAOS GENERATOR &amp; INGESTION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Build synthetic broken spreadsheet generator (swapped headers, dirty currency, bad dates).</a:t>
            </a:r>
            <a:br/>
            <a:r>
              <a:t>• DuckDB high-speed local stream ingestion harness.</a:t>
            </a:r>
            <a:br/>
            <a:r>
              <a:t>• Format sniffer for encoding &amp; delimiter autodetection.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2: 06:00 — 12:00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SEMANTIC MATCHING &amp; HEALING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MiniLM sentence embedding column mapper.</a:t>
            </a:r>
            <a:br/>
            <a:r>
              <a:t>• Regex-based currency and punctuation sanitizer.</a:t>
            </a:r>
            <a:br/>
            <a:r>
              <a:t>• Dateutil multi-dialect timestamp parser.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0520"/>
            <a:ext cx="2633472" cy="15544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PHASE 3: 12:00 — 18:00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QUARANTINE QUEUE &amp; AUDIT DIFF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Surgical dead-letter Parquet isolation queue.</a:t>
            </a:r>
            <a:br/>
            <a:r>
              <a:t>• Automated JSON audit ledger and transformation diff generator.</a:t>
            </a:r>
            <a:br/>
            <a:r>
              <a:t>• SQLite / DuckDB clean sink export.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160520"/>
            <a:ext cx="2633472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4206240"/>
            <a:ext cx="24505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50" b="1">
                <a:solidFill>
                  <a:srgbClr val="C2410C"/>
                </a:solidFill>
                <a:latin typeface="Segoe UI"/>
              </a:defRPr>
            </a:pPr>
            <a:r>
              <a:t>PHASE 4: 18:00 — 24:00</a:t>
            </a:r>
          </a:p>
          <a:p>
            <a:pPr>
              <a:spcBef>
                <a:spcPts val="1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t>STREAMLIT UI &amp; LIVE CHAOS DEMO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3-pane real-time visual pipeline dashboard.</a:t>
            </a:r>
            <a:br/>
            <a:r>
              <a:t>• Stress testing against 50 chaotic edge-case files.</a:t>
            </a:r>
            <a:br/>
            <a:r>
              <a:t>• Live pitch rehearsal with instant drag-and-drop healing demo.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rIns="73152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Autonomous Resilience for Modern Enterprise Data Infrastructure.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"Freeing data engineers from mundane firefighting so they can focus on high-impact analytics."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234440"/>
            <a:ext cx="1188720" cy="21945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KEY TAKEAWAYS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Eliminates Pipeline Downtime: </a:t>
            </a:r>
            <a:r>
              <a:rPr sz="1100">
                <a:solidFill>
                  <a:srgbClr val="334155"/>
                </a:solidFill>
                <a:latin typeface="Segoe UI"/>
              </a:rPr>
              <a:t>100% operational continuity even when upstream departments alter formats.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Semantic Auto-Mapping: </a:t>
            </a:r>
            <a:r>
              <a:rPr sz="1100">
                <a:solidFill>
                  <a:srgbClr val="334155"/>
                </a:solidFill>
                <a:latin typeface="Segoe UI"/>
              </a:rPr>
              <a:t>Automatically aligns renamed columns without requiring manual schema definitions.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Zero Data Pollution: </a:t>
            </a:r>
            <a:r>
              <a:rPr sz="1100">
                <a:solidFill>
                  <a:srgbClr val="334155"/>
                </a:solidFill>
                <a:latin typeface="Segoe UI"/>
              </a:rPr>
              <a:t>Surgical quarantine ensures bad rows never corrupt analytics or crash production workloads.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Developer Freedom: </a:t>
            </a:r>
            <a:r>
              <a:rPr sz="1100">
                <a:solidFill>
                  <a:srgbClr val="334155"/>
                </a:solidFill>
                <a:latin typeface="Segoe UI"/>
              </a:rPr>
              <a:t>Reclaims 40% of data engineering sprint capacity from tedious on-call firefighting.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heal_bad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9144" bIns="9144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TECHNICAL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VERIFIABLE REFERENCES &amp; DATA RESILIENCE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1. Gartner Enterprise Data Quality: </a:t>
            </a:r>
            <a:r>
              <a:rPr sz="950">
                <a:solidFill>
                  <a:srgbClr val="334155"/>
                </a:solidFill>
                <a:latin typeface="Segoe UI"/>
              </a:rPr>
              <a:t>Measuring the Business Impact of Data Downtime and Dirty Information (2023).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2. Sentence-Transformers (MiniLM): </a:t>
            </a:r>
            <a:r>
              <a:rPr sz="950">
                <a:solidFill>
                  <a:srgbClr val="334155"/>
                </a:solidFill>
                <a:latin typeface="Segoe UI"/>
              </a:rPr>
              <a:t>Dense Vector Embeddings for Semantic Text Similarity and Schema Alignment (EMNLP).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3. DuckDB In-Memory OLAP Architecture: </a:t>
            </a:r>
            <a:r>
              <a:rPr sz="950">
                <a:solidFill>
                  <a:srgbClr val="334155"/>
                </a:solidFill>
                <a:latin typeface="Segoe UI"/>
              </a:rPr>
              <a:t>Fast Analytical Query Processing on Embedded Local Data Streams (VLDB).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4. Apache Arrow &amp; Parquet Format: </a:t>
            </a:r>
            <a:r>
              <a:rPr sz="950">
                <a:solidFill>
                  <a:srgbClr val="334155"/>
                </a:solidFill>
                <a:latin typeface="Segoe UI"/>
              </a:rPr>
              <a:t>Columnar Memory Layout and Efficient Storage for Resilient Data Pipelines.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5. Dead-Letter Queue Architectures: </a:t>
            </a:r>
            <a:r>
              <a:rPr sz="950">
                <a:solidFill>
                  <a:srgbClr val="334155"/>
                </a:solidFill>
                <a:latin typeface="Segoe UI"/>
              </a:rPr>
              <a:t>Fault-Tolerant Streaming and Surgical Anomaly Isolation (ACM Computing Surveys).</a:t>
            </a:r>
          </a:p>
          <a:p>
            <a:pPr>
              <a:spcBef>
                <a:spcPts val="100"/>
              </a:spcBef>
            </a:pPr>
            <a:r>
              <a:rPr sz="950" b="1">
                <a:solidFill>
                  <a:srgbClr val="0F172A"/>
                </a:solidFill>
                <a:latin typeface="Segoe UI"/>
              </a:rPr>
              <a:t>6. Automated Schema Evolution: </a:t>
            </a:r>
            <a:r>
              <a:rPr sz="950">
                <a:solidFill>
                  <a:srgbClr val="334155"/>
                </a:solidFill>
                <a:latin typeface="Segoe UI"/>
              </a:rPr>
              <a:t>Self-Adapting Relational Schemas for Semi-Structured Ingestion (IEEE ICDE).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