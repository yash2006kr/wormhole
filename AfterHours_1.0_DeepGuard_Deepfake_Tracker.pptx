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5EB"/>
    <a:srgbClr val="F9F6EC"/>
    <a:srgbClr val="FB4102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33" y="1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CC0C-BE61-D512-9D7B-95D0E0282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BFA59-3EE9-8C52-94DC-A842163D7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63F3-344A-0E24-406C-CF5B4FB3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2EAF9-B79B-D292-F21D-33EC031B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E600B-F956-E5B1-55A1-DDB0BB89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6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D851-6B6C-727A-B0B0-C9A8A5E4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2D22E-92C4-4B4C-C9E1-38281FE3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4E275-39ED-242C-2D6B-19D3ADC3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AF2FA-985B-703F-7328-2EA9DB76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5501-AB1E-91AF-C109-3A3E2AE9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64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A493-4DBA-B618-7D23-B3AD277E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7D4B9-CE74-A94A-B1B5-5FC71327D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09427-1CD5-6F66-09C6-CE448B5B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13C95-5EC6-25A3-2CAA-7C2D047A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F6148-A77B-212B-636B-8D42386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2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C87D-7F19-266A-B5A7-3D10F4F1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28D1-DDC5-1BE3-3E7C-5E0C84A82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2C9DD-18D3-3B01-E1CA-B2387A131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A06A5-8350-2568-5F99-C3600E8E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7F1A5-24BC-F037-0190-A304A376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4BE4-5F2E-49B1-4036-F87277F1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90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9BC9-8470-0060-871B-DF8FC53C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8D18-600A-FA14-80A3-1F422D7C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48EB4-5509-19C7-C9AB-E33DBA7C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6ACFB-4B32-B675-7AE5-9EE246FB1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04494-094C-9FA8-11AB-439B1CEC1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71569-8540-DBCF-0068-63B89A2E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20FAE-5E73-DBB6-4363-6D854089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F7BEC-2A23-5A0A-33E7-BD727888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70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3235-5F3B-9B0D-A174-97C86E59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D2B7A-CEAA-8230-24DE-5FD177D7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8924F-3B2F-0F55-6592-ED382FBB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ACAC3-6587-7956-7478-53280426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4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CB7A7-ED02-9C1B-A549-4CE81CC7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CB080-669E-3494-348F-5CB58CB3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9E9DE-696B-5284-4446-EDE9CF47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5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13AA-4EA8-C60B-DC94-D69A7B6A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DA3D-984F-FFC3-49D8-4C1BCDA6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B8C6B-91CE-EE5E-4AB0-6AF57750C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BD0F3-B90D-AA7F-B9F9-3DC3B414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2E106-FAE1-ECFD-CC6C-65CF3F89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CEEDF-F6FB-D11B-7B33-02AC035C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49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016F-2BF5-DA16-4AF0-B8FCC990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20636-FBDC-42A0-A6AC-81DBB6B14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EF501-C2C7-435B-96F0-D6ACCF428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C7A9C-837C-0866-7E2E-3C962B2C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51CB-D17E-6EDD-5997-1BC72227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C902-ECFE-18F5-49EB-A35D08EC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64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A2BD-DFBE-8614-976C-C42CA4A2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21C08-49BF-4FCA-B7EF-4DE2595BE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0D10-4D58-E5EE-5986-6CC678EE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91DB-6489-41F7-78EE-3468EDC5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437E-6A68-9665-6244-70798F28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9FCF1-65DD-2E56-758F-0A6468B86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14A1B-E392-11B4-B3A9-05982F7F4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7CA87-EEB6-F931-3A1B-2C76E800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981E-67FA-CD3D-C0C1-F46D1670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37607-4220-CE21-F234-9C293D4D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99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CA0E5-D3FA-53DC-B511-C05078F5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A0E66-1A23-0DEC-1F8A-59ABAF7F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95B68-943E-23C1-8CEE-D94185BB5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40F7-5EA2-EB77-638C-58027E49F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BEA62-F34F-CEBB-D998-29B117BFC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9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853429-2C99-863B-93A3-2440EA86E8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70" r="16096" b="23208"/>
          <a:stretch/>
        </p:blipFill>
        <p:spPr>
          <a:xfrm>
            <a:off x="0" y="0"/>
            <a:ext cx="12273280" cy="6926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B81835-7478-270A-B235-98A957776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63" y="0"/>
            <a:ext cx="2946595" cy="103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E427A3-A526-EA87-1871-BE39C5C89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393" y="116692"/>
            <a:ext cx="2262123" cy="7570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0CCD7E-C9A4-4D5D-86B6-DC017AD9A7C3}"/>
              </a:ext>
            </a:extLst>
          </p:cNvPr>
          <p:cNvSpPr txBox="1"/>
          <p:nvPr/>
        </p:nvSpPr>
        <p:spPr>
          <a:xfrm>
            <a:off x="1357884" y="2194559"/>
            <a:ext cx="9445752" cy="1783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EA580C"/>
                </a:solidFill>
                <a:latin typeface="Segoe UI"/>
              </a:defRPr>
            </a:pPr>
            <a:r>
              <a:rPr dirty="0"/>
              <a:t>PROBLEM STATEMENT 04: TRUST &amp; SAFETY · MEDIA FORENSICS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  <a:defRPr sz="44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DEEPGUARD</a:t>
            </a:r>
          </a:p>
          <a:p>
            <a:pPr algn="ctr">
              <a:spcBef>
                <a:spcPts val="200"/>
              </a:spcBef>
              <a:defRPr sz="1800" b="1">
                <a:solidFill>
                  <a:srgbClr val="0284C7"/>
                </a:solidFill>
                <a:latin typeface="Segoe UI"/>
              </a:defRPr>
            </a:pPr>
            <a:r>
              <a:rPr dirty="0"/>
              <a:t>Deepfake Detection &amp; Viral Takedown Tracker</a:t>
            </a:r>
          </a:p>
          <a:p>
            <a:pPr algn="ctr">
              <a:spcBef>
                <a:spcPts val="300"/>
              </a:spcBef>
              <a:defRPr sz="1400" i="1">
                <a:solidFill>
                  <a:srgbClr val="64748B"/>
                </a:solidFill>
                <a:latin typeface="Segoe UI"/>
              </a:defRPr>
            </a:pPr>
            <a:r>
              <a:rPr dirty="0"/>
              <a:t>"Detect manipulated media. Trace viral spread. Automate takedowns before harm multiplies."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F6C0F-365A-F329-3EF0-2F7D3CC66FC6}"/>
              </a:ext>
            </a:extLst>
          </p:cNvPr>
          <p:cNvSpPr txBox="1"/>
          <p:nvPr/>
        </p:nvSpPr>
        <p:spPr>
          <a:xfrm>
            <a:off x="1371600" y="3977639"/>
            <a:ext cx="572516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00" b="1">
                <a:solidFill>
                  <a:srgbClr val="EA580C"/>
                </a:solidFill>
                <a:latin typeface="Segoe UI"/>
              </a:defRPr>
            </a:pPr>
            <a:r>
              <a:rPr sz="2400" dirty="0"/>
              <a:t>TEAM DETAILS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rPr sz="2400" dirty="0"/>
              <a:t>Team Name: AI Avengers</a:t>
            </a:r>
          </a:p>
          <a:p>
            <a:pPr>
              <a:spcBef>
                <a:spcPts val="200"/>
              </a:spcBef>
              <a:defRPr sz="1200" i="1">
                <a:solidFill>
                  <a:srgbClr val="64748B"/>
                </a:solidFill>
                <a:latin typeface="Segoe UI"/>
              </a:defRPr>
            </a:pPr>
            <a:r>
              <a:rPr sz="2400" dirty="0"/>
              <a:t>Don Bosco Institute of Technology (DBIT)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BE2F43-5C49-991E-F1B0-2C69CD8D894A}"/>
              </a:ext>
            </a:extLst>
          </p:cNvPr>
          <p:cNvSpPr txBox="1"/>
          <p:nvPr/>
        </p:nvSpPr>
        <p:spPr>
          <a:xfrm>
            <a:off x="7157720" y="4058919"/>
            <a:ext cx="4572000" cy="204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00" b="1">
                <a:solidFill>
                  <a:srgbClr val="EA580C"/>
                </a:solidFill>
                <a:latin typeface="Segoe UI"/>
              </a:defRPr>
            </a:pPr>
            <a:r>
              <a:rPr sz="2400" dirty="0"/>
              <a:t>TEAM MEMBERS &amp; ROLES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F172A"/>
                </a:solidFill>
                <a:latin typeface="Segoe UI"/>
              </a:rPr>
              <a:t>• Raj </a:t>
            </a:r>
            <a:r>
              <a:rPr sz="2400" b="1" dirty="0" err="1">
                <a:solidFill>
                  <a:srgbClr val="0F172A"/>
                </a:solidFill>
                <a:latin typeface="Segoe UI"/>
              </a:rPr>
              <a:t>Aanada</a:t>
            </a:r>
            <a:endParaRPr sz="2400" dirty="0">
              <a:solidFill>
                <a:srgbClr val="334155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F172A"/>
                </a:solidFill>
                <a:latin typeface="Segoe UI"/>
              </a:rPr>
              <a:t>• </a:t>
            </a:r>
            <a:r>
              <a:rPr sz="2400" b="1" dirty="0" err="1">
                <a:solidFill>
                  <a:srgbClr val="0F172A"/>
                </a:solidFill>
                <a:latin typeface="Segoe UI"/>
              </a:rPr>
              <a:t>Yashma</a:t>
            </a:r>
            <a:r>
              <a:rPr sz="2400" b="1" dirty="0">
                <a:solidFill>
                  <a:srgbClr val="0F172A"/>
                </a:solidFill>
                <a:latin typeface="Segoe UI"/>
              </a:rPr>
              <a:t> C P</a:t>
            </a:r>
            <a:endParaRPr sz="2400" dirty="0">
              <a:solidFill>
                <a:srgbClr val="334155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F172A"/>
                </a:solidFill>
                <a:latin typeface="Segoe UI"/>
              </a:rPr>
              <a:t>• Likith M</a:t>
            </a:r>
            <a:endParaRPr sz="2400" dirty="0">
              <a:solidFill>
                <a:srgbClr val="334155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F172A"/>
                </a:solidFill>
                <a:latin typeface="Segoe UI"/>
              </a:rPr>
              <a:t>• Yashwanth K R</a:t>
            </a:r>
            <a:endParaRPr sz="2400" dirty="0">
              <a:solidFill>
                <a:srgbClr val="334155"/>
              </a:solidFill>
              <a:latin typeface="Segoe UI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109518-8B78-DF36-D749-48EDE87089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77237"/>
            <a:ext cx="6096001" cy="211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2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D371E4-788F-AE25-55F2-F8C84245D0A5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2/7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85D40A-ABCD-6EA1-BF61-D6FD90780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A06408-5286-A806-B200-9C4DF74BAB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tIns="0" rIns="73152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 &amp; Its Relevance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Deepfakes Move Faster Than Human Triage.  </a:t>
            </a:r>
            <a:r>
              <a:rPr sz="1250" i="1">
                <a:solidFill>
                  <a:srgbClr val="64748B"/>
                </a:solidFill>
                <a:latin typeface="Segoe UI"/>
              </a:rPr>
              <a:t>A single fake clip reaches millions in minutes, destroying reputations before reports are seen.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14300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534160" y="1244600"/>
            <a:ext cx="114300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THREAT VECTORS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90472"/>
            <a:ext cx="3154680" cy="1874519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EXACT PROBLEM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Hyper-Realistic AI Fakes: </a:t>
            </a:r>
            <a:r>
              <a:rPr sz="1100">
                <a:solidFill>
                  <a:srgbClr val="334155"/>
                </a:solidFill>
                <a:latin typeface="Segoe UI"/>
              </a:rPr>
              <a:t>Convincing face-swaps and voice clones created with zero barrier.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Viral Spread Velocity: </a:t>
            </a:r>
            <a:r>
              <a:rPr sz="1100">
                <a:solidFill>
                  <a:srgbClr val="334155"/>
                </a:solidFill>
                <a:latin typeface="Segoe UI"/>
              </a:rPr>
              <a:t>Altered copies are cropped, mirrored, and reposted in seconds.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Asymmetric Triage: </a:t>
            </a:r>
            <a:r>
              <a:rPr sz="1100">
                <a:solidFill>
                  <a:srgbClr val="334155"/>
                </a:solidFill>
                <a:latin typeface="Segoe UI"/>
              </a:rPr>
              <a:t>Victims face slow 72-hour manual reporting while damage compounds.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20440"/>
            <a:ext cx="33375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534160" y="3611880"/>
            <a:ext cx="114300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URGENCY &amp;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67912"/>
            <a:ext cx="3154680" cy="182880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defRPr sz="1350" b="1">
                <a:solidFill>
                  <a:srgbClr val="C2410C"/>
                </a:solidFill>
                <a:latin typeface="Segoe UI"/>
              </a:defRPr>
            </a:pPr>
            <a:r>
              <a:t>WHY DOES THIS MATTER?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550% Surge in Deepfakes: </a:t>
            </a:r>
            <a:r>
              <a:rPr sz="1100">
                <a:solidFill>
                  <a:srgbClr val="334155"/>
                </a:solidFill>
                <a:latin typeface="Segoe UI"/>
              </a:rPr>
              <a:t>Over 500,000 synthetic attacks logged in 2024 alone.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Irreversible Harm: </a:t>
            </a:r>
            <a:r>
              <a:rPr sz="1100">
                <a:solidFill>
                  <a:srgbClr val="334155"/>
                </a:solidFill>
                <a:latin typeface="Segoe UI"/>
              </a:rPr>
              <a:t>80% retain false narratives even after official retractions.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Crippling Latency: </a:t>
            </a:r>
            <a:r>
              <a:rPr sz="1100">
                <a:solidFill>
                  <a:srgbClr val="334155"/>
                </a:solidFill>
                <a:latin typeface="Segoe UI"/>
              </a:rPr>
              <a:t>Standard DMCA takes 3–5 days; viral damage occurs in &lt;2 hours.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Trust Crisis: </a:t>
            </a:r>
            <a:r>
              <a:rPr sz="1100">
                <a:solidFill>
                  <a:srgbClr val="334155"/>
                </a:solidFill>
                <a:latin typeface="Segoe UI"/>
              </a:rPr>
              <a:t>Weaponized against elections, leaders, and private citizens.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1143000"/>
            <a:ext cx="3977639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realistic_deepfake_forensic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1170432"/>
            <a:ext cx="3922776" cy="218541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26" name="Rounded Rectangle 25"/>
          <p:cNvSpPr/>
          <p:nvPr/>
        </p:nvSpPr>
        <p:spPr>
          <a:xfrm>
            <a:off x="4069080" y="3520440"/>
            <a:ext cx="397763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206240" y="3611880"/>
            <a:ext cx="128016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ATTACK LIFECYCLE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7" y="3858768"/>
            <a:ext cx="3858768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EA580C"/>
                </a:solidFill>
                <a:latin typeface="Segoe UI"/>
              </a:defRPr>
            </a:pPr>
            <a:r>
              <a:t>① Creation ➔ ② Seed ➔ ③ Mirror ➔ ④ Harm ➔ ⑤ Triage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Without perceptual tracking, altered copies reappear indefinitely across platforms.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1143000"/>
            <a:ext cx="3410712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13520" y="1243584"/>
            <a:ext cx="132588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AFFECTED PARTIES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508760"/>
            <a:ext cx="3227832" cy="3108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WHO FACES THIS PROBLEM?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Public Figures &amp; Leaders: </a:t>
            </a:r>
            <a:r>
              <a:rPr sz="1200">
                <a:solidFill>
                  <a:srgbClr val="334155"/>
                </a:solidFill>
                <a:latin typeface="Segoe UI"/>
              </a:rPr>
              <a:t>Political disinformation, forged statements, and election tampering.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Private Citizens &amp; Students: </a:t>
            </a:r>
            <a:r>
              <a:rPr sz="1200">
                <a:solidFill>
                  <a:srgbClr val="334155"/>
                </a:solidFill>
                <a:latin typeface="Segoe UI"/>
              </a:rPr>
              <a:t>Cyberbullying, identity theft, and non-consensual synthetic abuse.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Newsrooms &amp; Fact-Checkers: </a:t>
            </a:r>
            <a:r>
              <a:rPr sz="1200">
                <a:solidFill>
                  <a:srgbClr val="334155"/>
                </a:solidFill>
                <a:latin typeface="Segoe UI"/>
              </a:rPr>
              <a:t>Need rapid verification for breaking viral video before broadcast.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Trust &amp; Safety Teams: </a:t>
            </a:r>
            <a:r>
              <a:rPr sz="1200">
                <a:solidFill>
                  <a:srgbClr val="334155"/>
                </a:solidFill>
                <a:latin typeface="Segoe UI"/>
              </a:rPr>
              <a:t>Millions of daily uploads swamping manual human review queues.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69080" y="4800600"/>
            <a:ext cx="7525512" cy="9601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206240" y="4873752"/>
            <a:ext cx="137160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CORE CHALLENGE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5102352"/>
            <a:ext cx="7342631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"How might we automatically detect manipulated media with explainable confidence, trace its viral spread across altered copies, and empower victims with automated one-click takedowns?"</a:t>
            </a:r>
          </a:p>
        </p:txBody>
      </p:sp>
    </p:spTree>
    <p:extLst>
      <p:ext uri="{BB962C8B-B14F-4D97-AF65-F5344CB8AC3E}">
        <p14:creationId xmlns:p14="http://schemas.microsoft.com/office/powerpoint/2010/main" val="381375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4AFF3A-2B62-5009-AFA7-F5DB6526AAB7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3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144BEE-B900-92C2-AC75-3EF80CC66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4BB20-3A67-09ED-A11D-79CD9826E7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tIns="0" rIns="73152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Proposed Solution &amp; Innovation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DEEPGUARD – Multi-Modal Forensics &amp; Automated Takedown Platform  </a:t>
            </a:r>
            <a:r>
              <a:rPr sz="1250" i="1">
                <a:solidFill>
                  <a:srgbClr val="64748B"/>
                </a:solidFill>
                <a:latin typeface="Segoe UI"/>
              </a:rPr>
              <a:t>"Detect artifacts, trace viral spread, and halt harm in minutes."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43434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125980" y="1239012"/>
            <a:ext cx="128016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CORE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508760"/>
            <a:ext cx="4160520" cy="1783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C2410C"/>
                </a:solidFill>
                <a:latin typeface="Segoe UI"/>
              </a:defRPr>
            </a:pPr>
            <a:r>
              <a:t>WHAT ARE WE PROPOSING?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Unified Forensics: </a:t>
            </a:r>
            <a:r>
              <a:rPr sz="1200">
                <a:solidFill>
                  <a:srgbClr val="334155"/>
                </a:solidFill>
                <a:latin typeface="Segoe UI"/>
              </a:rPr>
              <a:t>Combines multi-modal detection, viral spread mapping, and legal takedowns.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Perceptual Invariance: </a:t>
            </a:r>
            <a:r>
              <a:rPr sz="1200">
                <a:solidFill>
                  <a:srgbClr val="334155"/>
                </a:solidFill>
                <a:latin typeface="Segoe UI"/>
              </a:rPr>
              <a:t>pHash &amp; visual embeddings detect cropped, compressed, and mirrored copies.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Automated DMCA: </a:t>
            </a:r>
            <a:r>
              <a:rPr sz="1200">
                <a:solidFill>
                  <a:srgbClr val="334155"/>
                </a:solidFill>
                <a:latin typeface="Segoe UI"/>
              </a:rPr>
              <a:t>Dispatches verified C2PA legal notices to platform APIs in under 15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143000"/>
            <a:ext cx="6519672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realistic_deepguard_dashbo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1170432"/>
            <a:ext cx="6464808" cy="21854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7" name="Rounded Rectangle 16"/>
          <p:cNvSpPr/>
          <p:nvPr/>
        </p:nvSpPr>
        <p:spPr>
          <a:xfrm>
            <a:off x="594360" y="3520440"/>
            <a:ext cx="3547872" cy="150876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86868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PILLAR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40480"/>
            <a:ext cx="33649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1. Multi-Modal Forensic Fusion</a:t>
            </a:r>
          </a:p>
          <a:p>
            <a:pPr>
              <a:spcBef>
                <a:spcPts val="2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EfficientNet-B4 spatial anomaly detection, WavLM audio spectral analysis, and DCT frequency heatmaps robust against re-compression.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3520440"/>
            <a:ext cx="3547872" cy="150876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53128" y="3611880"/>
            <a:ext cx="86868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PILLAR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3840480"/>
            <a:ext cx="33649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C2410C"/>
                </a:solidFill>
                <a:latin typeface="Segoe UI"/>
              </a:defRPr>
            </a:pPr>
            <a:r>
              <a:t>2. Perceptual Hash Spread Graph</a:t>
            </a:r>
          </a:p>
          <a:p>
            <a:pPr>
              <a:spcBef>
                <a:spcPts val="2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pHash and CLIP visual embeddings construct a directed propagation DAG mapping mirrored copies, formats, and patient-zero source.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6" y="3520440"/>
            <a:ext cx="3547872" cy="15087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74736" y="3611880"/>
            <a:ext cx="86868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PILLAR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9016" y="3840480"/>
            <a:ext cx="33649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Segoe UI"/>
              </a:defRPr>
            </a:pPr>
            <a:r>
              <a:t>3. Explainable Legal Takedown API</a:t>
            </a:r>
          </a:p>
          <a:p>
            <a:pPr>
              <a:spcBef>
                <a:spcPts val="2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Generates C2PA-compliant cryptographic proof dossiers and dispatches automated, platform-specific DMCA notices via webhooks in &lt;15 mins.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166360"/>
            <a:ext cx="1100023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" y="5230368"/>
            <a:ext cx="1280160" cy="20116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END-TO-END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150" b="1">
                <a:solidFill>
                  <a:srgbClr val="EA580C"/>
                </a:solidFill>
                <a:latin typeface="Segoe UI"/>
              </a:defRPr>
            </a:pPr>
            <a:r>
              <a:t>⚡ [1] Ingestion ➔ [2] Forensics ➔ [3] Heatmap ➔ [4] pHash Index ➔ [5] Spread DAG ➔ [6] Legal Notice ➔ [7] Platform API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From video upload to automated DMCA platform filing and verifiable legal evidence in &lt;15 minutes.</a:t>
            </a:r>
          </a:p>
        </p:txBody>
      </p:sp>
    </p:spTree>
    <p:extLst>
      <p:ext uri="{BB962C8B-B14F-4D97-AF65-F5344CB8AC3E}">
        <p14:creationId xmlns:p14="http://schemas.microsoft.com/office/powerpoint/2010/main" val="413409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3682782-3FA5-0419-F223-8927F3C57C9F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4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D14755-D70D-2DF8-794D-61FDEBA1F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A15BF0-813C-12C8-41EF-316E8885BD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tIns="0" rIns="73152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Existing Solutions &amp; Differentiation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From Isolated Dashboards to an Integrated Takedown Ecosystem.  </a:t>
            </a:r>
            <a:r>
              <a:rPr sz="1250" i="1">
                <a:solidFill>
                  <a:srgbClr val="64748B"/>
                </a:solidFill>
                <a:latin typeface="Segoe UI"/>
              </a:rPr>
              <a:t>Why legacy detectors fail on viral media — and how DeepGuard wins.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143000"/>
            <a:ext cx="470916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263140" y="1223772"/>
            <a:ext cx="137160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LEGACY SHORTCOMINGS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508760"/>
            <a:ext cx="45262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Segoe UI"/>
              </a:defRPr>
            </a:pPr>
            <a:r>
              <a:t>EXISTING SOLUTIONS &amp; LIMITATIONS</a:t>
            </a:r>
          </a:p>
        </p:txBody>
      </p:sp>
      <p:pic>
        <p:nvPicPr>
          <p:cNvPr id="17" name="Picture 16" descr="widget_ai_detect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74519"/>
            <a:ext cx="1234440" cy="685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2057400" y="1874519"/>
            <a:ext cx="315468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Generic Online Detectors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Vague % score with no explainable heatmap; zero viral spread tracking.</a:t>
            </a:r>
          </a:p>
        </p:txBody>
      </p:sp>
      <p:pic>
        <p:nvPicPr>
          <p:cNvPr id="19" name="Picture 18" descr="widget_hash_fail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697480"/>
            <a:ext cx="1234440" cy="685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0" name="TextBox 19"/>
          <p:cNvSpPr txBox="1"/>
          <p:nvPr/>
        </p:nvSpPr>
        <p:spPr>
          <a:xfrm>
            <a:off x="2057400" y="2697480"/>
            <a:ext cx="315468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Platform Content-ID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Exact hash match (MD5) easily bypassed by cropping, mirrors, or filters.</a:t>
            </a:r>
          </a:p>
        </p:txBody>
      </p:sp>
      <p:pic>
        <p:nvPicPr>
          <p:cNvPr id="21" name="Picture 20" descr="widget_dmca_pendi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520440"/>
            <a:ext cx="1234440" cy="685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2" name="TextBox 21"/>
          <p:cNvSpPr txBox="1"/>
          <p:nvPr/>
        </p:nvSpPr>
        <p:spPr>
          <a:xfrm>
            <a:off x="2057400" y="3520440"/>
            <a:ext cx="315468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Manual DMCA Filing Forms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Tedious 48–72 hr forms per platform; copies keep spreading unchecked.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2606040"/>
            <a:ext cx="594360" cy="5943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40680" y="2606040"/>
            <a:ext cx="594360" cy="594360"/>
          </a:xfrm>
          <a:prstGeom prst="rect">
            <a:avLst/>
          </a:prstGeom>
          <a:noFill/>
        </p:spPr>
        <p:txBody>
          <a:bodyPr wrap="square" lIns="0" tIns="109728" rIns="0">
            <a:spAutoFit/>
          </a:bodyPr>
          <a:lstStyle/>
          <a:p>
            <a:pPr algn="ctr">
              <a:defRPr sz="1400" b="1">
                <a:solidFill>
                  <a:srgbClr val="EA580C"/>
                </a:solidFill>
                <a:latin typeface="Segoe UI"/>
              </a:defRPr>
            </a:pPr>
            <a:r>
              <a:t>VS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143000"/>
            <a:ext cx="5422392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06156" y="1225296"/>
            <a:ext cx="1554480" cy="21945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DEEPGUARD ADVANTAGE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508760"/>
            <a:ext cx="5239512" cy="3337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OUR SOLUTION: DEEPGUARD ADVANTAGES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6A34A"/>
                </a:solidFill>
                <a:latin typeface="Segoe UI"/>
              </a:rPr>
              <a:t>✔ Multi-Modal Scope: </a:t>
            </a:r>
            <a:r>
              <a:rPr sz="1200">
                <a:solidFill>
                  <a:srgbClr val="334155"/>
                </a:solidFill>
                <a:latin typeface="Segoe UI"/>
              </a:rPr>
              <a:t>Analyzes video frames, audio tracks, and EXIF metadata simultaneously.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6A34A"/>
                </a:solidFill>
                <a:latin typeface="Segoe UI"/>
              </a:rPr>
              <a:t>✔ Bypass-Resistant: </a:t>
            </a:r>
            <a:r>
              <a:rPr sz="1200">
                <a:solidFill>
                  <a:srgbClr val="334155"/>
                </a:solidFill>
                <a:latin typeface="Segoe UI"/>
              </a:rPr>
              <a:t>Perceptual hashing (pHash) matches cropped, compressed, and filtered copies.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6A34A"/>
                </a:solidFill>
                <a:latin typeface="Segoe UI"/>
              </a:rPr>
              <a:t>✔ Viral Spread Mapping: </a:t>
            </a:r>
            <a:r>
              <a:rPr sz="1200">
                <a:solidFill>
                  <a:srgbClr val="334155"/>
                </a:solidFill>
                <a:latin typeface="Segoe UI"/>
              </a:rPr>
              <a:t>Directed propagation DAG identifies patient-zero and all downstream mirrors.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6A34A"/>
                </a:solidFill>
                <a:latin typeface="Segoe UI"/>
              </a:rPr>
              <a:t>✔ Automated Takedown: </a:t>
            </a:r>
            <a:r>
              <a:rPr sz="1200">
                <a:solidFill>
                  <a:srgbClr val="334155"/>
                </a:solidFill>
                <a:latin typeface="Segoe UI"/>
              </a:rPr>
              <a:t>Pre-filled DMCA notices &amp; API webhooks cut response time from 72h to &lt;15m.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6A34A"/>
                </a:solidFill>
                <a:latin typeface="Segoe UI"/>
              </a:rPr>
              <a:t>✔ Full Explainability: </a:t>
            </a:r>
            <a:r>
              <a:rPr sz="1200">
                <a:solidFill>
                  <a:srgbClr val="334155"/>
                </a:solidFill>
                <a:latin typeface="Segoe UI"/>
              </a:rPr>
              <a:t>Generates Grad-CAM visual heatmaps and C2PA cryptographic audit trails.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074920"/>
            <a:ext cx="11000232" cy="8686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1520" y="5138928"/>
            <a:ext cx="146304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COMPETITIVE MOAT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376672"/>
            <a:ext cx="10817352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🏆 Judges and investigators can inject a manipulated video, inspect real-time Grad-CAM heatmaps, trace all derivative re-uploads on the spread DAG, and dispatch simulated DMCA takedowns in seconds.</a:t>
            </a:r>
          </a:p>
        </p:txBody>
      </p:sp>
    </p:spTree>
    <p:extLst>
      <p:ext uri="{BB962C8B-B14F-4D97-AF65-F5344CB8AC3E}">
        <p14:creationId xmlns:p14="http://schemas.microsoft.com/office/powerpoint/2010/main" val="3699086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D4C68F8-207D-56DE-939C-68C28613B3E3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5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576391-3192-3C0D-E19E-5B1E69569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A876C4-AFF8-8B42-BB2A-C0440FD2D7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tIns="0" rIns="73152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Technical Approach &amp; Feasibility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A Working Forensic &amp; Takedown Engine, Not Just a Visual Demo.  </a:t>
            </a:r>
            <a:r>
              <a:rPr sz="1250" i="1">
                <a:solidFill>
                  <a:srgbClr val="64748B"/>
                </a:solidFill>
                <a:latin typeface="Segoe UI"/>
              </a:rPr>
              <a:t>Full-stack architecture, deterministic graph traversal, and 24-hour hackathon scope.</a:t>
            </a:r>
          </a:p>
        </p:txBody>
      </p:sp>
      <p:pic>
        <p:nvPicPr>
          <p:cNvPr id="13" name="Picture 12" descr="realistic_architecture_diagra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946189"/>
            <a:ext cx="8337756" cy="3090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Rounded Rectangle 13"/>
          <p:cNvSpPr/>
          <p:nvPr/>
        </p:nvSpPr>
        <p:spPr>
          <a:xfrm>
            <a:off x="594360" y="3520440"/>
            <a:ext cx="354787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696720" y="3584448"/>
            <a:ext cx="109728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TECH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58768"/>
            <a:ext cx="3364992" cy="1920240"/>
          </a:xfrm>
          <a:prstGeom prst="rect">
            <a:avLst/>
          </a:prstGeom>
          <a:noFill/>
        </p:spPr>
        <p:txBody>
          <a:bodyPr wrap="square" lIns="73152" tIns="9144" rIns="73152" bIns="9144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🛠 TECHNOLOGIES USED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284C7"/>
                </a:solidFill>
                <a:latin typeface="Segoe UI"/>
              </a:rPr>
              <a:t>• Frontend: </a:t>
            </a:r>
            <a:r>
              <a:rPr sz="1050">
                <a:solidFill>
                  <a:srgbClr val="334155"/>
                </a:solidFill>
                <a:latin typeface="Segoe UI"/>
              </a:rPr>
              <a:t>React.js, Tailwind CSS, D3.js, Canvas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284C7"/>
                </a:solidFill>
                <a:latin typeface="Segoe UI"/>
              </a:rPr>
              <a:t>• Backend API: </a:t>
            </a:r>
            <a:r>
              <a:rPr sz="1050">
                <a:solidFill>
                  <a:srgbClr val="334155"/>
                </a:solidFill>
                <a:latin typeface="Segoe UI"/>
              </a:rPr>
              <a:t>Python 3.12, FastAPI, Celery, Redis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284C7"/>
                </a:solidFill>
                <a:latin typeface="Segoe UI"/>
              </a:rPr>
              <a:t>• Forensic ML: </a:t>
            </a:r>
            <a:r>
              <a:rPr sz="1050">
                <a:solidFill>
                  <a:srgbClr val="334155"/>
                </a:solidFill>
                <a:latin typeface="Segoe UI"/>
              </a:rPr>
              <a:t>PyTorch, EfficientNet-B4, WavLM, OpenCV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284C7"/>
                </a:solidFill>
                <a:latin typeface="Segoe UI"/>
              </a:rPr>
              <a:t>• Search &amp; Graph: </a:t>
            </a:r>
            <a:r>
              <a:rPr sz="1050">
                <a:solidFill>
                  <a:srgbClr val="334155"/>
                </a:solidFill>
                <a:latin typeface="Segoe UI"/>
              </a:rPr>
              <a:t>Milvus Vector DB, NetworkX, pHash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284C7"/>
                </a:solidFill>
                <a:latin typeface="Segoe UI"/>
              </a:rPr>
              <a:t>• Cloud &amp; Standards: </a:t>
            </a:r>
            <a:r>
              <a:rPr sz="1050">
                <a:solidFill>
                  <a:srgbClr val="334155"/>
                </a:solidFill>
                <a:latin typeface="Segoe UI"/>
              </a:rPr>
              <a:t>AWS S3, SQLite, Docker, C2PA Standard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3520440"/>
            <a:ext cx="3547872" cy="23317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98238" y="3584448"/>
            <a:ext cx="109728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AI RATIONALE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858768"/>
            <a:ext cx="3364992" cy="1920240"/>
          </a:xfrm>
          <a:prstGeom prst="rect">
            <a:avLst/>
          </a:prstGeom>
          <a:noFill/>
        </p:spPr>
        <p:txBody>
          <a:bodyPr wrap="square" lIns="73152" tIns="9144" rIns="73152" bIns="9144">
            <a:spAutoFit/>
          </a:bodyPr>
          <a:lstStyle/>
          <a:p>
            <a:pPr>
              <a:defRPr sz="1250" b="1">
                <a:solidFill>
                  <a:srgbClr val="C2410C"/>
                </a:solidFill>
                <a:latin typeface="Segoe UI"/>
              </a:defRPr>
            </a:pPr>
            <a:r>
              <a:t>🤖 WHERE IS AI NEEDED?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Subtle Artifacts: </a:t>
            </a:r>
            <a:r>
              <a:rPr sz="1050">
                <a:solidFill>
                  <a:srgbClr val="334155"/>
                </a:solidFill>
                <a:latin typeface="Segoe UI"/>
              </a:rPr>
              <a:t>Deep neural nets detect sub-pixel boundary warping and synthetic vocal jitter invisible to rule engines.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Invariant Matching: </a:t>
            </a:r>
            <a:r>
              <a:rPr sz="1050">
                <a:solidFill>
                  <a:srgbClr val="334155"/>
                </a:solidFill>
                <a:latin typeface="Segoe UI"/>
              </a:rPr>
              <a:t>Embeddings match cropped, compressed, or speed-altered re-uploads across platforms.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Deterministic Rules: </a:t>
            </a:r>
            <a:r>
              <a:rPr sz="1050">
                <a:solidFill>
                  <a:srgbClr val="334155"/>
                </a:solidFill>
                <a:latin typeface="Segoe UI"/>
              </a:rPr>
              <a:t>Takedown filing and provenance validation use deterministic logic to prevent false claims.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6" y="3520440"/>
            <a:ext cx="3547872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92212" y="3584448"/>
            <a:ext cx="109728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MVP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3858768"/>
            <a:ext cx="3364992" cy="1920240"/>
          </a:xfrm>
          <a:prstGeom prst="rect">
            <a:avLst/>
          </a:prstGeom>
          <a:noFill/>
        </p:spPr>
        <p:txBody>
          <a:bodyPr wrap="square" lIns="73152" tIns="9144" rIns="73152" bIns="9144">
            <a:spAutoFit/>
          </a:bodyPr>
          <a:lstStyle/>
          <a:p>
            <a:pPr>
              <a:defRPr sz="1250" b="1">
                <a:solidFill>
                  <a:srgbClr val="16A34A"/>
                </a:solidFill>
                <a:latin typeface="Segoe UI"/>
              </a:defRPr>
            </a:pPr>
            <a:r>
              <a:t>🎯 HACKATHON MVP SCOPE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Media Ingestion: </a:t>
            </a:r>
            <a:r>
              <a:rPr sz="1050">
                <a:solidFill>
                  <a:srgbClr val="334155"/>
                </a:solidFill>
                <a:latin typeface="Segoe UI"/>
              </a:rPr>
              <a:t>Direct video upload &amp; social URL parser.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Forensic Scoring: </a:t>
            </a:r>
            <a:r>
              <a:rPr sz="1050">
                <a:solidFill>
                  <a:srgbClr val="334155"/>
                </a:solidFill>
                <a:latin typeface="Segoe UI"/>
              </a:rPr>
              <a:t>Per-frame Grad-CAM heatmaps &amp; verdict.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Variant Matching: </a:t>
            </a:r>
            <a:r>
              <a:rPr sz="1050">
                <a:solidFill>
                  <a:srgbClr val="334155"/>
                </a:solidFill>
                <a:latin typeface="Segoe UI"/>
              </a:rPr>
              <a:t>pHash detection of cropped/mirrored copies.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Spread Graph: </a:t>
            </a:r>
            <a:r>
              <a:rPr sz="1050">
                <a:solidFill>
                  <a:srgbClr val="334155"/>
                </a:solidFill>
                <a:latin typeface="Segoe UI"/>
              </a:rPr>
              <a:t>D3.js simulated viral propagation DAG.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Automated DMCA: </a:t>
            </a:r>
            <a:r>
              <a:rPr sz="1050">
                <a:solidFill>
                  <a:srgbClr val="334155"/>
                </a:solidFill>
                <a:latin typeface="Segoe UI"/>
              </a:rPr>
              <a:t>Pre-filled legal notice &amp; C2PA manifest log.</a:t>
            </a:r>
          </a:p>
        </p:txBody>
      </p:sp>
    </p:spTree>
    <p:extLst>
      <p:ext uri="{BB962C8B-B14F-4D97-AF65-F5344CB8AC3E}">
        <p14:creationId xmlns:p14="http://schemas.microsoft.com/office/powerpoint/2010/main" val="651658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49AD378-AC17-38C2-5566-39D8D6ECA8A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6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DC6F33-9ED0-770C-B837-461B3F045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D67373-12DD-F93F-3B42-B3E51D2BDF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tIns="0" rIns="73152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Expected Impact &amp; Execution Plan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Measure the Speed. Stop the Virality. Protect Victims at Scale.  </a:t>
            </a:r>
            <a:r>
              <a:rPr sz="1250" i="1">
                <a:solidFill>
                  <a:srgbClr val="64748B"/>
                </a:solidFill>
                <a:latin typeface="Segoe UI"/>
              </a:rPr>
              <a:t>Quantifiable metrics, stakeholder benefits, and 24-hour milestones.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333756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600200" y="1207008"/>
            <a:ext cx="118872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EXPECTED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463040"/>
            <a:ext cx="3154680" cy="1691640"/>
          </a:xfrm>
          <a:prstGeom prst="rect">
            <a:avLst/>
          </a:prstGeom>
          <a:noFill/>
        </p:spPr>
        <p:txBody>
          <a:bodyPr wrap="square" lIns="73152" tIns="9144" rIns="73152" bIns="9144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Segoe UI"/>
              </a:defRPr>
            </a:pPr>
            <a:r>
              <a:t>📈 QUANTIFIABLE OUTCOMES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95% Faster Takedown: </a:t>
            </a:r>
            <a:r>
              <a:rPr sz="1050">
                <a:solidFill>
                  <a:srgbClr val="334155"/>
                </a:solidFill>
                <a:latin typeface="Segoe UI"/>
              </a:rPr>
              <a:t>Cuts triage from 72h to &lt;15 mins.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Viral Containment: </a:t>
            </a:r>
            <a:r>
              <a:rPr sz="1050">
                <a:solidFill>
                  <a:srgbClr val="334155"/>
                </a:solidFill>
                <a:latin typeface="Segoe UI"/>
              </a:rPr>
              <a:t>Halts derivative mirrors before 100K views.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Victim Agency: </a:t>
            </a:r>
            <a:r>
              <a:rPr sz="1050">
                <a:solidFill>
                  <a:srgbClr val="334155"/>
                </a:solidFill>
                <a:latin typeface="Segoe UI"/>
              </a:rPr>
              <a:t>Free 1-click court-ready C2PA legal dossier.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Scalable Workers: </a:t>
            </a:r>
            <a:r>
              <a:rPr sz="1050">
                <a:solidFill>
                  <a:srgbClr val="334155"/>
                </a:solidFill>
                <a:latin typeface="Segoe UI"/>
              </a:rPr>
              <a:t>Stateless pipeline handles 10,000+ daily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1143000"/>
            <a:ext cx="4069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394960" y="1202436"/>
            <a:ext cx="128016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TARGET BENCHMARKS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463040"/>
            <a:ext cx="3886200" cy="1691640"/>
          </a:xfrm>
          <a:prstGeom prst="rect">
            <a:avLst/>
          </a:prstGeom>
          <a:noFill/>
        </p:spPr>
        <p:txBody>
          <a:bodyPr wrap="square" lIns="73152" tIns="9144" rIns="73152" bIns="9144">
            <a:spAutoFit/>
          </a:bodyPr>
          <a:lstStyle/>
          <a:p>
            <a:pPr>
              <a:defRPr sz="1250" b="1">
                <a:solidFill>
                  <a:srgbClr val="C2410C"/>
                </a:solidFill>
                <a:latin typeface="Segoe UI"/>
              </a:defRPr>
            </a:pPr>
            <a:r>
              <a:t>🎯 EVALUATION TARGETS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&gt;92% Detection F1: </a:t>
            </a:r>
            <a:r>
              <a:rPr sz="1050">
                <a:solidFill>
                  <a:srgbClr val="334155"/>
                </a:solidFill>
                <a:latin typeface="Segoe UI"/>
              </a:rPr>
              <a:t>Benchmarked on DFDC &amp; FaceForensics++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&lt;15 Min Takedown: </a:t>
            </a:r>
            <a:r>
              <a:rPr sz="1050">
                <a:solidFill>
                  <a:srgbClr val="334155"/>
                </a:solidFill>
                <a:latin typeface="Segoe UI"/>
              </a:rPr>
              <a:t>Automated DMCA vs. 3-day manual triage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&gt;88% Variant Match: </a:t>
            </a:r>
            <a:r>
              <a:rPr sz="1050">
                <a:solidFill>
                  <a:srgbClr val="334155"/>
                </a:solidFill>
                <a:latin typeface="Segoe UI"/>
              </a:rPr>
              <a:t>Identifies cropped &amp; re-encoded social mirrors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&lt;3% False Positives: </a:t>
            </a:r>
            <a:r>
              <a:rPr sz="1050">
                <a:solidFill>
                  <a:srgbClr val="334155"/>
                </a:solidFill>
                <a:latin typeface="Segoe UI"/>
              </a:rPr>
              <a:t>Validated against authentic broadcast news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143000"/>
            <a:ext cx="331927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340596" y="1197864"/>
            <a:ext cx="118872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KEY BENEFICIARIES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463040"/>
            <a:ext cx="3136392" cy="1691640"/>
          </a:xfrm>
          <a:prstGeom prst="rect">
            <a:avLst/>
          </a:prstGeom>
          <a:noFill/>
        </p:spPr>
        <p:txBody>
          <a:bodyPr wrap="square" lIns="73152" tIns="9144" rIns="73152" bIns="9144">
            <a:spAutoFit/>
          </a:bodyPr>
          <a:lstStyle/>
          <a:p>
            <a:pPr>
              <a:defRPr sz="1250" b="1">
                <a:solidFill>
                  <a:srgbClr val="16A34A"/>
                </a:solidFill>
                <a:latin typeface="Segoe UI"/>
              </a:defRPr>
            </a:pPr>
            <a:r>
              <a:t>👥 WHO BENEFITS?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Targeted Victims: </a:t>
            </a:r>
            <a:r>
              <a:rPr sz="1050">
                <a:solidFill>
                  <a:srgbClr val="334155"/>
                </a:solidFill>
                <a:latin typeface="Segoe UI"/>
              </a:rPr>
              <a:t>Instant removal of defamatory synthetic media.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Platform Moderators: </a:t>
            </a:r>
            <a:r>
              <a:rPr sz="1050">
                <a:solidFill>
                  <a:srgbClr val="334155"/>
                </a:solidFill>
                <a:latin typeface="Segoe UI"/>
              </a:rPr>
              <a:t>Automated triage eliminating manual review backlogs.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Fact-Checkers: </a:t>
            </a:r>
            <a:r>
              <a:rPr sz="1050">
                <a:solidFill>
                  <a:srgbClr val="334155"/>
                </a:solidFill>
                <a:latin typeface="Segoe UI"/>
              </a:rPr>
              <a:t>Rapid verification for breaking user-generated video.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Legal Teams: </a:t>
            </a:r>
            <a:r>
              <a:rPr sz="1050">
                <a:solidFill>
                  <a:srgbClr val="334155"/>
                </a:solidFill>
                <a:latin typeface="Segoe UI"/>
              </a:rPr>
              <a:t>Verifiable cryptographic chain of custody for court.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310128"/>
            <a:ext cx="58521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697480" y="3383280"/>
            <a:ext cx="1463040" cy="21945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HACKATHON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657600"/>
            <a:ext cx="5669280" cy="2057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⏱ 24-HOUR HACKATHON MILESTONE ROADMAP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EA580C"/>
                </a:solidFill>
                <a:latin typeface="Segoe UI"/>
              </a:rPr>
              <a:t>• Hours 00–04 (Setup): </a:t>
            </a:r>
            <a:r>
              <a:rPr sz="1150">
                <a:solidFill>
                  <a:srgbClr val="334155"/>
                </a:solidFill>
                <a:latin typeface="Segoe UI"/>
              </a:rPr>
              <a:t>FastAPI ingestion, OpenCV frames, model weights.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EA580C"/>
                </a:solidFill>
                <a:latin typeface="Segoe UI"/>
              </a:rPr>
              <a:t>• Hours 04–10 (Forensics): </a:t>
            </a:r>
            <a:r>
              <a:rPr sz="1150">
                <a:solidFill>
                  <a:srgbClr val="334155"/>
                </a:solidFill>
                <a:latin typeface="Segoe UI"/>
              </a:rPr>
              <a:t>EfficientNet artifacts, WavLM biometrics, heatmaps.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EA580C"/>
                </a:solidFill>
                <a:latin typeface="Segoe UI"/>
              </a:rPr>
              <a:t>• Hours 10–16 (Spread Graph): </a:t>
            </a:r>
            <a:r>
              <a:rPr sz="1150">
                <a:solidFill>
                  <a:srgbClr val="334155"/>
                </a:solidFill>
                <a:latin typeface="Segoe UI"/>
              </a:rPr>
              <a:t>pHash indexing, Milvus vector search, NetworkX DAG.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EA580C"/>
                </a:solidFill>
                <a:latin typeface="Segoe UI"/>
              </a:rPr>
              <a:t>• Hours 16–20 (UI &amp; Legal): </a:t>
            </a:r>
            <a:r>
              <a:rPr sz="1150">
                <a:solidFill>
                  <a:srgbClr val="334155"/>
                </a:solidFill>
                <a:latin typeface="Segoe UI"/>
              </a:rPr>
              <a:t>React dashboard, D3.js spread graph, DMCA notices.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EA580C"/>
                </a:solidFill>
                <a:latin typeface="Segoe UI"/>
              </a:rPr>
              <a:t>• Hours 20–24 (Benchmarking): </a:t>
            </a:r>
            <a:r>
              <a:rPr sz="1150">
                <a:solidFill>
                  <a:srgbClr val="334155"/>
                </a:solidFill>
                <a:latin typeface="Segoe UI"/>
              </a:rPr>
              <a:t>Attack simulation, latency tuning, final pitch demo.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310128"/>
            <a:ext cx="5010912" cy="24688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49056" y="3398520"/>
            <a:ext cx="128016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EXPANSION PLANS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657600"/>
            <a:ext cx="4828032" cy="2057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C2410C"/>
                </a:solidFill>
                <a:latin typeface="Segoe UI"/>
              </a:defRPr>
            </a:pPr>
            <a:r>
              <a:t>🚀 FUTURE SCOPE &amp; SCALABILITY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Social Extension: </a:t>
            </a:r>
            <a:r>
              <a:rPr sz="1150">
                <a:solidFill>
                  <a:srgbClr val="334155"/>
                </a:solidFill>
                <a:latin typeface="Segoe UI"/>
              </a:rPr>
              <a:t>Real-time deepfake warning badge overlay on video feeds.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Decentralized Provenance: </a:t>
            </a:r>
            <a:r>
              <a:rPr sz="1150">
                <a:solidFill>
                  <a:srgbClr val="334155"/>
                </a:solidFill>
                <a:latin typeface="Segoe UI"/>
              </a:rPr>
              <a:t>C2PA blockchain ledger for immutable origin logs.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Moderation Webhooks: </a:t>
            </a:r>
            <a:r>
              <a:rPr sz="1150">
                <a:solidFill>
                  <a:srgbClr val="334155"/>
                </a:solidFill>
                <a:latin typeface="Segoe UI"/>
              </a:rPr>
              <a:t>Direct push connectors to YouTube, X, and TikTok APIs.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Live Stream Forensics: </a:t>
            </a:r>
            <a:r>
              <a:rPr sz="1150">
                <a:solidFill>
                  <a:srgbClr val="334155"/>
                </a:solidFill>
                <a:latin typeface="Segoe UI"/>
              </a:rPr>
              <a:t>Sub-second audio-visual inspection for live broadcast feeds.</a:t>
            </a:r>
          </a:p>
        </p:txBody>
      </p:sp>
    </p:spTree>
    <p:extLst>
      <p:ext uri="{BB962C8B-B14F-4D97-AF65-F5344CB8AC3E}">
        <p14:creationId xmlns:p14="http://schemas.microsoft.com/office/powerpoint/2010/main" val="28655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7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tIns="0" rIns="73152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Conclusion &amp; References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Protecting Truth, Identity, and Trust in the Age of Generative AI.  </a:t>
            </a:r>
            <a:r>
              <a:rPr sz="1250" i="1">
                <a:solidFill>
                  <a:srgbClr val="64748B"/>
                </a:solidFill>
                <a:latin typeface="Segoe UI"/>
              </a:rPr>
              <a:t>"Shifting the balance of power from deepfake creators back to victims."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4709160" cy="2788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354580" y="1243584"/>
            <a:ext cx="118872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CORE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4526280" cy="2331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C2410C"/>
                </a:solidFill>
                <a:latin typeface="Segoe UI"/>
              </a:defRPr>
            </a:pPr>
            <a:r>
              <a:t>💡 KEY TAKEAWAYS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Proactive Defense: </a:t>
            </a:r>
            <a:r>
              <a:rPr sz="1150">
                <a:solidFill>
                  <a:srgbClr val="334155"/>
                </a:solidFill>
                <a:latin typeface="Segoe UI"/>
              </a:rPr>
              <a:t>DeepGuard transforms deepfake response from helpless manual reporting into automated viral containment.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Multi-Modal Truth: </a:t>
            </a:r>
            <a:r>
              <a:rPr sz="1150">
                <a:solidFill>
                  <a:srgbClr val="334155"/>
                </a:solidFill>
                <a:latin typeface="Segoe UI"/>
              </a:rPr>
              <a:t>Fuses visual artifacts, audio biometrics, and perceptual hashing to resist evasion transforms.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Cross-Platform Mapping: </a:t>
            </a:r>
            <a:r>
              <a:rPr sz="1150">
                <a:solidFill>
                  <a:srgbClr val="334155"/>
                </a:solidFill>
                <a:latin typeface="Segoe UI"/>
              </a:rPr>
              <a:t>Traces patient-zero source and every derivative mirror across networks on a directed DAG.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Victim Empowerment: </a:t>
            </a:r>
            <a:r>
              <a:rPr sz="1150">
                <a:solidFill>
                  <a:srgbClr val="334155"/>
                </a:solidFill>
                <a:latin typeface="Segoe UI"/>
              </a:rPr>
              <a:t>Equips non-technical users with court-ready C2PA evidence and 1-click legal DMCA filing.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1143000"/>
            <a:ext cx="6153912" cy="2788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realistic_c2pa_provenan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1170432"/>
            <a:ext cx="6099048" cy="273405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16" name="Rounded Rectangle 15"/>
          <p:cNvSpPr/>
          <p:nvPr/>
        </p:nvSpPr>
        <p:spPr>
          <a:xfrm>
            <a:off x="594360" y="4023360"/>
            <a:ext cx="11000232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46304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ACADEMIC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1081735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📚 VERIFIABLE REFERENCES &amp; SCIENTIFIC BENCHMARKS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45152"/>
            <a:ext cx="530352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• 1. FaceForensics++ (ICCV): </a:t>
            </a:r>
            <a:r>
              <a:rPr sz="1050">
                <a:solidFill>
                  <a:srgbClr val="334155"/>
                </a:solidFill>
                <a:latin typeface="Segoe UI"/>
              </a:rPr>
              <a:t>Learning to Detect Manipulated Facial Images across Deepfake Methods. [arXiv:1901.08971]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2. Meta AI / Kaggle DFDC: </a:t>
            </a:r>
            <a:r>
              <a:rPr sz="1050">
                <a:solidFill>
                  <a:srgbClr val="334155"/>
                </a:solidFill>
                <a:latin typeface="Segoe UI"/>
              </a:rPr>
              <a:t>The DeepFake Detection Challenge Dataset and Benchmark Findings. [arXiv:2006.07397]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3. C2PA Standard: </a:t>
            </a:r>
            <a:r>
              <a:rPr sz="1050">
                <a:solidFill>
                  <a:srgbClr val="334155"/>
                </a:solidFill>
                <a:latin typeface="Segoe UI"/>
              </a:rPr>
              <a:t>Coalition for Content Provenance and Authenticity Technical Specification (c2pa.org).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645152"/>
            <a:ext cx="530352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• 4. Sumsub Fraud Report: </a:t>
            </a:r>
            <a:r>
              <a:rPr sz="1050">
                <a:solidFill>
                  <a:srgbClr val="334155"/>
                </a:solidFill>
                <a:latin typeface="Segoe UI"/>
              </a:rPr>
              <a:t>550%+ Surge in GenAI Deepfakes across Social and Identity Platforms (2024).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5. IEEE TIFS: </a:t>
            </a:r>
            <a:r>
              <a:rPr sz="1050">
                <a:solidFill>
                  <a:srgbClr val="334155"/>
                </a:solidFill>
                <a:latin typeface="Segoe UI"/>
              </a:rPr>
              <a:t>Perceptual Hashing &amp; Robust Media Fingerprinting under Non-Linear Compression.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6. Legal Compliance: </a:t>
            </a:r>
            <a:r>
              <a:rPr sz="1050">
                <a:solidFill>
                  <a:srgbClr val="334155"/>
                </a:solidFill>
                <a:latin typeface="Segoe UI"/>
              </a:rPr>
              <a:t>US Digital Millennium Copyright Act (17 U.S.C. § 512) &amp; EU AI Act Annex IV.</a:t>
            </a:r>
          </a:p>
        </p:txBody>
      </p:sp>
    </p:spTree>
    <p:extLst>
      <p:ext uri="{BB962C8B-B14F-4D97-AF65-F5344CB8AC3E}">
        <p14:creationId xmlns:p14="http://schemas.microsoft.com/office/powerpoint/2010/main" val="124432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1581</Words>
  <Application>Microsoft Office PowerPoint</Application>
  <PresentationFormat>Widescreen</PresentationFormat>
  <Paragraphs>151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Sadhana S</dc:creator>
  <cp:lastModifiedBy>Yashwanth K R</cp:lastModifiedBy>
  <cp:revision>7</cp:revision>
  <dcterms:created xsi:type="dcterms:W3CDTF">2026-10-16T15:16:25Z</dcterms:created>
  <dcterms:modified xsi:type="dcterms:W3CDTF">2026-10-24T18:58:56Z</dcterms:modified>
</cp:coreProperties>
</file>