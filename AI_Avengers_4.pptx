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1371600" y="1965960"/>
            <a:ext cx="9445752" cy="178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Segoe UI"/>
              </a:defRPr>
            </a:pPr>
            <a:r>
              <a:t>PROBLEM STATEMENT 04: TRUST &amp; SAFETY · MEDIA FORENSICS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  <a:defRPr sz="4400" b="1">
                <a:solidFill>
                  <a:srgbClr val="0F172A"/>
                </a:solidFill>
                <a:latin typeface="Segoe UI"/>
              </a:defRPr>
            </a:pPr>
            <a:r>
              <a:t>DEEPGUARD</a:t>
            </a:r>
          </a:p>
          <a:p>
            <a:pPr algn="ctr">
              <a:spcBef>
                <a:spcPts val="200"/>
              </a:spcBef>
              <a:defRPr sz="1800" b="1">
                <a:solidFill>
                  <a:srgbClr val="0284C7"/>
                </a:solidFill>
                <a:latin typeface="Segoe UI"/>
              </a:defRPr>
            </a:pPr>
            <a:r>
              <a:t>Deepfake Detection &amp; Viral Takedown Tracker</a:t>
            </a:r>
          </a:p>
          <a:p>
            <a:pPr algn="ctr">
              <a:spcBef>
                <a:spcPts val="300"/>
              </a:spcBef>
              <a:defRPr sz="1400" i="1">
                <a:solidFill>
                  <a:srgbClr val="64748B"/>
                </a:solidFill>
                <a:latin typeface="Segoe UI"/>
              </a:defRPr>
            </a:pPr>
            <a:r>
              <a:t>"Detect manipulated media. Trace viral spread. Automate takedowns before harm multiplies."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371600" y="3977639"/>
            <a:ext cx="438912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Team Name: AI Avengers</a:t>
            </a:r>
          </a:p>
          <a:p>
            <a:pPr>
              <a:spcBef>
                <a:spcPts val="200"/>
              </a:spcBef>
              <a:defRPr sz="1350">
                <a:solidFill>
                  <a:srgbClr val="334155"/>
                </a:solidFill>
                <a:latin typeface="Segoe UI"/>
              </a:defRPr>
            </a:pPr>
            <a:r>
              <a:t>Track: Trust &amp; Safety · Media Forensics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t>Don Bosco Institute of Technology (DBIT)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400800" y="3977639"/>
            <a:ext cx="4572000" cy="178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MEMBERS &amp; ROLES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0F172A"/>
                </a:solidFill>
                <a:latin typeface="Segoe UI"/>
              </a:rPr>
              <a:t>• Raj Aanada </a:t>
            </a:r>
            <a:r>
              <a:rPr sz="1200">
                <a:solidFill>
                  <a:srgbClr val="334155"/>
                </a:solidFill>
                <a:latin typeface="Segoe UI"/>
              </a:rPr>
              <a:t>— Full-Stack &amp; UI/UX Architect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0F172A"/>
                </a:solidFill>
                <a:latin typeface="Segoe UI"/>
              </a:rPr>
              <a:t>• Yashma C P </a:t>
            </a:r>
            <a:r>
              <a:rPr sz="1200">
                <a:solidFill>
                  <a:srgbClr val="334155"/>
                </a:solidFill>
                <a:latin typeface="Segoe UI"/>
              </a:rPr>
              <a:t>— Audio-Visual Biometrics Engine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0F172A"/>
                </a:solidFill>
                <a:latin typeface="Segoe UI"/>
              </a:rPr>
              <a:t>• Likith M </a:t>
            </a:r>
            <a:r>
              <a:rPr sz="1200">
                <a:solidFill>
                  <a:srgbClr val="334155"/>
                </a:solidFill>
                <a:latin typeface="Segoe UI"/>
              </a:rPr>
              <a:t>— Perceptual Hashing &amp; Spread Graph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0F172A"/>
                </a:solidFill>
                <a:latin typeface="Segoe UI"/>
              </a:rPr>
              <a:t>• Yashwanth K R </a:t>
            </a:r>
            <a:r>
              <a:rPr sz="1200">
                <a:solidFill>
                  <a:srgbClr val="334155"/>
                </a:solidFill>
                <a:latin typeface="Segoe UI"/>
              </a:rPr>
              <a:t>— ML Forensics &amp; Takedown Orchestration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Deepfakes Move Faster Than Human Triage.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A single fake clip reaches millions in minutes, destroying reputations before reports are seen.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1430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1234440"/>
            <a:ext cx="11430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THREAT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90472"/>
            <a:ext cx="3154680" cy="1874519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EXACT PROBLEM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Hyper-Realistic AI Fakes: </a:t>
            </a:r>
            <a:r>
              <a:rPr sz="1100">
                <a:solidFill>
                  <a:srgbClr val="334155"/>
                </a:solidFill>
                <a:latin typeface="Segoe UI"/>
              </a:rPr>
              <a:t>Convincing face-swaps and voice clones created with zero barrier.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Viral Spread Velocity: </a:t>
            </a:r>
            <a:r>
              <a:rPr sz="1100">
                <a:solidFill>
                  <a:srgbClr val="334155"/>
                </a:solidFill>
                <a:latin typeface="Segoe UI"/>
              </a:rPr>
              <a:t>Altered copies are cropped, mirrored, and reposted in seconds.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Asymmetric Triage: </a:t>
            </a:r>
            <a:r>
              <a:rPr sz="1100">
                <a:solidFill>
                  <a:srgbClr val="334155"/>
                </a:solidFill>
                <a:latin typeface="Segoe UI"/>
              </a:rPr>
              <a:t>Victims face slow 72-hour manual reporting while damage compounds.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114300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URGENCY &amp;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67912"/>
            <a:ext cx="3154680" cy="18288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Segoe UI"/>
              </a:defRPr>
            </a:pPr>
            <a:r>
              <a:t>WHY DOES THIS MATTER?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550% Surge in Deepfakes: </a:t>
            </a:r>
            <a:r>
              <a:rPr sz="1100">
                <a:solidFill>
                  <a:srgbClr val="334155"/>
                </a:solidFill>
                <a:latin typeface="Segoe UI"/>
              </a:rPr>
              <a:t>Over 500,000 synthetic attacks logged in 2024 alone.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Irreversible Harm: </a:t>
            </a:r>
            <a:r>
              <a:rPr sz="1100">
                <a:solidFill>
                  <a:srgbClr val="334155"/>
                </a:solidFill>
                <a:latin typeface="Segoe UI"/>
              </a:rPr>
              <a:t>80% retain false narratives even after official retractions.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Crippling Latency: </a:t>
            </a:r>
            <a:r>
              <a:rPr sz="1100">
                <a:solidFill>
                  <a:srgbClr val="334155"/>
                </a:solidFill>
                <a:latin typeface="Segoe UI"/>
              </a:rPr>
              <a:t>Standard DMCA takes 3–5 days; viral damage occurs in &lt;2 hours.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Trust Crisis: </a:t>
            </a:r>
            <a:r>
              <a:rPr sz="1100">
                <a:solidFill>
                  <a:srgbClr val="334155"/>
                </a:solidFill>
                <a:latin typeface="Segoe UI"/>
              </a:rPr>
              <a:t>Weaponized against elections, leaders, and private citizens.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143000"/>
            <a:ext cx="3977639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ealistic_deepfake_forensic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1170432"/>
            <a:ext cx="3922776" cy="218541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069080" y="3520440"/>
            <a:ext cx="397763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06240" y="3611880"/>
            <a:ext cx="12801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ATTACK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858768"/>
            <a:ext cx="3858768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A580C"/>
                </a:solidFill>
                <a:latin typeface="Segoe UI"/>
              </a:defRPr>
            </a:pPr>
            <a:r>
              <a:t>① Creation ➔ ② Seed ➔ ③ Mirror ➔ ④ Harm ➔ ⑤ Triage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Without perceptual tracking, altered copies reappear indefinitely across platforms.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143000"/>
            <a:ext cx="3410712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1234440"/>
            <a:ext cx="132588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AFFECTED PARTIES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508760"/>
            <a:ext cx="3227832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WHO FACES THIS PROBLEM?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Public Figures &amp; Leaders: </a:t>
            </a:r>
            <a:r>
              <a:rPr sz="1200">
                <a:solidFill>
                  <a:srgbClr val="334155"/>
                </a:solidFill>
                <a:latin typeface="Segoe UI"/>
              </a:rPr>
              <a:t>Political disinformation, forged statements, and election tampering.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Private Citizens &amp; Students: </a:t>
            </a:r>
            <a:r>
              <a:rPr sz="1200">
                <a:solidFill>
                  <a:srgbClr val="334155"/>
                </a:solidFill>
                <a:latin typeface="Segoe UI"/>
              </a:rPr>
              <a:t>Cyberbullying, identity theft, and non-consensual synthetic abuse.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Newsrooms &amp; Fact-Checkers: </a:t>
            </a:r>
            <a:r>
              <a:rPr sz="1200">
                <a:solidFill>
                  <a:srgbClr val="334155"/>
                </a:solidFill>
                <a:latin typeface="Segoe UI"/>
              </a:rPr>
              <a:t>Need rapid verification for breaking viral video before broadcast.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Trust &amp; Safety Teams: </a:t>
            </a:r>
            <a:r>
              <a:rPr sz="1200">
                <a:solidFill>
                  <a:srgbClr val="334155"/>
                </a:solidFill>
                <a:latin typeface="Segoe UI"/>
              </a:rPr>
              <a:t>Millions of daily uploads swamping manual human review queues.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4800600"/>
            <a:ext cx="7525512" cy="960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06240" y="4873752"/>
            <a:ext cx="137160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102352"/>
            <a:ext cx="7342631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"How might we automatically detect manipulated media with explainable confidence, trace its viral spread across altered copies, and empower victims with automated one-click takedowns?"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Innovation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DEEPGUARD – Multi-Modal Forensics &amp; Automated Takedown Platform  </a:t>
            </a:r>
            <a:r>
              <a:rPr sz="1250" i="1">
                <a:solidFill>
                  <a:srgbClr val="64748B"/>
                </a:solidFill>
                <a:latin typeface="Segoe UI"/>
              </a:rPr>
              <a:t>"Detect artifacts, trace viral spread, and halt harm in minutes."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43434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28016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08760"/>
            <a:ext cx="4160520" cy="1783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Segoe UI"/>
              </a:defRPr>
            </a:pPr>
            <a:r>
              <a:t>WHAT ARE WE PROPOSING?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Unified Forensics: </a:t>
            </a:r>
            <a:r>
              <a:rPr sz="1200">
                <a:solidFill>
                  <a:srgbClr val="334155"/>
                </a:solidFill>
                <a:latin typeface="Segoe UI"/>
              </a:rPr>
              <a:t>Combines multi-modal detection, viral spread mapping, and legal takedowns.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Perceptual Invariance: </a:t>
            </a:r>
            <a:r>
              <a:rPr sz="1200">
                <a:solidFill>
                  <a:srgbClr val="334155"/>
                </a:solidFill>
                <a:latin typeface="Segoe UI"/>
              </a:rPr>
              <a:t>pHash &amp; visual embeddings detect cropped, compressed, and mirrored copies.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Automated DMCA: </a:t>
            </a:r>
            <a:r>
              <a:rPr sz="1200">
                <a:solidFill>
                  <a:srgbClr val="334155"/>
                </a:solidFill>
                <a:latin typeface="Segoe UI"/>
              </a:rPr>
              <a:t>Dispatches verified C2PA legal notices to platform APIs in under 15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143000"/>
            <a:ext cx="651967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alistic_deepguard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170432"/>
            <a:ext cx="6464808" cy="218541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94360" y="3520440"/>
            <a:ext cx="3547872" cy="1508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8686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Multi-Modal Forensic Fusion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EfficientNet-B4 spatial anomaly detection, WavLM audio spectral analysis, and DCT frequency heatmaps robust against re-compression.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520440"/>
            <a:ext cx="3547872" cy="15087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53128" y="3611880"/>
            <a:ext cx="86868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Segoe UI"/>
              </a:defRPr>
            </a:pPr>
            <a:r>
              <a:t>2. Perceptual Hash Spread Graph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pHash and CLIP visual embeddings construct a directed propagation DAG mapping mirrored copies, formats, and patient-zero source.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3520440"/>
            <a:ext cx="3547872" cy="15087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74736" y="3611880"/>
            <a:ext cx="8686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3. Explainable Legal Takedown API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Generates C2PA-compliant cryptographic proof dossiers and dispatches automated, platform-specific DMCA notices via webhooks in &lt;15 mins.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66360"/>
            <a:ext cx="1100023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5230368"/>
            <a:ext cx="1280160" cy="2011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END-TO-END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50" b="1">
                <a:solidFill>
                  <a:srgbClr val="EA580C"/>
                </a:solidFill>
                <a:latin typeface="Segoe UI"/>
              </a:defRPr>
            </a:pPr>
            <a:r>
              <a:t>⚡ [1] Ingestion ➔ [2] Forensics ➔ [3] Heatmap ➔ [4] pHash Index ➔ [5] Spread DAG ➔ [6] Legal Notice ➔ [7] Platform API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From video upload to automated DMCA platform filing and verifiable legal evidence in &lt;15 minutes.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From Isolated Dashboards to an Integrated Takedown Ecosystem.  </a:t>
            </a:r>
            <a:r>
              <a:rPr sz="1250" i="1">
                <a:solidFill>
                  <a:srgbClr val="64748B"/>
                </a:solidFill>
                <a:latin typeface="Segoe UI"/>
              </a:rPr>
              <a:t>Why legacy detectors fail on viral media — and how DeepGuard wins.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47091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234440"/>
            <a:ext cx="13716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LEGACY SHORTCOMINGS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508760"/>
            <a:ext cx="45262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EXISTING SOLUTIONS &amp; LIMITATIONS</a:t>
            </a:r>
          </a:p>
        </p:txBody>
      </p:sp>
      <p:pic>
        <p:nvPicPr>
          <p:cNvPr id="17" name="Picture 16" descr="widget_ai_detec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1234440" cy="685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57400" y="1874519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Generic Online Detectors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Vague % score with no explainable heatmap; zero viral spread tracking.</a:t>
            </a:r>
          </a:p>
        </p:txBody>
      </p:sp>
      <p:pic>
        <p:nvPicPr>
          <p:cNvPr id="19" name="Picture 18" descr="widget_hash_fail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97480"/>
            <a:ext cx="123444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57400" y="2697480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Platform Content-ID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Exact hash match (MD5) easily bypassed by cropping, mirrors, or filters.</a:t>
            </a:r>
          </a:p>
        </p:txBody>
      </p:sp>
      <p:pic>
        <p:nvPicPr>
          <p:cNvPr id="21" name="Picture 20" descr="widget_dmca_pend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20440"/>
            <a:ext cx="1234440" cy="685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57400" y="3520440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Manual DMCA Filing Forms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Tedious 48–72 hr forms per platform; copies keep spreading unchecked.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2606040"/>
            <a:ext cx="594360" cy="5943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606040"/>
            <a:ext cx="594360" cy="594360"/>
          </a:xfrm>
          <a:prstGeom prst="rect">
            <a:avLst/>
          </a:prstGeom>
          <a:noFill/>
        </p:spPr>
        <p:txBody>
          <a:bodyPr wrap="square" lIns="0" rIns="0" tIns="109728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143000"/>
            <a:ext cx="5422392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234440"/>
            <a:ext cx="155448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DEEPGUARD ADVANTAGE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508760"/>
            <a:ext cx="5239512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OUR SOLUTION: DEEPGUARD ADVANTAGES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Multi-Modal Scope: </a:t>
            </a:r>
            <a:r>
              <a:rPr sz="1200">
                <a:solidFill>
                  <a:srgbClr val="334155"/>
                </a:solidFill>
                <a:latin typeface="Segoe UI"/>
              </a:rPr>
              <a:t>Analyzes video frames, audio tracks, and EXIF metadata simultaneously.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Bypass-Resistant: </a:t>
            </a:r>
            <a:r>
              <a:rPr sz="1200">
                <a:solidFill>
                  <a:srgbClr val="334155"/>
                </a:solidFill>
                <a:latin typeface="Segoe UI"/>
              </a:rPr>
              <a:t>Perceptual hashing (pHash) matches cropped, compressed, and filtered copies.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Viral Spread Mapping: </a:t>
            </a:r>
            <a:r>
              <a:rPr sz="1200">
                <a:solidFill>
                  <a:srgbClr val="334155"/>
                </a:solidFill>
                <a:latin typeface="Segoe UI"/>
              </a:rPr>
              <a:t>Directed propagation DAG identifies patient-zero and all downstream mirrors.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Automated Takedown: </a:t>
            </a:r>
            <a:r>
              <a:rPr sz="1200">
                <a:solidFill>
                  <a:srgbClr val="334155"/>
                </a:solidFill>
                <a:latin typeface="Segoe UI"/>
              </a:rPr>
              <a:t>Pre-filled DMCA notices &amp; API webhooks cut response time from 72h to &lt;15m.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Full Explainability: </a:t>
            </a:r>
            <a:r>
              <a:rPr sz="1200">
                <a:solidFill>
                  <a:srgbClr val="334155"/>
                </a:solidFill>
                <a:latin typeface="Segoe UI"/>
              </a:rPr>
              <a:t>Generates Grad-CAM visual heatmaps and C2PA cryptographic audit trails.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074920"/>
            <a:ext cx="11000232" cy="8686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138928"/>
            <a:ext cx="146304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COMPETITIVE 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76672"/>
            <a:ext cx="10817352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🏆 Judges and investigators can inject a manipulated video, inspect real-time Grad-CAM heatmaps, trace all derivative re-uploads on the spread DAG, and dispatch simulated DMCA takedowns in seconds.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Approach &amp; Feasibility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A Working Forensic &amp; Takedown Engine, Not Just a Visual Demo.  </a:t>
            </a:r>
            <a:r>
              <a:rPr sz="1250" i="1">
                <a:solidFill>
                  <a:srgbClr val="64748B"/>
                </a:solidFill>
                <a:latin typeface="Segoe UI"/>
              </a:rPr>
              <a:t>Full-stack architecture, deterministic graph traversal, and 24-hour hackathon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1100023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alistic_architecture_diagr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170432"/>
            <a:ext cx="10945368" cy="2185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" y="3520440"/>
            <a:ext cx="354787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0972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58768"/>
            <a:ext cx="3364992" cy="192024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🛠 TECHNOLOGIES USED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Frontend: </a:t>
            </a:r>
            <a:r>
              <a:rPr sz="1050">
                <a:solidFill>
                  <a:srgbClr val="334155"/>
                </a:solidFill>
                <a:latin typeface="Segoe UI"/>
              </a:rPr>
              <a:t>React.js, Tailwind CSS, D3.js, Canvas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Backend API: </a:t>
            </a:r>
            <a:r>
              <a:rPr sz="1050">
                <a:solidFill>
                  <a:srgbClr val="334155"/>
                </a:solidFill>
                <a:latin typeface="Segoe UI"/>
              </a:rPr>
              <a:t>Python 3.12, FastAPI, Celery, Redis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Forensic ML: </a:t>
            </a:r>
            <a:r>
              <a:rPr sz="1050">
                <a:solidFill>
                  <a:srgbClr val="334155"/>
                </a:solidFill>
                <a:latin typeface="Segoe UI"/>
              </a:rPr>
              <a:t>PyTorch, EfficientNet-B4, WavLM, OpenCV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Search &amp; Graph: </a:t>
            </a:r>
            <a:r>
              <a:rPr sz="1050">
                <a:solidFill>
                  <a:srgbClr val="334155"/>
                </a:solidFill>
                <a:latin typeface="Segoe UI"/>
              </a:rPr>
              <a:t>Milvus Vector DB, NetworkX, pHash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Cloud &amp; Standards: </a:t>
            </a:r>
            <a:r>
              <a:rPr sz="1050">
                <a:solidFill>
                  <a:srgbClr val="334155"/>
                </a:solidFill>
                <a:latin typeface="Segoe UI"/>
              </a:rPr>
              <a:t>AWS S3, SQLite, Docker, C2PA Standard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520440"/>
            <a:ext cx="3547872" cy="2331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53128" y="3611880"/>
            <a:ext cx="109728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AI RATIONALE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858768"/>
            <a:ext cx="3364992" cy="192024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🤖 WHERE IS AI NEEDED?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Subtle Artifacts: </a:t>
            </a:r>
            <a:r>
              <a:rPr sz="1050">
                <a:solidFill>
                  <a:srgbClr val="334155"/>
                </a:solidFill>
                <a:latin typeface="Segoe UI"/>
              </a:rPr>
              <a:t>Deep neural nets detect sub-pixel boundary warping and synthetic vocal jitter invisible to rule engines.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Invariant Matching: </a:t>
            </a:r>
            <a:r>
              <a:rPr sz="1050">
                <a:solidFill>
                  <a:srgbClr val="334155"/>
                </a:solidFill>
                <a:latin typeface="Segoe UI"/>
              </a:rPr>
              <a:t>Embeddings match cropped, compressed, or speed-altered re-uploads across platforms.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Deterministic Rules: </a:t>
            </a:r>
            <a:r>
              <a:rPr sz="1050">
                <a:solidFill>
                  <a:srgbClr val="334155"/>
                </a:solidFill>
                <a:latin typeface="Segoe UI"/>
              </a:rPr>
              <a:t>Takedown filing and provenance validation use deterministic logic to prevent false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3520440"/>
            <a:ext cx="3547872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74736" y="3611880"/>
            <a:ext cx="10972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MVP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3858768"/>
            <a:ext cx="3364992" cy="192024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🎯 HACKATHON MVP SCOPE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Media Ingestion: </a:t>
            </a:r>
            <a:r>
              <a:rPr sz="1050">
                <a:solidFill>
                  <a:srgbClr val="334155"/>
                </a:solidFill>
                <a:latin typeface="Segoe UI"/>
              </a:rPr>
              <a:t>Direct video upload &amp; social URL parser.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Forensic Scoring: </a:t>
            </a:r>
            <a:r>
              <a:rPr sz="1050">
                <a:solidFill>
                  <a:srgbClr val="334155"/>
                </a:solidFill>
                <a:latin typeface="Segoe UI"/>
              </a:rPr>
              <a:t>Per-frame Grad-CAM heatmaps &amp; verdict.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Variant Matching: </a:t>
            </a:r>
            <a:r>
              <a:rPr sz="1050">
                <a:solidFill>
                  <a:srgbClr val="334155"/>
                </a:solidFill>
                <a:latin typeface="Segoe UI"/>
              </a:rPr>
              <a:t>pHash detection of cropped/mirrored copies.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Spread Graph: </a:t>
            </a:r>
            <a:r>
              <a:rPr sz="1050">
                <a:solidFill>
                  <a:srgbClr val="334155"/>
                </a:solidFill>
                <a:latin typeface="Segoe UI"/>
              </a:rPr>
              <a:t>D3.js simulated viral propagation DAG.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Automated DMCA: </a:t>
            </a:r>
            <a:r>
              <a:rPr sz="1050">
                <a:solidFill>
                  <a:srgbClr val="334155"/>
                </a:solidFill>
                <a:latin typeface="Segoe UI"/>
              </a:rPr>
              <a:t>Pre-filled legal notice &amp; C2PA manifest log.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Expected Impact &amp; Execution Plan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Measure the Speed. Stop the Virality. Protect Victims at Scale.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Quantifiable metrics, stakeholder benefits, and 24-hour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33375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18872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EXPECTED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3040"/>
            <a:ext cx="3154680" cy="169164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📈 QUANTIFIABLE OUTCOMES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95% Faster Takedown: </a:t>
            </a:r>
            <a:r>
              <a:rPr sz="1050">
                <a:solidFill>
                  <a:srgbClr val="334155"/>
                </a:solidFill>
                <a:latin typeface="Segoe UI"/>
              </a:rPr>
              <a:t>Cuts triage from 72h to &lt;15 mins.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Viral Containment: </a:t>
            </a:r>
            <a:r>
              <a:rPr sz="1050">
                <a:solidFill>
                  <a:srgbClr val="334155"/>
                </a:solidFill>
                <a:latin typeface="Segoe UI"/>
              </a:rPr>
              <a:t>Halts derivative mirrors before 100K views.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Victim Agency: </a:t>
            </a:r>
            <a:r>
              <a:rPr sz="1050">
                <a:solidFill>
                  <a:srgbClr val="334155"/>
                </a:solidFill>
                <a:latin typeface="Segoe UI"/>
              </a:rPr>
              <a:t>Free 1-click court-ready C2PA legal dossier.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Scalable Workers: </a:t>
            </a:r>
            <a:r>
              <a:rPr sz="1050">
                <a:solidFill>
                  <a:srgbClr val="334155"/>
                </a:solidFill>
                <a:latin typeface="Segoe UI"/>
              </a:rPr>
              <a:t>Stateless pipeline handles 10,000+ daily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143000"/>
            <a:ext cx="4069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1234440"/>
            <a:ext cx="128016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TARGET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63040"/>
            <a:ext cx="3886200" cy="169164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🎯 EVALUATION TARGETS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&gt;92% Detection F1: </a:t>
            </a:r>
            <a:r>
              <a:rPr sz="1050">
                <a:solidFill>
                  <a:srgbClr val="334155"/>
                </a:solidFill>
                <a:latin typeface="Segoe UI"/>
              </a:rPr>
              <a:t>Benchmarked on DFDC &amp; FaceForensics++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&lt;15 Min Takedown: </a:t>
            </a:r>
            <a:r>
              <a:rPr sz="1050">
                <a:solidFill>
                  <a:srgbClr val="334155"/>
                </a:solidFill>
                <a:latin typeface="Segoe UI"/>
              </a:rPr>
              <a:t>Automated DMCA vs. 3-day manual triage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&gt;88% Variant Match: </a:t>
            </a:r>
            <a:r>
              <a:rPr sz="1050">
                <a:solidFill>
                  <a:srgbClr val="334155"/>
                </a:solidFill>
                <a:latin typeface="Segoe UI"/>
              </a:rPr>
              <a:t>Identifies cropped &amp; re-encoded social mirrors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&lt;3% False Positives: </a:t>
            </a:r>
            <a:r>
              <a:rPr sz="1050">
                <a:solidFill>
                  <a:srgbClr val="334155"/>
                </a:solidFill>
                <a:latin typeface="Segoe UI"/>
              </a:rPr>
              <a:t>Validated against authentic broadcast news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143000"/>
            <a:ext cx="33192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1234440"/>
            <a:ext cx="118872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KEY BENEFICIARIES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463040"/>
            <a:ext cx="3136392" cy="169164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👥 WHO BENEFITS?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Targeted Victims: </a:t>
            </a:r>
            <a:r>
              <a:rPr sz="1050">
                <a:solidFill>
                  <a:srgbClr val="334155"/>
                </a:solidFill>
                <a:latin typeface="Segoe UI"/>
              </a:rPr>
              <a:t>Instant removal of defamatory synthetic media.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Platform Moderators: </a:t>
            </a:r>
            <a:r>
              <a:rPr sz="1050">
                <a:solidFill>
                  <a:srgbClr val="334155"/>
                </a:solidFill>
                <a:latin typeface="Segoe UI"/>
              </a:rPr>
              <a:t>Automated triage eliminating manual review backlogs.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Fact-Checkers: </a:t>
            </a:r>
            <a:r>
              <a:rPr sz="1050">
                <a:solidFill>
                  <a:srgbClr val="334155"/>
                </a:solidFill>
                <a:latin typeface="Segoe UI"/>
              </a:rPr>
              <a:t>Rapid verification for breaking user-generated video.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Legal Teams: </a:t>
            </a:r>
            <a:r>
              <a:rPr sz="1050">
                <a:solidFill>
                  <a:srgbClr val="334155"/>
                </a:solidFill>
                <a:latin typeface="Segoe UI"/>
              </a:rPr>
              <a:t>Verifiable cryptographic chain of custody for court.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10128"/>
            <a:ext cx="5852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401568"/>
            <a:ext cx="1463040" cy="21945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HACKATHON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57600"/>
            <a:ext cx="566928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⏱ 24-HOUR HACKATHON MILESTONE ROADMAP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00–04 (Setup): </a:t>
            </a:r>
            <a:r>
              <a:rPr sz="1150">
                <a:solidFill>
                  <a:srgbClr val="334155"/>
                </a:solidFill>
                <a:latin typeface="Segoe UI"/>
              </a:rPr>
              <a:t>FastAPI ingestion, OpenCV frames, model weights.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04–10 (Forensics): </a:t>
            </a:r>
            <a:r>
              <a:rPr sz="1150">
                <a:solidFill>
                  <a:srgbClr val="334155"/>
                </a:solidFill>
                <a:latin typeface="Segoe UI"/>
              </a:rPr>
              <a:t>EfficientNet artifacts, WavLM biometrics, heatmaps.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10–16 (Spread Graph): </a:t>
            </a:r>
            <a:r>
              <a:rPr sz="1150">
                <a:solidFill>
                  <a:srgbClr val="334155"/>
                </a:solidFill>
                <a:latin typeface="Segoe UI"/>
              </a:rPr>
              <a:t>pHash indexing, Milvus vector search, NetworkX DAG.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16–20 (UI &amp; Legal): </a:t>
            </a:r>
            <a:r>
              <a:rPr sz="1150">
                <a:solidFill>
                  <a:srgbClr val="334155"/>
                </a:solidFill>
                <a:latin typeface="Segoe UI"/>
              </a:rPr>
              <a:t>React dashboard, D3.js spread graph, DMCA notices.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20–24 (Benchmarking): </a:t>
            </a:r>
            <a:r>
              <a:rPr sz="1150">
                <a:solidFill>
                  <a:srgbClr val="334155"/>
                </a:solidFill>
                <a:latin typeface="Segoe UI"/>
              </a:rPr>
              <a:t>Attack simulation, latency tuning, final pitch demo.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310128"/>
            <a:ext cx="5010912" cy="24688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3401568"/>
            <a:ext cx="128016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EXPANSION 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57600"/>
            <a:ext cx="4828032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Segoe UI"/>
              </a:defRPr>
            </a:pPr>
            <a:r>
              <a:t>🚀 FUTURE SCOPE &amp; SCALABILITY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Social Extension: </a:t>
            </a:r>
            <a:r>
              <a:rPr sz="1150">
                <a:solidFill>
                  <a:srgbClr val="334155"/>
                </a:solidFill>
                <a:latin typeface="Segoe UI"/>
              </a:rPr>
              <a:t>Real-time deepfake warning badge overlay on video feeds.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Decentralized Provenance: </a:t>
            </a:r>
            <a:r>
              <a:rPr sz="1150">
                <a:solidFill>
                  <a:srgbClr val="334155"/>
                </a:solidFill>
                <a:latin typeface="Segoe UI"/>
              </a:rPr>
              <a:t>C2PA blockchain ledger for immutable origin logs.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Moderation Webhooks: </a:t>
            </a:r>
            <a:r>
              <a:rPr sz="1150">
                <a:solidFill>
                  <a:srgbClr val="334155"/>
                </a:solidFill>
                <a:latin typeface="Segoe UI"/>
              </a:rPr>
              <a:t>Direct push connectors to YouTube, X, and TikTok APIs.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Live Stream Forensics: </a:t>
            </a:r>
            <a:r>
              <a:rPr sz="1150">
                <a:solidFill>
                  <a:srgbClr val="334155"/>
                </a:solidFill>
                <a:latin typeface="Segoe UI"/>
              </a:rPr>
              <a:t>Sub-second audio-visual inspection for live broadcast feeds.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Protecting Truth, Identity, and Trust in the Age of Generative AI.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"Shifting the balance of power from deepfake creators back to victims."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470916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118872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Segoe UI"/>
              </a:defRPr>
            </a:pPr>
            <a:r>
              <a:t>💡 KEY TAKEAWAYS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Proactive Defense: </a:t>
            </a:r>
            <a:r>
              <a:rPr sz="1150">
                <a:solidFill>
                  <a:srgbClr val="334155"/>
                </a:solidFill>
                <a:latin typeface="Segoe UI"/>
              </a:rPr>
              <a:t>DeepGuard transforms deepfake response from helpless manual reporting into automated viral containment.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Multi-Modal Truth: </a:t>
            </a:r>
            <a:r>
              <a:rPr sz="1150">
                <a:solidFill>
                  <a:srgbClr val="334155"/>
                </a:solidFill>
                <a:latin typeface="Segoe UI"/>
              </a:rPr>
              <a:t>Fuses visual artifacts, audio biometrics, and perceptual hashing to resist evasion transforms.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Cross-Platform Mapping: </a:t>
            </a:r>
            <a:r>
              <a:rPr sz="1150">
                <a:solidFill>
                  <a:srgbClr val="334155"/>
                </a:solidFill>
                <a:latin typeface="Segoe UI"/>
              </a:rPr>
              <a:t>Traces patient-zero source and every derivative mirror across networks on a directed DAG.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Victim Empowerment: </a:t>
            </a:r>
            <a:r>
              <a:rPr sz="1150">
                <a:solidFill>
                  <a:srgbClr val="334155"/>
                </a:solidFill>
                <a:latin typeface="Segoe UI"/>
              </a:rPr>
              <a:t>Equips non-technical users with court-ready C2PA evidence and 1-click legal DMCA filing.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143000"/>
            <a:ext cx="6153912" cy="2788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alistic_c2pa_proven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170432"/>
            <a:ext cx="6099048" cy="27340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4023360"/>
            <a:ext cx="11000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4630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ACADEMIC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173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📚 VERIFIABLE REFERENCES &amp; SCIENTIFIC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• 1. FaceForensics++ (ICCV): </a:t>
            </a:r>
            <a:r>
              <a:rPr sz="1050">
                <a:solidFill>
                  <a:srgbClr val="334155"/>
                </a:solidFill>
                <a:latin typeface="Segoe UI"/>
              </a:rPr>
              <a:t>Learning to Detect Manipulated Facial Images across Deepfake Methods. [arXiv:1901.08971]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2. Meta AI / Kaggle DFDC: </a:t>
            </a:r>
            <a:r>
              <a:rPr sz="1050">
                <a:solidFill>
                  <a:srgbClr val="334155"/>
                </a:solidFill>
                <a:latin typeface="Segoe UI"/>
              </a:rPr>
              <a:t>The DeepFake Detection Challenge Dataset and Benchmark Findings. [arXiv:2006.07397]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3. C2PA Standard: </a:t>
            </a:r>
            <a:r>
              <a:rPr sz="1050">
                <a:solidFill>
                  <a:srgbClr val="334155"/>
                </a:solidFill>
                <a:latin typeface="Segoe UI"/>
              </a:rPr>
              <a:t>Coalition for Content Provenance and Authenticity Technical Specification (c2pa.org).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• 4. Sumsub Fraud Report: </a:t>
            </a:r>
            <a:r>
              <a:rPr sz="1050">
                <a:solidFill>
                  <a:srgbClr val="334155"/>
                </a:solidFill>
                <a:latin typeface="Segoe UI"/>
              </a:rPr>
              <a:t>550%+ Surge in GenAI Deepfakes across Social and Identity Platforms (2024).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5. IEEE TIFS: </a:t>
            </a:r>
            <a:r>
              <a:rPr sz="1050">
                <a:solidFill>
                  <a:srgbClr val="334155"/>
                </a:solidFill>
                <a:latin typeface="Segoe UI"/>
              </a:rPr>
              <a:t>Perceptual Hashing &amp; Robust Media Fingerprinting under Non-Linear Compression.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6. Legal Compliance: </a:t>
            </a:r>
            <a:r>
              <a:rPr sz="1050">
                <a:solidFill>
                  <a:srgbClr val="334155"/>
                </a:solidFill>
                <a:latin typeface="Segoe UI"/>
              </a:rPr>
              <a:t>US Digital Millennium Copyright Act (17 U.S.C. § 512) &amp; EU AI Act Annex IV.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343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6</cp:revision>
  <dcterms:created xsi:type="dcterms:W3CDTF">2026-10-16T15:16:25Z</dcterms:created>
  <dcterms:modified xsi:type="dcterms:W3CDTF">2026-10-20T16:26:16Z</dcterms:modified>
</cp:coreProperties>
</file>